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46"/>
  </p:notesMasterIdLst>
  <p:sldIdLst>
    <p:sldId id="256" r:id="rId2"/>
    <p:sldId id="257" r:id="rId3"/>
    <p:sldId id="258" r:id="rId4"/>
    <p:sldId id="401" r:id="rId5"/>
    <p:sldId id="355" r:id="rId6"/>
    <p:sldId id="354" r:id="rId7"/>
    <p:sldId id="359" r:id="rId8"/>
    <p:sldId id="395" r:id="rId9"/>
    <p:sldId id="360" r:id="rId10"/>
    <p:sldId id="396" r:id="rId11"/>
    <p:sldId id="397" r:id="rId12"/>
    <p:sldId id="398" r:id="rId13"/>
    <p:sldId id="347" r:id="rId14"/>
    <p:sldId id="361" r:id="rId15"/>
    <p:sldId id="367" r:id="rId16"/>
    <p:sldId id="368" r:id="rId17"/>
    <p:sldId id="369" r:id="rId18"/>
    <p:sldId id="370" r:id="rId19"/>
    <p:sldId id="371" r:id="rId20"/>
    <p:sldId id="362" r:id="rId21"/>
    <p:sldId id="339" r:id="rId22"/>
    <p:sldId id="372" r:id="rId23"/>
    <p:sldId id="373" r:id="rId24"/>
    <p:sldId id="375" r:id="rId25"/>
    <p:sldId id="374" r:id="rId26"/>
    <p:sldId id="376" r:id="rId27"/>
    <p:sldId id="378" r:id="rId28"/>
    <p:sldId id="377" r:id="rId29"/>
    <p:sldId id="379" r:id="rId30"/>
    <p:sldId id="383" r:id="rId31"/>
    <p:sldId id="386" r:id="rId32"/>
    <p:sldId id="384" r:id="rId33"/>
    <p:sldId id="387" r:id="rId34"/>
    <p:sldId id="381" r:id="rId35"/>
    <p:sldId id="389" r:id="rId36"/>
    <p:sldId id="390" r:id="rId37"/>
    <p:sldId id="391" r:id="rId38"/>
    <p:sldId id="402" r:id="rId39"/>
    <p:sldId id="382" r:id="rId40"/>
    <p:sldId id="348" r:id="rId41"/>
    <p:sldId id="392" r:id="rId42"/>
    <p:sldId id="399" r:id="rId43"/>
    <p:sldId id="400" r:id="rId44"/>
    <p:sldId id="317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준모 연" initials="준연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8" autoAdjust="0"/>
    <p:restoredTop sz="76308" autoAdjust="0"/>
  </p:normalViewPr>
  <p:slideViewPr>
    <p:cSldViewPr snapToGrid="0">
      <p:cViewPr varScale="1">
        <p:scale>
          <a:sx n="69" d="100"/>
          <a:sy n="69" d="100"/>
        </p:scale>
        <p:origin x="1023" y="48"/>
      </p:cViewPr>
      <p:guideLst>
        <p:guide orient="horz" pos="2152"/>
        <p:guide pos="3839"/>
      </p:guideLst>
    </p:cSldViewPr>
  </p:slideViewPr>
  <p:outlineViewPr>
    <p:cViewPr>
      <p:scale>
        <a:sx n="33" d="100"/>
        <a:sy n="33" d="100"/>
      </p:scale>
      <p:origin x="0" y="-8745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FDBACCB-0E87-4E5C-AB5C-F4DB0E77C948}" type="datetime1">
              <a:rPr lang="ko-KR" altLang="en-US"/>
              <a:pPr lvl="0">
                <a:defRPr/>
              </a:pPr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A786029F-E1D5-4E18-87C2-5A622CF4BCF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877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869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743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36EA7-A25B-4543-8082-F45D747E8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37D08-D8ED-4DD9-7EA1-BF73F71C3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427BBF-9546-F3EE-2163-5E4935274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FA8C90-509B-668F-975E-F5CAF73D8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741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53696-C715-7E09-78C4-23FF2DB6D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95930F-FC92-C9AA-40A7-908CDCDD3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DAD75-DF46-D637-2B3F-FC72BEF60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0F0B4D-7418-1ADD-3700-854F81987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086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중요도 순서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076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170E0-D9EF-C667-6B85-0F39442C1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2C221E-1E81-90C3-6B8A-4C54FADB7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F37C9A-1912-616E-1B20-4F4EE0588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DB54A6-A65C-254F-8D54-F629D75A7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309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57066-7107-BB9D-2C8A-3CF833F7F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835649-769C-C7E8-68E5-DE0FE32FA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224981-EB76-D505-97D6-D6D5D2B5C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73C104-232F-DBE4-2A10-D41ABDE9A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118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EADF8-C687-CE54-56C1-4B6755FD7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AA943F-4108-70E6-143E-3C92FE112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C84017-E0F6-0E2E-2444-D1C07EA3B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D0ED1B-44D6-99A7-EF8E-F81139ED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850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ABB76-B350-931F-FE0F-01083D86D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D27B85-EE4E-D40D-3767-7CA2D38FD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E2364D-DE30-AEBB-99BE-476256F67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2759B8-CBC4-60E6-C46D-A8219FA1F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482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850FE-3F05-06AA-EF24-D5C6DE01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4D2473-BD6C-1F0C-CD6D-9E0BEB666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ED27D4-1DF5-B832-0ED7-F1776DEC9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AA86E1-1875-AE9A-C19C-75DEB9F5A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853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00366-1E48-1360-9BCB-1139EA8B4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2DC279-24C4-449E-2240-2DF0E7DB9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80B890-3C0F-2027-FDB3-0580044AE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30463A-347D-C444-6BAE-7AA3938DC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456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855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029F6-6D2B-FED0-4006-0506A29DE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8B1318-7420-E9A1-8F34-2924323B8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5B4F5E-EBA9-A16E-E6A2-344557666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DF93C6-DD38-1160-0B5F-A11F05A24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130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13BC-A7A4-A5C1-BC82-791F89A74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BED639-ADB8-180B-D48A-249F296A4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B7B93B-F82C-25A1-405A-999AAE5A2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29D794-DF83-EC60-57CF-A666B3728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199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AD85C-9D3A-FE5A-DB78-3A53E1BFC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C79E82-2CE5-70C2-2E83-07463AA88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AE6BEF-1F69-8955-0363-7A1DFA3F8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C209BE-A3F8-58AF-B1E6-05BC00621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317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DD3E9-07ED-3CA3-9ECA-20C7F637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2F7C04-83D4-4C8B-D9F2-742C667DA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CA095B-6B1C-65E5-EC45-3607FE77B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104B50-7D55-011C-37FF-F00BCB9B0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308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29801-1CC8-765E-0019-387052D2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20E229-82F7-BC6B-88D9-7874E1088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75AC60-EAED-AB4E-5FA6-303D8B290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68FE70-1683-0638-4E35-F9A398965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1441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827AA-593A-19AB-8975-97F643248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D06EF6-E83D-4897-783E-322FF15AB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CD3225-8AF4-0EF9-6135-4F2D12BDA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789DD9-B93E-78E9-2588-FBE77C255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648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8503-0691-E006-D62A-B85409682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8C0CFC-4FDD-D20C-1869-012B49094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94869A-A930-8A67-4E40-BC5FC4C6D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8C9C47-4E68-1876-E9E2-BB7DB0997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8578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450D1-EC7D-6AEA-F875-AD7A5AC55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D2C752-6214-A207-C2FD-79F095AE7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84E083-B5CD-1C69-3E69-9DE4EE6C0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8E95DF-FE30-6020-3344-277477ACE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9602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9B616-3C18-24F7-5484-57E11E48C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D85256-B8A6-EB29-134E-290219CD2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081F31-46A3-255D-9369-CDFDDB5E2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CBBE97-C0BE-2A06-8034-749C131E2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4606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6A933-C4F2-8BCF-60C7-CB406DA97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F308C0-0E93-45BC-5123-52BDAEB10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8EA8F0-4645-0A30-BD2A-6CA8CFF73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C07465-6572-2095-50D6-5DC4024B0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500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919E4-3D32-002D-015D-D98D6AD5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F50ED-96FB-6905-49E6-EF2FDF701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E0CDE1-3196-ED24-8AF0-18EFB81C9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F38C4B-FBB8-49EF-185E-0260109E9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987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C8F2A-164E-904B-B4C8-B86771A8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55D505-2D70-E10F-8BE9-8B509AECA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3B1D5C-2707-6177-F855-6AA6C4698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8C5B83-376E-96B5-0F2D-4F05D789C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1106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C79E6-D98C-7554-025A-2CF984A1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11DDEE-CEB5-3E42-FF11-56480E6F7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53D6D7-2567-505B-88EA-618661E11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3E540F-A134-9401-2D3B-E6CB75728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6654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64AAF-17B5-1C3E-4B59-4951AD79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1423F2-3834-7135-7D03-60022C4AD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95666F-6104-81E2-3A6C-421DC545A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07B80B-80D5-0538-5C71-43AEE02E0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8060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967CE-449B-75A3-F2D5-043008124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9697F1-AF24-60AA-AA26-2CC298A0E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271D1F-7773-53DF-9DB1-EC36A00F9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B0DAC4-7CF0-67EE-2E16-C3531AAB4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546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EB388-DD1E-BE69-4BC5-149D9BDF1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AABC1A-4FF0-F6FC-28C6-62EBFAF40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08AE8E-F732-C065-F0B8-16A20B4DC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A3987C-B695-D42E-D1D8-43BF33AFD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144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BF06D-5970-A8AA-0046-2A8A96DAD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70C4A2-B452-0BF0-F7DE-79E4D8DB6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04CD7D-54E3-1D40-8D43-CA0316014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B4DC94-C578-502A-2966-09D82D617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9624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F8B17-0A7A-1F1A-678C-40B7B3E35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A22BE8-6A16-8B54-CCBE-FFDDADD46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D8F252-48D3-1DBE-500A-D7D00C8EB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2A0358-BCC3-E221-C776-108B7BE08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5799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E3A58-D777-5515-C747-A3EE5405A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325E3-3385-812C-B601-056336FE9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9D9BFF-ED54-4FED-6AF8-5E763444E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988788-6EE8-8A9D-55D5-126A3B3A6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6847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E022A-B827-9889-D161-A1227A48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A871E5-F301-37FF-3BC9-0CAC58616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D130C8-3E12-57AB-394B-4D5571592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6C2D86-BC13-40D8-69C9-8D040A31F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7875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88BD6-D0DA-98DA-39D9-09493A30F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F3D809-11B6-2923-4147-76D2EDAE7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82F52A-5D3E-5A68-DAD3-4FF738CB2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80D786-15DD-C2FB-15A1-2A0756D22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430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E94FE-EC1C-8155-D7D0-C2A29ADF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62E3CA-34D5-64AF-F996-06EFEB16F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96A64B-23F6-6FEC-2BD6-3B596CEAA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A599CF-DE8F-E1D9-0276-38FD96C7C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5187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AC371-3458-60BB-A500-8E158121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D6CE10-6D6B-FEEC-5D0B-67A1831FA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685953-846C-8017-6820-E1AC74C78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73B95A-FBDE-3830-6D4A-01E64BD9B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5368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E7792-ED29-637F-A015-AA41AB8D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74BF76-92BB-E57A-FC57-EBE41D92A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6A7718-BEEF-3E93-22DC-F71D5917C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BC3018-91A8-A0E2-3348-4B403CF82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0008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9DD91-5AB6-5CD1-2AC2-B8FB9C5F5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85AD91-0D72-49B6-2A7F-9691E8D91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330302-354E-80C4-568C-67A023F40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983508-B88B-25B4-428C-85FEB8A9A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7090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81A98-84B1-CD10-6EBE-95A62F32E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7797E6-D2B6-A1CA-2C8F-B105BA628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558360-ECE2-AF0F-BACD-9BF91D3DA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72F84-AF60-2481-A4B4-DBAA94EF0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3221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C3F33-D08D-ABE6-D606-F42A372F0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4A0B61-784D-3DC2-A0A9-DDC60887C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C8BAEB-3A48-7FA6-0481-25D87CE43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CC8D9C-4F9D-8755-DD4A-3BE6DB862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7098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99D28-8CEB-D196-8791-3EAC726B3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32719C-CF52-8CAD-4917-3EBEAABF9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ABCE3D-72BF-6BE6-6A78-DF2C3CDE5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5F1B5D-30C4-630B-4B5C-E4A8DF8AB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2999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B4258-E302-7113-6606-C408C9D1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CCE23D-3ADE-6659-DEE1-13F0D260E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A384B3-BC74-D635-11AE-822361DC5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24A8AE-C7F7-206B-61B6-5164271ED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1706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C078-A53E-59CF-285B-0610C617C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931E74-E1D0-EFD1-5C45-F8CF57CDE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7ED5AA-7EC8-6CBA-4637-CD5A750A5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DD1832-1B72-E15C-1083-566C30AF9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A786029F-E1D5-4E18-87C2-5A622CF4BCFF}" type="slidenum">
              <a:rPr lang="ko-KR" altLang="en-US" smtClean="0"/>
              <a:pPr lvl="0">
                <a:defRPr/>
              </a:pPr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025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5DD97-6BD2-7F1A-56CD-916138F0E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A61964-6009-DA2D-BA11-5E9431432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FF5538-5026-B440-E870-938F34A75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0F26F7-3014-C216-9213-4B66D2092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99A04F-F800-67FD-EB82-AF813411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39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3FA43-B27A-8AF3-D4A5-F480EFC65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8A93A1-BA4E-F9F7-EACC-939C83ED3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D8D99A-9802-39D6-0561-21841FEF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579433-A55F-C5A0-FB91-91FC486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524533-3DED-EB84-8271-0E6987D88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666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429EC-C4D4-5CFF-5078-79595BEA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AFF3B3-B7C2-D0E5-A59B-7F11DB18C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01D125-12D4-5A37-00B7-0930644DB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94A980-D2C5-611C-C0BC-E9B8D9B76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BF1819-AB8D-4349-3BA8-C0BD6FDBF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29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778FE-1386-AF82-2AE8-9E54CBFB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2CA720-09C7-1E18-068D-63B78A1CBF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AACDBD-BBB3-6024-2082-165C7F9AB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385B38-9A67-1CC5-56E0-CA0304C85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836481-9389-1B16-A139-3471AE4D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4B6A52-F7DD-C6BD-AF58-23AA8361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98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8288" y="517024"/>
            <a:ext cx="10515600" cy="61720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86BE707-1330-4C19-83FC-0E737F95D1C2}" type="datetime1">
              <a:rPr lang="ko-KR" altLang="en-US"/>
              <a:pPr lvl="0">
                <a:defRPr/>
              </a:pPr>
              <a:t>2025-11-07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70557C8-A104-45B7-8B57-F3516A4E231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cxnSp>
        <p:nvCxnSpPr>
          <p:cNvPr id="11" name="직선 연결선 10"/>
          <p:cNvCxnSpPr>
            <a:cxnSpLocks/>
          </p:cNvCxnSpPr>
          <p:nvPr userDrawn="1"/>
        </p:nvCxnSpPr>
        <p:spPr>
          <a:xfrm>
            <a:off x="0" y="1362326"/>
            <a:ext cx="1219200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cxnSpLocks/>
          </p:cNvCxnSpPr>
          <p:nvPr userDrawn="1"/>
        </p:nvCxnSpPr>
        <p:spPr>
          <a:xfrm>
            <a:off x="0" y="140769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>
            <a:cxnSpLocks/>
          </p:cNvCxnSpPr>
          <p:nvPr userDrawn="1"/>
        </p:nvCxnSpPr>
        <p:spPr>
          <a:xfrm flipV="1">
            <a:off x="11163300" y="5924550"/>
            <a:ext cx="1076325" cy="98583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>
            <a:cxnSpLocks/>
          </p:cNvCxnSpPr>
          <p:nvPr userDrawn="1"/>
        </p:nvCxnSpPr>
        <p:spPr>
          <a:xfrm flipV="1">
            <a:off x="11272838" y="5972175"/>
            <a:ext cx="966787" cy="885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부제목 2"/>
          <p:cNvSpPr txBox="1"/>
          <p:nvPr userDrawn="1"/>
        </p:nvSpPr>
        <p:spPr>
          <a:xfrm>
            <a:off x="9524498" y="504826"/>
            <a:ext cx="2287003" cy="52546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marL="0" lv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kumimoji="0" lang="en-US" altLang="ko-KR" sz="24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ONECLICK AI </a:t>
            </a:r>
          </a:p>
          <a:p>
            <a:pPr marL="0" lv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endParaRPr kumimoji="0" lang="ko-KR" altLang="en-US" sz="2400" b="0" i="0" u="none" strike="noStrike" kern="1200" cap="none" spc="0" normalizeH="0" baseline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4CA16-F5B9-16A5-9D78-B8A5D0C3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DD5047-DD6A-312E-0B9D-2A75A355B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C35573-6CFA-561F-58A5-FE99FCE5D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405F01-04F9-D9DA-E053-B2E88756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417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FFDEE5-DF14-52F1-D32E-4B542F993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F4EACB-5FCB-6DAD-2294-1355E7C23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FE7F40-14E3-911A-6570-668B5216F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21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1351B-368E-5CD9-4CFD-6921B2BAD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CD1BAE-3AA6-17B3-A129-B152E23C1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E956EC-61E2-6755-AB96-ED1DA20A5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5FB4AE-20C3-C9E2-2D17-713B1C29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AF4851-A85F-C9AA-B08F-2F235C12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DA87B5-BEEF-1A6A-4F9C-76D7F3379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94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287F7-C27F-F797-1AA0-197CB2898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AEE96E-F966-B66C-2887-26BD90013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55A6F7-91D6-829A-8601-0F0755A97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C7E4AC-C368-50A4-311F-FAFB8A3E1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682CAB-6FA4-224E-E77A-FB93BB73C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6F8F0B-2656-AAE2-F937-3F3A9269C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12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3F03-F05E-CC31-67D2-D5E05DCC7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EE68B3-B825-9F19-CB0E-F9512FE1A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453078-5B8A-933C-5208-FF3A2A795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586A19-8200-36D6-196A-2E82CD97E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C53544-9DDA-77E3-AF6F-00539D4AE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58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19FEDA-A0B7-A46F-CCDB-FAEEB49B3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1A7D75-F6A5-5543-4FC6-DB3726947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D4EA2A-7002-EC2B-F002-976CCC0C8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E707-1330-4C19-83FC-0E737F95D1C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2DBB29-966D-82BB-08BC-840DB8CA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B567F3-B82F-9230-AE55-E619C7CC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73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38C6FB-7909-5633-D16F-15BF229ED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4C77CC-5864-3185-283E-7EA88EDA0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9A1075-8865-C673-C805-B3A57F6B8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BE707-1330-4C19-83FC-0E737F95D1C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F18A0B-215F-7988-65FB-6013E0050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3771D2-7DF7-BCE5-EDD5-1D279F56D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557C8-A104-45B7-8B57-F3516A4E2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75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정규화와 </a:t>
            </a:r>
            <a:r>
              <a:rPr lang="en-US" altLang="ko-KR" dirty="0" err="1"/>
              <a:t>UNet</a:t>
            </a:r>
            <a:endParaRPr lang="en-US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연준모</a:t>
            </a:r>
          </a:p>
        </p:txBody>
      </p:sp>
      <p:sp>
        <p:nvSpPr>
          <p:cNvPr id="4" name="부제목 2"/>
          <p:cNvSpPr txBox="1"/>
          <p:nvPr/>
        </p:nvSpPr>
        <p:spPr>
          <a:xfrm>
            <a:off x="9524498" y="504826"/>
            <a:ext cx="2287003" cy="52546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ONECLICK AI </a:t>
            </a:r>
          </a:p>
          <a:p>
            <a:pPr lvl="0">
              <a:defRPr/>
            </a:pP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88" y="396374"/>
            <a:ext cx="10515600" cy="617202"/>
          </a:xfrm>
        </p:spPr>
        <p:txBody>
          <a:bodyPr/>
          <a:lstStyle/>
          <a:p>
            <a:pPr lvl="0">
              <a:defRPr/>
            </a:pPr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2"/>
          </p:nvPr>
        </p:nvSpPr>
        <p:spPr>
          <a:xfrm>
            <a:off x="719292" y="3197049"/>
            <a:ext cx="7196136" cy="15513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ko-KR" altLang="en-US" dirty="0"/>
              <a:t>정규화와 </a:t>
            </a:r>
            <a:r>
              <a:rPr lang="en-US" altLang="ko-KR" dirty="0"/>
              <a:t>Norm</a:t>
            </a:r>
            <a:r>
              <a:rPr lang="ko-KR" altLang="en-US" dirty="0"/>
              <a:t> 종류와 차이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ko-KR" dirty="0"/>
              <a:t>U-Net </a:t>
            </a:r>
            <a:r>
              <a:rPr lang="ko-KR" altLang="en-US" dirty="0"/>
              <a:t>알아보기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ko-KR" dirty="0"/>
              <a:t>U-Net</a:t>
            </a:r>
            <a:r>
              <a:rPr lang="ko-KR" altLang="en-US" dirty="0"/>
              <a:t> 수식으로 열어보기</a:t>
            </a: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ko-KR" altLang="en-US" sz="2400" dirty="0"/>
              <a:t>정규화</a:t>
            </a:r>
            <a:r>
              <a:rPr lang="en-US" altLang="ko-KR" sz="2400" dirty="0"/>
              <a:t>?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 err="1"/>
              <a:t>정규화란</a:t>
            </a:r>
            <a:r>
              <a:rPr lang="en-US" altLang="ko-KR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내용 개체 틀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71488" y="2374130"/>
                <a:ext cx="10304191" cy="25570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  <a:defRPr/>
                </a:pPr>
                <a:r>
                  <a:rPr lang="ko-KR" altLang="en-US" sz="1800" dirty="0" err="1"/>
                  <a:t>딥러닝은</a:t>
                </a:r>
                <a:r>
                  <a:rPr lang="ko-KR" altLang="en-US" sz="1800" dirty="0"/>
                  <a:t> 선형 변환 될 때 다음과 같은 방식으로 변환된다</a:t>
                </a:r>
                <a:r>
                  <a:rPr lang="en-US" altLang="ko-KR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ko-KR" sz="1800" b="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0" i="0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ko-KR" sz="1800" b="0" i="0" dirty="0" err="1" smtClean="0">
                        <a:latin typeface="Cambria Math" panose="02040503050406030204" pitchFamily="18" charset="0"/>
                      </a:rPr>
                      <m:t>wx</m:t>
                    </m:r>
                    <m:r>
                      <a:rPr lang="en-US" altLang="ko-KR" sz="1800" b="0" i="0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altLang="ko-KR" sz="1800" b="0" i="0" dirty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altLang="ko-KR" sz="1800" dirty="0"/>
              </a:p>
              <a:p>
                <a:pPr marL="0" indent="0">
                  <a:buNone/>
                  <a:defRPr/>
                </a:pPr>
                <a:r>
                  <a:rPr lang="ko-KR" altLang="en-US" sz="1800" dirty="0" err="1">
                    <a:latin typeface="Cambria Math" panose="02040503050406030204" pitchFamily="18" charset="0"/>
                  </a:rPr>
                  <a:t>딥러닝에서</a:t>
                </a:r>
                <a:r>
                  <a:rPr lang="en-US" altLang="ko-KR" sz="180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800" dirty="0">
                    <a:latin typeface="Cambria Math" panose="02040503050406030204" pitchFamily="18" charset="0"/>
                  </a:rPr>
                  <a:t>은닉층이 </a:t>
                </a:r>
                <a:r>
                  <a:rPr lang="en-US" altLang="ko-KR" sz="1800" dirty="0">
                    <a:latin typeface="Cambria Math" panose="02040503050406030204" pitchFamily="18" charset="0"/>
                  </a:rPr>
                  <a:t>2 </a:t>
                </a:r>
                <a:r>
                  <a:rPr lang="ko-KR" altLang="en-US" sz="1800" dirty="0">
                    <a:latin typeface="Cambria Math" panose="02040503050406030204" pitchFamily="18" charset="0"/>
                  </a:rPr>
                  <a:t>층이라고 가정했을 때</a:t>
                </a:r>
                <a:r>
                  <a:rPr lang="en-US" altLang="ko-KR" sz="1800" dirty="0">
                    <a:latin typeface="Cambria Math" panose="02040503050406030204" pitchFamily="18" charset="0"/>
                  </a:rPr>
                  <a:t>, 1</a:t>
                </a:r>
                <a:r>
                  <a:rPr lang="ko-KR" altLang="en-US" sz="1800" dirty="0">
                    <a:latin typeface="Cambria Math" panose="02040503050406030204" pitchFamily="18" charset="0"/>
                  </a:rPr>
                  <a:t>층에서의 </a:t>
                </a:r>
                <a:r>
                  <a:rPr lang="ko-KR" altLang="en-US" sz="1800" dirty="0" err="1">
                    <a:latin typeface="Cambria Math" panose="02040503050406030204" pitchFamily="18" charset="0"/>
                  </a:rPr>
                  <a:t>출력값이</a:t>
                </a:r>
                <a:r>
                  <a:rPr lang="ko-KR" altLang="en-US" sz="18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800" dirty="0">
                    <a:latin typeface="Cambria Math" panose="02040503050406030204" pitchFamily="18" charset="0"/>
                  </a:rPr>
                  <a:t>2</a:t>
                </a:r>
                <a:r>
                  <a:rPr lang="ko-KR" altLang="en-US" sz="1800" dirty="0">
                    <a:latin typeface="Cambria Math" panose="02040503050406030204" pitchFamily="18" charset="0"/>
                  </a:rPr>
                  <a:t>층의 입력으로 들어간다는 사실을 이미 알고 있다</a:t>
                </a:r>
                <a:r>
                  <a:rPr lang="en-US" altLang="ko-KR" sz="1800" dirty="0"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0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71488" y="2374130"/>
                <a:ext cx="10304191" cy="2557099"/>
              </a:xfrm>
              <a:blipFill>
                <a:blip r:embed="rId3"/>
                <a:stretch>
                  <a:fillRect l="-47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4610251-2EF8-BD8B-0725-51D7BD8A55EF}"/>
              </a:ext>
            </a:extLst>
          </p:cNvPr>
          <p:cNvSpPr txBox="1"/>
          <p:nvPr/>
        </p:nvSpPr>
        <p:spPr>
          <a:xfrm>
            <a:off x="471487" y="3739383"/>
            <a:ext cx="9181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학습의 어려움 </a:t>
            </a:r>
            <a:r>
              <a:rPr lang="en-US" altLang="ko-KR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내부 </a:t>
            </a:r>
            <a:r>
              <a:rPr lang="ko-KR" altLang="en-US" sz="20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공변량</a:t>
            </a:r>
            <a:r>
              <a:rPr lang="ko-KR" altLang="en-US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변화 </a:t>
            </a:r>
            <a:r>
              <a:rPr lang="en-US" altLang="ko-KR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(Internal Covariate Shift, ICS)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FDAB8E-70F5-8F0B-EC08-4762E0E00F23}"/>
                  </a:ext>
                </a:extLst>
              </p:cNvPr>
              <p:cNvSpPr txBox="1"/>
              <p:nvPr/>
            </p:nvSpPr>
            <p:spPr>
              <a:xfrm>
                <a:off x="471491" y="4187092"/>
                <a:ext cx="924074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b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딥러닝은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층이 깊습니다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1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레이어의 가중치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 업데이트되면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그 출력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분포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평균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분산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바뀐다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(w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곱해지고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b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 더해지기 때문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FDAB8E-70F5-8F0B-EC08-4762E0E00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91" y="4187092"/>
                <a:ext cx="9240746" cy="646331"/>
              </a:xfrm>
              <a:prstGeom prst="rect">
                <a:avLst/>
              </a:prstGeom>
              <a:blipFill>
                <a:blip r:embed="rId4"/>
                <a:stretch>
                  <a:fillRect l="-528" t="-5660" r="-264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A6431A-7A34-AF58-4CFE-DBB57A868CAA}"/>
                  </a:ext>
                </a:extLst>
              </p:cNvPr>
              <p:cNvSpPr txBox="1"/>
              <p:nvPr/>
            </p:nvSpPr>
            <p:spPr>
              <a:xfrm>
                <a:off x="471486" y="4858415"/>
                <a:ext cx="924074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번 레이어는 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을 입력으로 받는데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학습 스텝마다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입력 데이터의 분포가 계속 변하는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문제가 발생한다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A6431A-7A34-AF58-4CFE-DBB57A868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6" y="4858415"/>
                <a:ext cx="9240745" cy="646331"/>
              </a:xfrm>
              <a:prstGeom prst="rect">
                <a:avLst/>
              </a:prstGeom>
              <a:blipFill>
                <a:blip r:embed="rId5"/>
                <a:stretch>
                  <a:fillRect l="-528" t="-566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EE2AEB1-E206-E9D6-4AD7-5822DFA2C4D7}"/>
              </a:ext>
            </a:extLst>
          </p:cNvPr>
          <p:cNvSpPr txBox="1"/>
          <p:nvPr/>
        </p:nvSpPr>
        <p:spPr>
          <a:xfrm>
            <a:off x="471487" y="5556611"/>
            <a:ext cx="9240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레이어가 안정적으로 학습하는 것을 방해한다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비유하자면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계속해서 움직이는 과녁을 맞추려는 것과 같다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82208-ECE9-3DCF-C8CB-D119DFCAB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747D4-4B7D-5FE1-9D63-6D65C9E8F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ko-KR" altLang="en-US" sz="2400" dirty="0"/>
              <a:t>정규화</a:t>
            </a:r>
            <a:r>
              <a:rPr lang="en-US" altLang="ko-KR" sz="2400" dirty="0"/>
              <a:t>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576BCA7-23A0-D187-8B27-67EA2E99A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 err="1"/>
              <a:t>정규화란</a:t>
            </a:r>
            <a:r>
              <a:rPr lang="en-US" altLang="ko-KR" dirty="0"/>
              <a:t>?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8C6681B-2126-C5D4-177C-3C7A66291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858605" y="2985360"/>
            <a:ext cx="3897959" cy="325543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2D13A19-5EFE-C6BF-46F9-599EA12212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502"/>
          <a:stretch>
            <a:fillRect/>
          </a:stretch>
        </p:blipFill>
        <p:spPr>
          <a:xfrm rot="16200000">
            <a:off x="5795535" y="2989719"/>
            <a:ext cx="3402493" cy="3144982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F1380A83-A7BF-39E1-9FD5-086A2A0785C2}"/>
              </a:ext>
            </a:extLst>
          </p:cNvPr>
          <p:cNvSpPr/>
          <p:nvPr/>
        </p:nvSpPr>
        <p:spPr>
          <a:xfrm>
            <a:off x="1851525" y="300926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59E9122-8264-9A5A-148D-6AB89DB76615}"/>
              </a:ext>
            </a:extLst>
          </p:cNvPr>
          <p:cNvSpPr/>
          <p:nvPr/>
        </p:nvSpPr>
        <p:spPr>
          <a:xfrm>
            <a:off x="1851524" y="354981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5073191-C7D5-1758-C54A-502D62C98AC6}"/>
              </a:ext>
            </a:extLst>
          </p:cNvPr>
          <p:cNvSpPr/>
          <p:nvPr/>
        </p:nvSpPr>
        <p:spPr>
          <a:xfrm>
            <a:off x="1851524" y="4090354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57C73A2-4952-ED54-2A3A-E5BEABB15AD7}"/>
              </a:ext>
            </a:extLst>
          </p:cNvPr>
          <p:cNvSpPr/>
          <p:nvPr/>
        </p:nvSpPr>
        <p:spPr>
          <a:xfrm>
            <a:off x="1853350" y="4646022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4153469-C122-4A1D-E0DF-AEA1AA4A2598}"/>
              </a:ext>
            </a:extLst>
          </p:cNvPr>
          <p:cNvSpPr/>
          <p:nvPr/>
        </p:nvSpPr>
        <p:spPr>
          <a:xfrm>
            <a:off x="1851523" y="518656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1293BA7-0270-9613-FF06-CC862019235F}"/>
              </a:ext>
            </a:extLst>
          </p:cNvPr>
          <p:cNvSpPr/>
          <p:nvPr/>
        </p:nvSpPr>
        <p:spPr>
          <a:xfrm>
            <a:off x="1851523" y="572711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331D9E6-5245-B345-94F9-8929532965E0}"/>
              </a:ext>
            </a:extLst>
          </p:cNvPr>
          <p:cNvSpPr/>
          <p:nvPr/>
        </p:nvSpPr>
        <p:spPr>
          <a:xfrm>
            <a:off x="5524365" y="300926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A075340-4C3F-F9E8-BF97-501F2BEBA89B}"/>
              </a:ext>
            </a:extLst>
          </p:cNvPr>
          <p:cNvSpPr/>
          <p:nvPr/>
        </p:nvSpPr>
        <p:spPr>
          <a:xfrm>
            <a:off x="5524364" y="354981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523CCC38-67BC-E8F2-D43D-427081F2A2F9}"/>
              </a:ext>
            </a:extLst>
          </p:cNvPr>
          <p:cNvSpPr/>
          <p:nvPr/>
        </p:nvSpPr>
        <p:spPr>
          <a:xfrm>
            <a:off x="5524364" y="4090354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119A05F-0829-A075-3394-410412883E06}"/>
              </a:ext>
            </a:extLst>
          </p:cNvPr>
          <p:cNvSpPr/>
          <p:nvPr/>
        </p:nvSpPr>
        <p:spPr>
          <a:xfrm>
            <a:off x="5526190" y="4646022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FC9BC8D-A4E9-91DE-DC6C-487CC979BB2B}"/>
              </a:ext>
            </a:extLst>
          </p:cNvPr>
          <p:cNvSpPr/>
          <p:nvPr/>
        </p:nvSpPr>
        <p:spPr>
          <a:xfrm>
            <a:off x="5524363" y="518656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FFC6FFB-DB77-81F5-02AF-906727D06973}"/>
              </a:ext>
            </a:extLst>
          </p:cNvPr>
          <p:cNvSpPr/>
          <p:nvPr/>
        </p:nvSpPr>
        <p:spPr>
          <a:xfrm>
            <a:off x="5524363" y="572711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BC8CDFD-5417-673F-9B21-73EA934B371C}"/>
              </a:ext>
            </a:extLst>
          </p:cNvPr>
          <p:cNvSpPr/>
          <p:nvPr/>
        </p:nvSpPr>
        <p:spPr>
          <a:xfrm>
            <a:off x="1051671" y="3848982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7969F0D-21ED-3E8D-5715-9D47CF82BF2B}"/>
              </a:ext>
            </a:extLst>
          </p:cNvPr>
          <p:cNvSpPr/>
          <p:nvPr/>
        </p:nvSpPr>
        <p:spPr>
          <a:xfrm>
            <a:off x="1051670" y="438952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F2CDCE6-C874-528A-BA33-74E59D783E27}"/>
              </a:ext>
            </a:extLst>
          </p:cNvPr>
          <p:cNvSpPr/>
          <p:nvPr/>
        </p:nvSpPr>
        <p:spPr>
          <a:xfrm>
            <a:off x="1051670" y="493007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BB0F954-465F-4827-8968-19D8F4BDD55A}"/>
              </a:ext>
            </a:extLst>
          </p:cNvPr>
          <p:cNvSpPr/>
          <p:nvPr/>
        </p:nvSpPr>
        <p:spPr>
          <a:xfrm>
            <a:off x="9856701" y="3848982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53A60A6-0B02-B22D-2E48-59DDD1EA4C96}"/>
              </a:ext>
            </a:extLst>
          </p:cNvPr>
          <p:cNvSpPr/>
          <p:nvPr/>
        </p:nvSpPr>
        <p:spPr>
          <a:xfrm>
            <a:off x="9856700" y="438952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3D1B501-AE6D-5315-6A6C-4C5E377F889B}"/>
              </a:ext>
            </a:extLst>
          </p:cNvPr>
          <p:cNvSpPr/>
          <p:nvPr/>
        </p:nvSpPr>
        <p:spPr>
          <a:xfrm>
            <a:off x="9856700" y="493007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021E624-AED9-1139-7B6C-26AAFD894F05}"/>
              </a:ext>
            </a:extLst>
          </p:cNvPr>
          <p:cNvSpPr/>
          <p:nvPr/>
        </p:nvSpPr>
        <p:spPr>
          <a:xfrm>
            <a:off x="9124338" y="2911462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39B6599-F66D-F579-52E0-03620E90D1A8}"/>
              </a:ext>
            </a:extLst>
          </p:cNvPr>
          <p:cNvSpPr/>
          <p:nvPr/>
        </p:nvSpPr>
        <p:spPr>
          <a:xfrm>
            <a:off x="9124337" y="345200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E6ED4B7D-3003-B3E1-13F3-EF95840C239D}"/>
              </a:ext>
            </a:extLst>
          </p:cNvPr>
          <p:cNvSpPr/>
          <p:nvPr/>
        </p:nvSpPr>
        <p:spPr>
          <a:xfrm>
            <a:off x="9124337" y="3992550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FD3B3B2-C9A7-133B-CD12-F2D1A896998F}"/>
              </a:ext>
            </a:extLst>
          </p:cNvPr>
          <p:cNvSpPr/>
          <p:nvPr/>
        </p:nvSpPr>
        <p:spPr>
          <a:xfrm>
            <a:off x="9126163" y="4548218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D2638962-C802-9B97-DC81-79BCFAA97360}"/>
              </a:ext>
            </a:extLst>
          </p:cNvPr>
          <p:cNvSpPr/>
          <p:nvPr/>
        </p:nvSpPr>
        <p:spPr>
          <a:xfrm>
            <a:off x="9124336" y="5088762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8859887-0C64-57CD-7F88-28418DB8F31F}"/>
              </a:ext>
            </a:extLst>
          </p:cNvPr>
          <p:cNvSpPr/>
          <p:nvPr/>
        </p:nvSpPr>
        <p:spPr>
          <a:xfrm>
            <a:off x="9124336" y="5629306"/>
            <a:ext cx="310867" cy="317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0FE625-F48B-8C52-8FF6-EEBFBCFEBFFD}"/>
              </a:ext>
            </a:extLst>
          </p:cNvPr>
          <p:cNvSpPr txBox="1"/>
          <p:nvPr/>
        </p:nvSpPr>
        <p:spPr>
          <a:xfrm>
            <a:off x="617538" y="6197933"/>
            <a:ext cx="5545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이렇게 분포가 바뀌면 진동이 생겨 </a:t>
            </a:r>
            <a:r>
              <a:rPr lang="ko-KR" altLang="en-US" dirty="0" err="1"/>
              <a:t>딥러닝이</a:t>
            </a:r>
            <a:r>
              <a:rPr lang="ko-KR" altLang="en-US" dirty="0"/>
              <a:t> 망한다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1690BE-2D7F-D98B-A8D3-9426B3404113}"/>
              </a:ext>
            </a:extLst>
          </p:cNvPr>
          <p:cNvSpPr txBox="1"/>
          <p:nvPr/>
        </p:nvSpPr>
        <p:spPr>
          <a:xfrm>
            <a:off x="684212" y="2586187"/>
            <a:ext cx="901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입력층</a:t>
            </a:r>
            <a:endParaRPr lang="en-US" altLang="ko-KR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3F9BE8-DE19-2504-8571-C49CBF186CE2}"/>
              </a:ext>
            </a:extLst>
          </p:cNvPr>
          <p:cNvSpPr txBox="1"/>
          <p:nvPr/>
        </p:nvSpPr>
        <p:spPr>
          <a:xfrm>
            <a:off x="5228980" y="2268471"/>
            <a:ext cx="901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은닉층</a:t>
            </a:r>
            <a:endParaRPr lang="en-US" altLang="ko-KR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E2B651-5D0A-142D-12E6-B8E4F7819DF0}"/>
              </a:ext>
            </a:extLst>
          </p:cNvPr>
          <p:cNvSpPr txBox="1"/>
          <p:nvPr/>
        </p:nvSpPr>
        <p:spPr>
          <a:xfrm>
            <a:off x="9576966" y="2479433"/>
            <a:ext cx="901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출력층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4700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0D970-EC97-5924-0B40-E4D24716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13C4-1367-6E6A-D8DE-314AE793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ko-KR" altLang="en-US" sz="2400" dirty="0"/>
              <a:t>정규화</a:t>
            </a:r>
            <a:r>
              <a:rPr lang="en-US" altLang="ko-KR" sz="2400" dirty="0"/>
              <a:t>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C6A11E3-F83D-220B-8CAA-8CE83DDA6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 err="1"/>
              <a:t>정규화란</a:t>
            </a:r>
            <a:r>
              <a:rPr lang="en-US" altLang="ko-KR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DF30BF-02F3-98EF-EAB3-018CE30E7717}"/>
              </a:ext>
            </a:extLst>
          </p:cNvPr>
          <p:cNvSpPr txBox="1"/>
          <p:nvPr/>
        </p:nvSpPr>
        <p:spPr>
          <a:xfrm>
            <a:off x="419235" y="2420035"/>
            <a:ext cx="9181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정규화의 핵심 목적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1EC541-C7DB-09BC-DE4A-88526D38E942}"/>
              </a:ext>
            </a:extLst>
          </p:cNvPr>
          <p:cNvSpPr txBox="1"/>
          <p:nvPr/>
        </p:nvSpPr>
        <p:spPr>
          <a:xfrm>
            <a:off x="419239" y="2867744"/>
            <a:ext cx="9240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 </a:t>
            </a:r>
            <a:r>
              <a:rPr lang="en-US" altLang="ko-KR" dirty="0"/>
              <a:t>ICS </a:t>
            </a:r>
            <a:r>
              <a:rPr lang="ko-KR" altLang="en-US" dirty="0"/>
              <a:t>문제를 해결하는 것이 정규화의 가장 중요한 목적이다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F973D3-1519-A07B-EB73-6C9D33CA0385}"/>
              </a:ext>
            </a:extLst>
          </p:cNvPr>
          <p:cNvSpPr txBox="1"/>
          <p:nvPr/>
        </p:nvSpPr>
        <p:spPr>
          <a:xfrm>
            <a:off x="419235" y="3255201"/>
            <a:ext cx="9240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각 레이어에 들어오는 입력 벡터들의 분포를 강제로 평균 </a:t>
            </a:r>
            <a:r>
              <a:rPr lang="en-US" altLang="ko-KR" dirty="0"/>
              <a:t>0, </a:t>
            </a:r>
            <a:r>
              <a:rPr lang="ko-KR" altLang="en-US" dirty="0"/>
              <a:t>분산 </a:t>
            </a:r>
            <a:r>
              <a:rPr lang="en-US" altLang="ko-KR" dirty="0"/>
              <a:t>1</a:t>
            </a:r>
            <a:r>
              <a:rPr lang="ko-KR" altLang="en-US" dirty="0"/>
              <a:t>로 표준화 시킨다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4DCD6-8DD4-8B04-0BCF-0991C0539CAF}"/>
              </a:ext>
            </a:extLst>
          </p:cNvPr>
          <p:cNvSpPr txBox="1"/>
          <p:nvPr/>
        </p:nvSpPr>
        <p:spPr>
          <a:xfrm>
            <a:off x="419236" y="4368997"/>
            <a:ext cx="10938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학습 안정화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모든 레이어가 일관된 분포의 입력을 받아 학습에만 집중할 수 있다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5F572-B423-07ED-A50F-45902D74FC5C}"/>
              </a:ext>
            </a:extLst>
          </p:cNvPr>
          <p:cNvSpPr txBox="1"/>
          <p:nvPr/>
        </p:nvSpPr>
        <p:spPr>
          <a:xfrm>
            <a:off x="419235" y="4785928"/>
            <a:ext cx="13342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학습 가속화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학습이 안정되므로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학습률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(Learning Rate)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훨씬 높게 설정할 수 있어 모델이 빠르게 수렴한다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C32A51-4E45-4DF3-80DD-D89FC2207E86}"/>
              </a:ext>
            </a:extLst>
          </p:cNvPr>
          <p:cNvSpPr txBox="1"/>
          <p:nvPr/>
        </p:nvSpPr>
        <p:spPr>
          <a:xfrm>
            <a:off x="419234" y="3905899"/>
            <a:ext cx="9181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정규화의 주 목적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07043B-630A-5521-34B2-FF70008F5FB5}"/>
              </a:ext>
            </a:extLst>
          </p:cNvPr>
          <p:cNvSpPr txBox="1"/>
          <p:nvPr/>
        </p:nvSpPr>
        <p:spPr>
          <a:xfrm>
            <a:off x="4524647" y="5685584"/>
            <a:ext cx="220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분포 안정화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108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7708-2BB4-853E-143C-F33B930D2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A76B5-BA23-4D9A-A178-1554553A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ko-KR" altLang="en-US" sz="2400" dirty="0"/>
              <a:t>정규화</a:t>
            </a:r>
            <a:r>
              <a:rPr lang="en-US" altLang="ko-KR" sz="2400" dirty="0"/>
              <a:t>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465BB50-6023-47ED-2C16-190D2F87A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 err="1"/>
              <a:t>정규화란</a:t>
            </a:r>
            <a:r>
              <a:rPr lang="en-US" altLang="ko-KR" dirty="0"/>
              <a:t>?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86DF5D38-573B-5219-6C78-EECA9F9C73B3}"/>
              </a:ext>
            </a:extLst>
          </p:cNvPr>
          <p:cNvSpPr txBox="1">
            <a:spLocks/>
          </p:cNvSpPr>
          <p:nvPr/>
        </p:nvSpPr>
        <p:spPr>
          <a:xfrm>
            <a:off x="546988" y="2423844"/>
            <a:ext cx="7376415" cy="245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ko-KR" altLang="en-US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대표적인 정규화에는 다음 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lang="ko-KR" altLang="en-US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가지가 있는데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</a:t>
            </a:r>
          </a:p>
          <a:p>
            <a:pPr marL="0" indent="0"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Batch </a:t>
            </a:r>
            <a:r>
              <a:rPr lang="en-US" altLang="ko-KR" sz="2000" dirty="0">
                <a:solidFill>
                  <a:srgbClr val="101518"/>
                </a:solidFill>
                <a:latin typeface="Roboto" panose="02000000000000000000" pitchFamily="2" charset="0"/>
              </a:rPr>
              <a:t>Normalization</a:t>
            </a:r>
            <a:endParaRPr lang="ko-KR" altLang="en-US" sz="2000" dirty="0"/>
          </a:p>
          <a:p>
            <a:pPr marL="0" indent="0"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Layer </a:t>
            </a:r>
            <a:r>
              <a:rPr lang="en-US" altLang="ko-KR" sz="2000" dirty="0">
                <a:solidFill>
                  <a:srgbClr val="101518"/>
                </a:solidFill>
                <a:latin typeface="Roboto" panose="02000000000000000000" pitchFamily="2" charset="0"/>
              </a:rPr>
              <a:t>Normalization</a:t>
            </a:r>
            <a:endParaRPr lang="ko-KR" altLang="en-US" sz="2000" dirty="0"/>
          </a:p>
          <a:p>
            <a:pPr>
              <a:buFontTx/>
              <a:buChar char="-"/>
              <a:defRPr/>
            </a:pPr>
            <a:r>
              <a:rPr lang="en-US" altLang="ko-KR" sz="200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Instanse</a:t>
            </a:r>
            <a:r>
              <a:rPr lang="en-US" altLang="ko-KR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00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Nomalization</a:t>
            </a:r>
            <a:endParaRPr lang="en-US" altLang="ko-KR" sz="200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>
              <a:buFontTx/>
              <a:buChar char="-"/>
              <a:defRPr/>
            </a:pPr>
            <a:r>
              <a:rPr lang="en-US" altLang="ko-KR" sz="2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Group </a:t>
            </a:r>
            <a:r>
              <a:rPr lang="en-US" altLang="ko-KR" sz="200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Nomalization</a:t>
            </a:r>
            <a:endParaRPr lang="en-US" altLang="ko-KR" sz="200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C38C9-6E13-A6D8-6682-11E933A2D590}"/>
              </a:ext>
            </a:extLst>
          </p:cNvPr>
          <p:cNvSpPr txBox="1"/>
          <p:nvPr/>
        </p:nvSpPr>
        <p:spPr>
          <a:xfrm>
            <a:off x="3662869" y="4433054"/>
            <a:ext cx="1144652" cy="311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중요도 순서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E2DCB-1C6F-968F-0057-ACB4FE6385BC}"/>
              </a:ext>
            </a:extLst>
          </p:cNvPr>
          <p:cNvSpPr txBox="1"/>
          <p:nvPr/>
        </p:nvSpPr>
        <p:spPr>
          <a:xfrm>
            <a:off x="3662869" y="4084119"/>
            <a:ext cx="6264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4 </a:t>
            </a:r>
            <a:r>
              <a:rPr lang="ko-KR" altLang="en-US" sz="1400" dirty="0">
                <a:solidFill>
                  <a:srgbClr val="FF0000"/>
                </a:solidFill>
              </a:rPr>
              <a:t>특수 목적으로 잘 </a:t>
            </a:r>
            <a:r>
              <a:rPr lang="ko-KR" altLang="en-US" sz="1400" dirty="0" err="1">
                <a:solidFill>
                  <a:srgbClr val="FF0000"/>
                </a:solidFill>
              </a:rPr>
              <a:t>안쓰임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B8D047-9B56-1227-D151-B1B5EC91BFA9}"/>
              </a:ext>
            </a:extLst>
          </p:cNvPr>
          <p:cNvSpPr txBox="1"/>
          <p:nvPr/>
        </p:nvSpPr>
        <p:spPr>
          <a:xfrm>
            <a:off x="3662869" y="3676358"/>
            <a:ext cx="6264902" cy="311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3 </a:t>
            </a:r>
            <a:r>
              <a:rPr lang="ko-KR" altLang="en-US" sz="1400" dirty="0">
                <a:solidFill>
                  <a:srgbClr val="FF0000"/>
                </a:solidFill>
              </a:rPr>
              <a:t>특수 목적으로 잘 </a:t>
            </a:r>
            <a:r>
              <a:rPr lang="ko-KR" altLang="en-US" sz="1400" dirty="0" err="1">
                <a:solidFill>
                  <a:srgbClr val="FF0000"/>
                </a:solidFill>
              </a:rPr>
              <a:t>안쓰임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E48832-3B67-6C0F-E658-A0755E2B7A03}"/>
              </a:ext>
            </a:extLst>
          </p:cNvPr>
          <p:cNvSpPr txBox="1"/>
          <p:nvPr/>
        </p:nvSpPr>
        <p:spPr>
          <a:xfrm>
            <a:off x="3662869" y="3268597"/>
            <a:ext cx="1144652" cy="311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F3704D-7C5C-2994-12A0-DBF9E47BB12D}"/>
              </a:ext>
            </a:extLst>
          </p:cNvPr>
          <p:cNvSpPr txBox="1"/>
          <p:nvPr/>
        </p:nvSpPr>
        <p:spPr>
          <a:xfrm>
            <a:off x="3662869" y="2817842"/>
            <a:ext cx="1144652" cy="311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24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60B83-EF42-2909-D734-64759DD38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073B2-3C94-E785-289B-164BA8C8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1. Batch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DBA2EBA-D50C-4CDF-2D58-851EA60F2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Batch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139DB8-C2F2-4A2B-14C0-97543F1E6061}"/>
              </a:ext>
            </a:extLst>
          </p:cNvPr>
          <p:cNvSpPr txBox="1"/>
          <p:nvPr/>
        </p:nvSpPr>
        <p:spPr>
          <a:xfrm>
            <a:off x="360454" y="2521913"/>
            <a:ext cx="12806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통계량</a:t>
            </a:r>
            <a:r>
              <a:rPr lang="en-US" altLang="ko-KR" dirty="0"/>
              <a:t>(</a:t>
            </a:r>
            <a:r>
              <a:rPr lang="ko-KR" altLang="en-US" dirty="0"/>
              <a:t>평균</a:t>
            </a:r>
            <a:r>
              <a:rPr lang="en-US" altLang="ko-KR" dirty="0"/>
              <a:t>, </a:t>
            </a:r>
            <a:r>
              <a:rPr lang="ko-KR" altLang="en-US" dirty="0"/>
              <a:t>분산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ko-KR" altLang="en-US" dirty="0" err="1"/>
              <a:t>미니배치단위로</a:t>
            </a:r>
            <a:r>
              <a:rPr lang="ko-KR" altLang="en-US" dirty="0"/>
              <a:t> 계산하여</a:t>
            </a:r>
            <a:r>
              <a:rPr lang="en-US" altLang="ko-KR" dirty="0"/>
              <a:t>, </a:t>
            </a:r>
            <a:r>
              <a:rPr lang="ko-KR" altLang="en-US" dirty="0"/>
              <a:t>입력 분포의 변화</a:t>
            </a:r>
            <a:r>
              <a:rPr lang="en-US" altLang="ko-KR" dirty="0"/>
              <a:t>(Internal Covariate Shift)</a:t>
            </a:r>
            <a:r>
              <a:rPr lang="ko-KR" altLang="en-US" dirty="0"/>
              <a:t>를 줄인다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E55ABF-3238-C71C-EF94-193586403522}"/>
                  </a:ext>
                </a:extLst>
              </p:cNvPr>
              <p:cNvSpPr txBox="1"/>
              <p:nvPr/>
            </p:nvSpPr>
            <p:spPr>
              <a:xfrm>
                <a:off x="360454" y="3182720"/>
                <a:ext cx="17961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sSup>
                        <m:sSupPr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E55ABF-3238-C71C-EF94-193586403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54" y="3182720"/>
                <a:ext cx="1796143" cy="369332"/>
              </a:xfrm>
              <a:prstGeom prst="rect">
                <a:avLst/>
              </a:prstGeom>
              <a:blipFill>
                <a:blip r:embed="rId3"/>
                <a:stretch>
                  <a:fillRect t="-8197" r="-101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E3F849A9-D4A6-96BA-BB81-C0D8D47385E3}"/>
              </a:ext>
            </a:extLst>
          </p:cNvPr>
          <p:cNvSpPr txBox="1"/>
          <p:nvPr/>
        </p:nvSpPr>
        <p:spPr>
          <a:xfrm>
            <a:off x="471488" y="3817267"/>
            <a:ext cx="6583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 N ):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배치 크기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(batch size)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 C ):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 수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 H, W ):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공간적 크기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B1EFFE-E2A2-B0BF-F9AD-20AE0F066675}"/>
              </a:ext>
            </a:extLst>
          </p:cNvPr>
          <p:cNvSpPr txBox="1"/>
          <p:nvPr/>
        </p:nvSpPr>
        <p:spPr>
          <a:xfrm>
            <a:off x="471488" y="5005812"/>
            <a:ext cx="12806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주로 </a:t>
            </a:r>
            <a:r>
              <a:rPr lang="en-US" altLang="ko-KR" dirty="0"/>
              <a:t>CNN</a:t>
            </a:r>
            <a:r>
              <a:rPr lang="ko-KR" altLang="en-US" dirty="0"/>
              <a:t>에서 사용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F57275-C2C4-631F-14C1-415EACA2A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207" y="3182720"/>
            <a:ext cx="3441467" cy="32349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66DF0-3447-29F2-8B59-A6055B16D7D0}"/>
              </a:ext>
            </a:extLst>
          </p:cNvPr>
          <p:cNvSpPr txBox="1"/>
          <p:nvPr/>
        </p:nvSpPr>
        <p:spPr>
          <a:xfrm>
            <a:off x="8148205" y="5910339"/>
            <a:ext cx="337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1D0AA4-7E46-232B-1A59-1947804B8BB2}"/>
              </a:ext>
            </a:extLst>
          </p:cNvPr>
          <p:cNvSpPr txBox="1"/>
          <p:nvPr/>
        </p:nvSpPr>
        <p:spPr>
          <a:xfrm>
            <a:off x="5100205" y="4614076"/>
            <a:ext cx="337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305CD-E890-8D85-5B35-6D8CCC346A84}"/>
              </a:ext>
            </a:extLst>
          </p:cNvPr>
          <p:cNvSpPr txBox="1"/>
          <p:nvPr/>
        </p:nvSpPr>
        <p:spPr>
          <a:xfrm>
            <a:off x="6480548" y="6194357"/>
            <a:ext cx="337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15A98F-2B76-EC09-BEBD-B9C10AEC4013}"/>
              </a:ext>
            </a:extLst>
          </p:cNvPr>
          <p:cNvSpPr txBox="1"/>
          <p:nvPr/>
        </p:nvSpPr>
        <p:spPr>
          <a:xfrm>
            <a:off x="4081918" y="5825025"/>
            <a:ext cx="901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 =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6F7A9-BD00-6B77-A933-0A0B4AA10447}"/>
              </a:ext>
            </a:extLst>
          </p:cNvPr>
          <p:cNvSpPr txBox="1"/>
          <p:nvPr/>
        </p:nvSpPr>
        <p:spPr>
          <a:xfrm>
            <a:off x="6066269" y="4740597"/>
            <a:ext cx="1503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RGB </a:t>
            </a:r>
            <a:r>
              <a:rPr lang="en-US" altLang="ko-KR" dirty="0" err="1"/>
              <a:t>img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033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A8D7A-7701-7A2A-DA17-039BE3B0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67167-704A-50A6-D68E-78519DD2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1. Batch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ACC1933-2C3A-4E27-F8D0-E662D43C5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Batch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E9E2E4-D352-846A-6B97-B471464E8B52}"/>
              </a:ext>
            </a:extLst>
          </p:cNvPr>
          <p:cNvSpPr txBox="1"/>
          <p:nvPr/>
        </p:nvSpPr>
        <p:spPr>
          <a:xfrm>
            <a:off x="360454" y="2521913"/>
            <a:ext cx="12806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Batch Size?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987C7-E9BD-DAE0-784A-2978746EAC35}"/>
              </a:ext>
            </a:extLst>
          </p:cNvPr>
          <p:cNvSpPr txBox="1"/>
          <p:nvPr/>
        </p:nvSpPr>
        <p:spPr>
          <a:xfrm>
            <a:off x="360453" y="2910725"/>
            <a:ext cx="6968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한 번의 가중치 업데이트</a:t>
            </a:r>
            <a:r>
              <a:rPr lang="en-US" altLang="ko-KR" dirty="0"/>
              <a:t>(</a:t>
            </a:r>
            <a:r>
              <a:rPr lang="ko-KR" altLang="en-US" dirty="0"/>
              <a:t>학습</a:t>
            </a:r>
            <a:r>
              <a:rPr lang="en-US" altLang="ko-KR" dirty="0"/>
              <a:t>)</a:t>
            </a:r>
            <a:r>
              <a:rPr lang="ko-KR" altLang="en-US" dirty="0"/>
              <a:t>에 사용되는 데이터 샘플의 개수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35374-0262-1D59-71A1-A8F075E674EE}"/>
              </a:ext>
            </a:extLst>
          </p:cNvPr>
          <p:cNvSpPr txBox="1"/>
          <p:nvPr/>
        </p:nvSpPr>
        <p:spPr>
          <a:xfrm>
            <a:off x="360453" y="3393278"/>
            <a:ext cx="6584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총 데이터가 </a:t>
            </a:r>
            <a:r>
              <a:rPr lang="en-US" altLang="ko-KR" dirty="0"/>
              <a:t>1000</a:t>
            </a:r>
            <a:r>
              <a:rPr lang="ko-KR" altLang="en-US" dirty="0"/>
              <a:t>개라면</a:t>
            </a:r>
            <a:r>
              <a:rPr lang="en-US" altLang="ko-KR" dirty="0"/>
              <a:t>, 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93A0A-5D8F-CE0D-94ED-75B0E4255BFF}"/>
              </a:ext>
            </a:extLst>
          </p:cNvPr>
          <p:cNvSpPr txBox="1"/>
          <p:nvPr/>
        </p:nvSpPr>
        <p:spPr>
          <a:xfrm>
            <a:off x="360452" y="3875831"/>
            <a:ext cx="8291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한번에 </a:t>
            </a:r>
            <a:r>
              <a:rPr lang="en-US" altLang="ko-KR" dirty="0"/>
              <a:t>100</a:t>
            </a:r>
            <a:r>
              <a:rPr lang="ko-KR" altLang="en-US" dirty="0"/>
              <a:t>개씩 </a:t>
            </a:r>
            <a:r>
              <a:rPr lang="en-US" altLang="ko-KR" dirty="0"/>
              <a:t>10</a:t>
            </a:r>
            <a:r>
              <a:rPr lang="ko-KR" altLang="en-US" dirty="0"/>
              <a:t>번 학습할 것인지</a:t>
            </a:r>
            <a:r>
              <a:rPr lang="en-US" altLang="ko-KR" dirty="0"/>
              <a:t>, </a:t>
            </a:r>
            <a:r>
              <a:rPr lang="ko-KR" altLang="en-US" dirty="0"/>
              <a:t>한 번에 </a:t>
            </a:r>
            <a:r>
              <a:rPr lang="en-US" altLang="ko-KR" dirty="0"/>
              <a:t>1000</a:t>
            </a:r>
            <a:r>
              <a:rPr lang="ko-KR" altLang="en-US" dirty="0"/>
              <a:t>개를 다 학습할 것인지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242403F-ABCB-B896-5DA7-BEC77719C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12563"/>
              </p:ext>
            </p:extLst>
          </p:nvPr>
        </p:nvGraphicFramePr>
        <p:xfrm>
          <a:off x="442307" y="4486776"/>
          <a:ext cx="1091841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9473">
                  <a:extLst>
                    <a:ext uri="{9D8B030D-6E8A-4147-A177-3AD203B41FA5}">
                      <a16:colId xmlns:a16="http://schemas.microsoft.com/office/drawing/2014/main" val="333180774"/>
                    </a:ext>
                  </a:extLst>
                </a:gridCol>
                <a:gridCol w="3639473">
                  <a:extLst>
                    <a:ext uri="{9D8B030D-6E8A-4147-A177-3AD203B41FA5}">
                      <a16:colId xmlns:a16="http://schemas.microsoft.com/office/drawing/2014/main" val="1644724437"/>
                    </a:ext>
                  </a:extLst>
                </a:gridCol>
                <a:gridCol w="3639473">
                  <a:extLst>
                    <a:ext uri="{9D8B030D-6E8A-4147-A177-3AD203B41FA5}">
                      <a16:colId xmlns:a16="http://schemas.microsoft.com/office/drawing/2014/main" val="4080833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큰 배치 크기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256, 1024)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작은 배치 크기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8, 32, 64)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20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학습속도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빠름 </a:t>
                      </a:r>
                      <a:r>
                        <a:rPr lang="en-US" altLang="ko-KR" b="0" dirty="0"/>
                        <a:t>(GPU </a:t>
                      </a:r>
                      <a:r>
                        <a:rPr lang="ko-KR" altLang="en-US" b="0" dirty="0"/>
                        <a:t>병렬 처리에 유리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느림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데이터를 자주 나눠서 처리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071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메모리 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/>
                        <a:t>매우 높음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큰 </a:t>
                      </a:r>
                      <a:r>
                        <a:rPr lang="en-US" altLang="ko-KR" b="0" dirty="0"/>
                        <a:t>GPU VRAM </a:t>
                      </a:r>
                      <a:r>
                        <a:rPr lang="ko-KR" altLang="en-US" b="0" dirty="0"/>
                        <a:t>필요</a:t>
                      </a:r>
                      <a:r>
                        <a:rPr lang="en-US" altLang="ko-KR" b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낮음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작은 </a:t>
                      </a:r>
                      <a:r>
                        <a:rPr lang="en-US" altLang="ko-KR" b="0" dirty="0"/>
                        <a:t>GPU</a:t>
                      </a:r>
                      <a:r>
                        <a:rPr lang="ko-KR" altLang="en-US" b="0" dirty="0"/>
                        <a:t>에서도 가능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06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/>
                        <a:t>하습</a:t>
                      </a:r>
                      <a:r>
                        <a:rPr lang="ko-KR" altLang="en-US" b="0" dirty="0"/>
                        <a:t> 안정성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안정적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많은 데이터의 평균을 따름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불안정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노이즈</a:t>
                      </a:r>
                      <a:r>
                        <a:rPr lang="en-US" altLang="ko-KR" b="0" dirty="0"/>
                        <a:t>)</a:t>
                      </a:r>
                      <a:r>
                        <a:rPr lang="ko-KR" altLang="en-US" b="0" dirty="0"/>
                        <a:t>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적은 데이터에 민감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63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일반화 성능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나빠질 수 있음 </a:t>
                      </a:r>
                      <a:r>
                        <a:rPr lang="en-US" altLang="ko-KR" b="0" dirty="0"/>
                        <a:t>(Sharp Minima)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좋아질 수 있음 </a:t>
                      </a:r>
                      <a:r>
                        <a:rPr lang="en-US" altLang="ko-KR" b="0" dirty="0"/>
                        <a:t>(Flat Minima)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367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770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C4EE-4848-27AC-C668-68B50A835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B68EB-D361-56D4-C5B1-FABE66F2C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1. Batch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2B9E1CE-65ED-25BD-5641-E49F6D3E4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Batch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38C3DD-D842-D553-2746-AF4D0A57A5FC}"/>
                  </a:ext>
                </a:extLst>
              </p:cNvPr>
              <p:cNvSpPr txBox="1"/>
              <p:nvPr/>
            </p:nvSpPr>
            <p:spPr>
              <a:xfrm>
                <a:off x="360454" y="2521913"/>
                <a:ext cx="9560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각 채널 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 대해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배치 전체의 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 </a:t>
                </a:r>
                <a14:m>
                  <m:oMath xmlns:m="http://schemas.openxmlformats.org/officeDocument/2006/math"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×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𝐻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×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𝑊</m:t>
                    </m:r>
                  </m:oMath>
                </a14:m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)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원소에 대해 평균과 분산 계산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38C3DD-D842-D553-2746-AF4D0A57A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54" y="2521913"/>
                <a:ext cx="9560786" cy="369332"/>
              </a:xfrm>
              <a:prstGeom prst="rect">
                <a:avLst/>
              </a:prstGeom>
              <a:blipFill>
                <a:blip r:embed="rId3"/>
                <a:stretch>
                  <a:fillRect l="-510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B1C6A7-D60A-DD8F-4985-32EF4C4C35C2}"/>
                  </a:ext>
                </a:extLst>
              </p:cNvPr>
              <p:cNvSpPr txBox="1"/>
              <p:nvPr/>
            </p:nvSpPr>
            <p:spPr>
              <a:xfrm>
                <a:off x="360454" y="3299954"/>
                <a:ext cx="3421243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𝑁𝐻𝑊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h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B1C6A7-D60A-DD8F-4985-32EF4C4C3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54" y="3299954"/>
                <a:ext cx="3421243" cy="871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F7D5F2A-478B-7510-3141-A060EF73E838}"/>
              </a:ext>
            </a:extLst>
          </p:cNvPr>
          <p:cNvSpPr txBox="1"/>
          <p:nvPr/>
        </p:nvSpPr>
        <p:spPr>
          <a:xfrm>
            <a:off x="4741718" y="3078603"/>
            <a:ext cx="61306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N(Batch Size) :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배치에 포함된 이미지의 개수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32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(Channel) :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채널 개수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흑백은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RGB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컬러는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3)</a:t>
            </a:r>
          </a:p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 (Height) :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이미지의 세로 픽셀 수</a:t>
            </a:r>
          </a:p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 (Width) :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이미지의 가로 픽셀 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34A7E3-AB26-AF32-2054-725F5CB12589}"/>
                  </a:ext>
                </a:extLst>
              </p:cNvPr>
              <p:cNvSpPr txBox="1"/>
              <p:nvPr/>
            </p:nvSpPr>
            <p:spPr>
              <a:xfrm>
                <a:off x="360454" y="4275532"/>
                <a:ext cx="861752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1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b="1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𝒏</m:t>
                        </m:r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𝒄</m:t>
                        </m:r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𝒉</m:t>
                        </m:r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altLang="ko-KR" sz="1800" b="1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en-US" altLang="ko-KR" dirty="0"/>
                  <a:t>: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</a:t>
                </a:r>
                <a:r>
                  <a:rPr lang="ko-KR" altLang="en-US" dirty="0"/>
                  <a:t>번째 이미지의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</a:t>
                </a:r>
                <a:r>
                  <a:rPr lang="ko-KR" altLang="en-US" dirty="0"/>
                  <a:t>번째 채널</a:t>
                </a:r>
                <a:r>
                  <a:rPr lang="en-US" altLang="ko-KR" dirty="0"/>
                  <a:t>,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(h, w)</a:t>
                </a:r>
                <a:r>
                  <a:rPr lang="ko-KR" altLang="en-US" dirty="0"/>
                  <a:t> 위치에 있는 픽셀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특성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값 하나를 의미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34A7E3-AB26-AF32-2054-725F5CB12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54" y="4275532"/>
                <a:ext cx="8617527" cy="381515"/>
              </a:xfrm>
              <a:prstGeom prst="rect">
                <a:avLst/>
              </a:prstGeom>
              <a:blipFill>
                <a:blip r:embed="rId5"/>
                <a:stretch>
                  <a:fillRect t="-9524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1D6ECCB-0C4D-2903-A03B-A124BB1B70A5}"/>
              </a:ext>
            </a:extLst>
          </p:cNvPr>
          <p:cNvSpPr txBox="1"/>
          <p:nvPr/>
        </p:nvSpPr>
        <p:spPr>
          <a:xfrm>
            <a:off x="360454" y="3123070"/>
            <a:ext cx="716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평균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654C63-647C-EF9A-53CF-AE9FAC1BF685}"/>
                  </a:ext>
                </a:extLst>
              </p:cNvPr>
              <p:cNvSpPr txBox="1"/>
              <p:nvPr/>
            </p:nvSpPr>
            <p:spPr>
              <a:xfrm>
                <a:off x="360454" y="4835622"/>
                <a:ext cx="7914410" cy="3913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18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8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8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1800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ko-KR" sz="1800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1800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altLang="ko-KR" sz="18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800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800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p>
                              <m:e/>
                            </m:nary>
                          </m:e>
                        </m:nary>
                      </m:e>
                    </m:nary>
                  </m:oMath>
                </a14:m>
                <a:r>
                  <a:rPr lang="en-US" altLang="ko-KR" dirty="0"/>
                  <a:t>: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</a:rPr>
                  <a:t>c</a:t>
                </a:r>
                <a:r>
                  <a:rPr lang="ko-KR" altLang="en-US" dirty="0"/>
                  <a:t>번째 채널에 해당하는 모든 값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을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</a:rPr>
                  <a:t>전부 더하라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654C63-647C-EF9A-53CF-AE9FAC1BF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54" y="4835622"/>
                <a:ext cx="7914410" cy="391389"/>
              </a:xfrm>
              <a:prstGeom prst="rect">
                <a:avLst/>
              </a:prstGeom>
              <a:blipFill>
                <a:blip r:embed="rId6"/>
                <a:stretch>
                  <a:fillRect l="-4237" t="-112500" b="-1718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61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7BE10-64DA-CC52-B909-7587E55C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976E7-57F0-63B2-D8CF-93A0EC9EB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1. Batch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0E881EA-02AD-4D9C-6421-6D59D4463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Batch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27AEEA-1367-91FC-2584-1E5959766968}"/>
                  </a:ext>
                </a:extLst>
              </p:cNvPr>
              <p:cNvSpPr txBox="1"/>
              <p:nvPr/>
            </p:nvSpPr>
            <p:spPr>
              <a:xfrm>
                <a:off x="360454" y="2521913"/>
                <a:ext cx="9560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각 채널 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 대해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배치 전체의 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 </a:t>
                </a:r>
                <a14:m>
                  <m:oMath xmlns:m="http://schemas.openxmlformats.org/officeDocument/2006/math"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×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𝐻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×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𝑊</m:t>
                    </m:r>
                  </m:oMath>
                </a14:m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)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원소에 대해 평균과 분산 계산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38C3DD-D842-D553-2746-AF4D0A57A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54" y="2521913"/>
                <a:ext cx="9560786" cy="369332"/>
              </a:xfrm>
              <a:prstGeom prst="rect">
                <a:avLst/>
              </a:prstGeom>
              <a:blipFill>
                <a:blip r:embed="rId3"/>
                <a:stretch>
                  <a:fillRect l="-510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D9FDD3-C890-8D1D-B1C8-E87CECB1B972}"/>
                  </a:ext>
                </a:extLst>
              </p:cNvPr>
              <p:cNvSpPr txBox="1"/>
              <p:nvPr/>
            </p:nvSpPr>
            <p:spPr>
              <a:xfrm>
                <a:off x="374742" y="3444207"/>
                <a:ext cx="3421243" cy="785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  <m:sup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𝑁𝐻𝑊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h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D9FDD3-C890-8D1D-B1C8-E87CECB1B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42" y="3444207"/>
                <a:ext cx="3421243" cy="785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E035F29-AEA4-3FBC-2978-ED847D82BED6}"/>
              </a:ext>
            </a:extLst>
          </p:cNvPr>
          <p:cNvSpPr txBox="1"/>
          <p:nvPr/>
        </p:nvSpPr>
        <p:spPr>
          <a:xfrm>
            <a:off x="360454" y="3123070"/>
            <a:ext cx="716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분산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68AB82-EA10-9D12-0AA8-44F430756D0F}"/>
              </a:ext>
            </a:extLst>
          </p:cNvPr>
          <p:cNvSpPr txBox="1"/>
          <p:nvPr/>
        </p:nvSpPr>
        <p:spPr>
          <a:xfrm>
            <a:off x="1576604" y="4598231"/>
            <a:ext cx="294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편차의 제곱을 다 더한 후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8B6E4A-0286-8F8D-9B83-6B71754ED8A4}"/>
              </a:ext>
            </a:extLst>
          </p:cNvPr>
          <p:cNvSpPr txBox="1"/>
          <p:nvPr/>
        </p:nvSpPr>
        <p:spPr>
          <a:xfrm>
            <a:off x="793172" y="5248290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데이터의 총개수로 나누어 분산 구한다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92D8171-14D4-2D27-1659-9C9DBA79A965}"/>
              </a:ext>
            </a:extLst>
          </p:cNvPr>
          <p:cNvCxnSpPr>
            <a:cxnSpLocks/>
          </p:cNvCxnSpPr>
          <p:nvPr/>
        </p:nvCxnSpPr>
        <p:spPr>
          <a:xfrm flipV="1">
            <a:off x="1981200" y="4278932"/>
            <a:ext cx="0" cy="319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1DD8E7D-866E-45E1-E188-D5E2A98A0F48}"/>
              </a:ext>
            </a:extLst>
          </p:cNvPr>
          <p:cNvCxnSpPr>
            <a:cxnSpLocks/>
          </p:cNvCxnSpPr>
          <p:nvPr/>
        </p:nvCxnSpPr>
        <p:spPr>
          <a:xfrm flipV="1">
            <a:off x="1076833" y="4045364"/>
            <a:ext cx="0" cy="1143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73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7F29D-A9D7-13A8-3223-4E106932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8D4F6-CE19-A5D8-B516-8C38244BD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1. Batch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AF34BA6-2DD2-328A-9671-61A5AE440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Batch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80B66-CF73-EB13-6E4A-8FF76730D591}"/>
              </a:ext>
            </a:extLst>
          </p:cNvPr>
          <p:cNvSpPr txBox="1"/>
          <p:nvPr/>
        </p:nvSpPr>
        <p:spPr>
          <a:xfrm>
            <a:off x="360454" y="2498245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정규화 및 복원 단계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602E68-16BC-EA34-CAA0-B5BB61F7FDC0}"/>
                  </a:ext>
                </a:extLst>
              </p:cNvPr>
              <p:cNvSpPr txBox="1"/>
              <p:nvPr/>
            </p:nvSpPr>
            <p:spPr>
              <a:xfrm>
                <a:off x="471488" y="3091270"/>
                <a:ext cx="3324497" cy="734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lang="ko-KR" altLang="en-US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𝑤</m:t>
                      </m:r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𝜖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602E68-16BC-EA34-CAA0-B5BB61F7F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3091270"/>
                <a:ext cx="3324497" cy="734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AEF289A-D51F-E0CC-3BC8-BAB040F2BC42}"/>
              </a:ext>
            </a:extLst>
          </p:cNvPr>
          <p:cNvSpPr txBox="1"/>
          <p:nvPr/>
        </p:nvSpPr>
        <p:spPr>
          <a:xfrm>
            <a:off x="3952739" y="3304661"/>
            <a:ext cx="830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정규화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0A295A-1929-A058-52E9-6CF7292898AB}"/>
                  </a:ext>
                </a:extLst>
              </p:cNvPr>
              <p:cNvSpPr txBox="1"/>
              <p:nvPr/>
            </p:nvSpPr>
            <p:spPr>
              <a:xfrm>
                <a:off x="471488" y="3873001"/>
                <a:ext cx="502876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ko-KR" sz="1800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18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dirty="0"/>
                  <a:t> : (</a:t>
                </a:r>
                <a:r>
                  <a:rPr lang="ko-KR" altLang="en-US" dirty="0"/>
                  <a:t>값 </a:t>
                </a:r>
                <a:r>
                  <a:rPr lang="en-US" altLang="ko-KR" dirty="0"/>
                  <a:t>- </a:t>
                </a:r>
                <a:r>
                  <a:rPr lang="ko-KR" altLang="en-US" dirty="0"/>
                  <a:t>평균</a:t>
                </a:r>
                <a:r>
                  <a:rPr lang="en-US" altLang="ko-KR" dirty="0"/>
                  <a:t>). </a:t>
                </a:r>
                <a:r>
                  <a:rPr lang="ko-KR" altLang="en-US" dirty="0"/>
                  <a:t>이렇게 하면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</a:rPr>
                  <a:t>평균이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</a:rPr>
                  <a:t>0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0A295A-1929-A058-52E9-6CF729289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3873001"/>
                <a:ext cx="5028767" cy="381515"/>
              </a:xfrm>
              <a:prstGeom prst="rect">
                <a:avLst/>
              </a:prstGeom>
              <a:blipFill>
                <a:blip r:embed="rId4"/>
                <a:stretch>
                  <a:fillRect t="-9524" r="-364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A5FDF0-986C-6F88-D1F4-BD0E9AB8760C}"/>
                  </a:ext>
                </a:extLst>
              </p:cNvPr>
              <p:cNvSpPr txBox="1"/>
              <p:nvPr/>
            </p:nvSpPr>
            <p:spPr>
              <a:xfrm>
                <a:off x="471488" y="4262914"/>
                <a:ext cx="6130636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8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en-US" altLang="ko-KR" sz="18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𝜖</m:t>
                        </m:r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</m:e>
                    </m:rad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표준편차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A5FDF0-986C-6F88-D1F4-BD0E9AB87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4262914"/>
                <a:ext cx="6130636" cy="427746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1E2E5F-AB64-44FC-5253-2935F64CC6DB}"/>
                  </a:ext>
                </a:extLst>
              </p:cNvPr>
              <p:cNvSpPr txBox="1"/>
              <p:nvPr/>
            </p:nvSpPr>
            <p:spPr>
              <a:xfrm>
                <a:off x="1161049" y="4677650"/>
                <a:ext cx="73525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𝜖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아주 작은 값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분모가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이 되는 것을 방지하기 위함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1E2E5F-AB64-44FC-5253-2935F64CC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049" y="4677650"/>
                <a:ext cx="7352570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5DADBA-8441-5794-4530-74F430497C3F}"/>
                  </a:ext>
                </a:extLst>
              </p:cNvPr>
              <p:cNvSpPr txBox="1"/>
              <p:nvPr/>
            </p:nvSpPr>
            <p:spPr>
              <a:xfrm>
                <a:off x="471488" y="5174460"/>
                <a:ext cx="61306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ko-KR" altLang="en-US" dirty="0"/>
                  <a:t> 모든 데이터가 평균 </a:t>
                </a:r>
                <a:r>
                  <a:rPr lang="en-US" altLang="ko-KR" dirty="0"/>
                  <a:t>0, </a:t>
                </a:r>
                <a:r>
                  <a:rPr lang="ko-KR" altLang="en-US" dirty="0"/>
                  <a:t>표준편차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인 분포로 정규화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5DADBA-8441-5794-4530-74F430497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5174460"/>
                <a:ext cx="6130636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10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F499E-5693-AC6B-B7A0-26409D21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EA00D-A18B-E199-BD9D-5E02DBE8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1. Batch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C960C0-E369-4F59-B949-2597CBBDE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Batch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478668-2177-4B3D-28CF-874423F5DB7D}"/>
                  </a:ext>
                </a:extLst>
              </p:cNvPr>
              <p:cNvSpPr txBox="1"/>
              <p:nvPr/>
            </p:nvSpPr>
            <p:spPr>
              <a:xfrm>
                <a:off x="498767" y="3654670"/>
                <a:ext cx="2551614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sub>
                      </m:sSub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𝛾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sub>
                          </m:sSub>
                        </m:e>
                      </m:acc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478668-2177-4B3D-28CF-874423F5D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67" y="3654670"/>
                <a:ext cx="2551614" cy="381515"/>
              </a:xfrm>
              <a:prstGeom prst="rect">
                <a:avLst/>
              </a:prstGeom>
              <a:blipFill>
                <a:blip r:embed="rId3"/>
                <a:stretch>
                  <a:fillRect t="-4839" r="-24880" b="-112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0C1BA79-45D7-3B0A-69CC-5F727C0AA7E2}"/>
              </a:ext>
            </a:extLst>
          </p:cNvPr>
          <p:cNvSpPr txBox="1"/>
          <p:nvPr/>
        </p:nvSpPr>
        <p:spPr>
          <a:xfrm>
            <a:off x="6646977" y="4709635"/>
            <a:ext cx="6126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배치 크기에 의존적</a:t>
            </a:r>
          </a:p>
          <a:p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 안정화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수렴 가속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규제 효과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(regularization)</a:t>
            </a:r>
          </a:p>
          <a:p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배치에서는 통계량이 불안정 → 성능 저하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5FBE9B-A011-EF44-0701-B8683074A8CC}"/>
              </a:ext>
            </a:extLst>
          </p:cNvPr>
          <p:cNvSpPr txBox="1"/>
          <p:nvPr/>
        </p:nvSpPr>
        <p:spPr>
          <a:xfrm>
            <a:off x="468890" y="2425425"/>
            <a:ext cx="87387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데이터를 너무 강하게 </a:t>
            </a:r>
            <a:r>
              <a:rPr lang="en-US" altLang="ko-KR" dirty="0"/>
              <a:t>(</a:t>
            </a:r>
            <a:r>
              <a:rPr lang="ko-KR" altLang="en-US" dirty="0"/>
              <a:t>평균 </a:t>
            </a:r>
            <a:r>
              <a:rPr lang="en-US" altLang="ko-KR" dirty="0"/>
              <a:t>0, </a:t>
            </a:r>
            <a:r>
              <a:rPr lang="ko-KR" altLang="en-US" dirty="0"/>
              <a:t>분산 </a:t>
            </a:r>
            <a:r>
              <a:rPr lang="en-US" altLang="ko-KR" dirty="0"/>
              <a:t>1</a:t>
            </a:r>
            <a:r>
              <a:rPr lang="ko-KR" altLang="en-US" dirty="0"/>
              <a:t>로</a:t>
            </a:r>
            <a:r>
              <a:rPr lang="en-US" altLang="ko-KR" dirty="0"/>
              <a:t>) </a:t>
            </a:r>
            <a:r>
              <a:rPr lang="ko-KR" altLang="en-US" dirty="0"/>
              <a:t>제약했다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어쩌면 네트워크는 평균이 </a:t>
            </a:r>
            <a:r>
              <a:rPr lang="en-US" altLang="ko-KR" dirty="0"/>
              <a:t>0.5, </a:t>
            </a:r>
            <a:r>
              <a:rPr lang="ko-KR" altLang="en-US" dirty="0"/>
              <a:t>분산이 </a:t>
            </a:r>
            <a:r>
              <a:rPr lang="en-US" altLang="ko-KR" dirty="0"/>
              <a:t>1.2</a:t>
            </a:r>
            <a:r>
              <a:rPr lang="ko-KR" altLang="en-US" dirty="0"/>
              <a:t>인 상태를 더 선호할 수도 있다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9488D-C6FE-30EE-1256-E3A86967CE8A}"/>
              </a:ext>
            </a:extLst>
          </p:cNvPr>
          <p:cNvSpPr txBox="1"/>
          <p:nvPr/>
        </p:nvSpPr>
        <p:spPr>
          <a:xfrm>
            <a:off x="498767" y="3018664"/>
            <a:ext cx="8392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네트워크가 스스로 최적의 평균과 분산을 학습할 수 있도록 유연성을 더해준다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B53360-1090-38C4-FC57-CEFE00ABB7E2}"/>
                  </a:ext>
                </a:extLst>
              </p:cNvPr>
              <p:cNvSpPr txBox="1"/>
              <p:nvPr/>
            </p:nvSpPr>
            <p:spPr>
              <a:xfrm>
                <a:off x="468890" y="4128728"/>
                <a:ext cx="101796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 err="1"/>
                  <a:t>정규화된</a:t>
                </a:r>
                <a:r>
                  <a:rPr lang="ko-KR" altLang="en-US" dirty="0"/>
                  <a:t> 데이터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를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</a:rPr>
                  <a:t>학습 가능한 파라미터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ko-KR" sz="1800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800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800" b="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를 이용해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</a:rPr>
                  <a:t>스케일을 조절</a:t>
                </a:r>
                <a:r>
                  <a:rPr lang="ko-KR" altLang="en-US" dirty="0"/>
                  <a:t>하고 이동시킨다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B53360-1090-38C4-FC57-CEFE00ABB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90" y="4128728"/>
                <a:ext cx="10179628" cy="369332"/>
              </a:xfrm>
              <a:prstGeom prst="rect">
                <a:avLst/>
              </a:prstGeom>
              <a:blipFill>
                <a:blip r:embed="rId4"/>
                <a:stretch>
                  <a:fillRect l="-539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81D015-CA20-5105-2AB9-7FCB0520A6B0}"/>
                  </a:ext>
                </a:extLst>
              </p:cNvPr>
              <p:cNvSpPr txBox="1"/>
              <p:nvPr/>
            </p:nvSpPr>
            <p:spPr>
              <a:xfrm>
                <a:off x="468890" y="4709635"/>
                <a:ext cx="5537056" cy="1224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𝛾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: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새로운 스케일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분산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을 조절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: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새로운 이동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평균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을 조절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h</m:t>
                            </m:r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a:rPr lang="en-US" altLang="ko-KR" sz="180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: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방금 만든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'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평균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0,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분산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1'</a:t>
                </a:r>
                <a:r>
                  <a:rPr lang="ko-KR" altLang="en-US" sz="18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짜리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데이터 이다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: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최종적으로 다음 레이어로 전달되는 결과값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81D015-CA20-5105-2AB9-7FCB0520A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90" y="4709635"/>
                <a:ext cx="5537056" cy="1224694"/>
              </a:xfrm>
              <a:prstGeom prst="rect">
                <a:avLst/>
              </a:prstGeom>
              <a:blipFill>
                <a:blip r:embed="rId5"/>
                <a:stretch>
                  <a:fillRect l="-330" t="-3000" r="-1652" b="-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324AFD-BA25-ACAE-85D8-BCD41679869C}"/>
                  </a:ext>
                </a:extLst>
              </p:cNvPr>
              <p:cNvSpPr txBox="1"/>
              <p:nvPr/>
            </p:nvSpPr>
            <p:spPr>
              <a:xfrm>
                <a:off x="468890" y="6277833"/>
                <a:ext cx="7303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/>
                  <a:t>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𝛾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dirty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dirty="0"/>
                  <a:t>는 모델이 학습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과정에서 스스로 최적의 값을 찾아간다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324AFD-BA25-ACAE-85D8-BCD416798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90" y="6277833"/>
                <a:ext cx="7303510" cy="369332"/>
              </a:xfrm>
              <a:prstGeom prst="rect">
                <a:avLst/>
              </a:prstGeom>
              <a:blipFill>
                <a:blip r:embed="rId6"/>
                <a:stretch>
                  <a:fillRect l="-751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98557C1-604B-7A75-3A13-BF4D5BFDA557}"/>
                  </a:ext>
                </a:extLst>
              </p:cNvPr>
              <p:cNvSpPr txBox="1"/>
              <p:nvPr/>
            </p:nvSpPr>
            <p:spPr>
              <a:xfrm>
                <a:off x="468890" y="5934329"/>
                <a:ext cx="120811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/>
                  <a:t>정규화를 안 하는 게 낫다고 판단하면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𝛾</m:t>
                        </m:r>
                      </m:e>
                      <m:sub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𝜎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en-US" altLang="ko-KR" sz="180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dirty="0"/>
                  <a:t>에 가깝게 학습하여 정규화 효과를 되돌릴 수도 있다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98557C1-604B-7A75-3A13-BF4D5BFDA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90" y="5934329"/>
                <a:ext cx="12081161" cy="369332"/>
              </a:xfrm>
              <a:prstGeom prst="rect">
                <a:avLst/>
              </a:prstGeom>
              <a:blipFill>
                <a:blip r:embed="rId7"/>
                <a:stretch>
                  <a:fillRect l="-454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109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4A550-063D-741A-237A-D59542437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08CED-F889-7BC8-7D45-B9F86720D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2.</a:t>
            </a:r>
            <a:r>
              <a:rPr lang="ko-KR" altLang="en-US" sz="2400" dirty="0"/>
              <a:t> </a:t>
            </a:r>
            <a:r>
              <a:rPr lang="en-US" altLang="ko-KR" sz="2400" dirty="0"/>
              <a:t>Layer</a:t>
            </a:r>
            <a:r>
              <a:rPr lang="ko-KR" altLang="en-US" sz="2400" dirty="0"/>
              <a:t> </a:t>
            </a:r>
            <a:r>
              <a:rPr lang="en-US" altLang="ko-KR" sz="2400" dirty="0"/>
              <a:t>Normalization?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49979B8-F8C3-B820-E668-B165B3B95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Layer </a:t>
            </a:r>
            <a:r>
              <a:rPr lang="en-US" altLang="ko-KR" dirty="0" err="1"/>
              <a:t>Nomalization</a:t>
            </a:r>
            <a:r>
              <a:rPr lang="en-US" altLang="ko-KR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1B7BB0-4E87-F466-11C5-9EA29D09ADED}"/>
              </a:ext>
            </a:extLst>
          </p:cNvPr>
          <p:cNvSpPr txBox="1"/>
          <p:nvPr/>
        </p:nvSpPr>
        <p:spPr>
          <a:xfrm>
            <a:off x="471488" y="2302469"/>
            <a:ext cx="9457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배치 크기 의존성을 없애기 위해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샘플 단위로 전체 피처의 통계량을 계산한다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9ADCEF-E674-2236-AB7E-98FECCE822D7}"/>
                  </a:ext>
                </a:extLst>
              </p:cNvPr>
              <p:cNvSpPr txBox="1"/>
              <p:nvPr/>
            </p:nvSpPr>
            <p:spPr>
              <a:xfrm>
                <a:off x="471488" y="2813260"/>
                <a:ext cx="17896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sSup>
                        <m:sSupPr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9ADCEF-E674-2236-AB7E-98FECCE82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2813260"/>
                <a:ext cx="1789612" cy="369332"/>
              </a:xfrm>
              <a:prstGeom prst="rect">
                <a:avLst/>
              </a:prstGeom>
              <a:blipFill>
                <a:blip r:embed="rId3"/>
                <a:stretch>
                  <a:fillRect t="-8197" r="-1361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96D5189-554A-6F1F-67B6-839EB380AEC7}"/>
              </a:ext>
            </a:extLst>
          </p:cNvPr>
          <p:cNvSpPr txBox="1"/>
          <p:nvPr/>
        </p:nvSpPr>
        <p:spPr>
          <a:xfrm>
            <a:off x="471488" y="3429000"/>
            <a:ext cx="12101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Batch</a:t>
            </a:r>
            <a:r>
              <a:rPr lang="ko-KR" altLang="en-US" dirty="0"/>
              <a:t>와 마찬가지로</a:t>
            </a:r>
            <a:r>
              <a:rPr lang="en-US" altLang="ko-KR" dirty="0"/>
              <a:t>, </a:t>
            </a:r>
            <a:r>
              <a:rPr lang="ko-KR" altLang="en-US" dirty="0"/>
              <a:t>평균 분산 계산 하지만</a:t>
            </a:r>
            <a:r>
              <a:rPr lang="en-US" altLang="ko-KR" dirty="0"/>
              <a:t>, batch</a:t>
            </a:r>
            <a:r>
              <a:rPr lang="ko-KR" altLang="en-US" dirty="0"/>
              <a:t>에서는 동일한 채널에서만</a:t>
            </a:r>
            <a:r>
              <a:rPr lang="en-US" altLang="ko-KR" dirty="0"/>
              <a:t>, </a:t>
            </a:r>
            <a:r>
              <a:rPr lang="ko-KR" altLang="en-US" dirty="0"/>
              <a:t>여기서는 한 데이터에 대해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C79589-C2B7-33DE-43C7-3332ACEACB1C}"/>
                  </a:ext>
                </a:extLst>
              </p:cNvPr>
              <p:cNvSpPr txBox="1"/>
              <p:nvPr/>
            </p:nvSpPr>
            <p:spPr>
              <a:xfrm>
                <a:off x="471488" y="3798332"/>
                <a:ext cx="3095897" cy="8728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</m:sSub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𝐶𝐻𝑊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h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C79589-C2B7-33DE-43C7-3332ACEAC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3798332"/>
                <a:ext cx="3095897" cy="8728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DDCB5F-407E-FD6A-3469-9A03376CE3ED}"/>
                  </a:ext>
                </a:extLst>
              </p:cNvPr>
              <p:cNvSpPr txBox="1"/>
              <p:nvPr/>
            </p:nvSpPr>
            <p:spPr>
              <a:xfrm>
                <a:off x="471488" y="4671135"/>
                <a:ext cx="3337559" cy="785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  <m:sup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𝐶𝐻𝑊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𝑐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h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kern="1200" dirty="0" err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DDCB5F-407E-FD6A-3469-9A03376CE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4671135"/>
                <a:ext cx="3337559" cy="7857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F6EFE4-6751-AF4E-AEC5-B11C2ACC2E48}"/>
                  </a:ext>
                </a:extLst>
              </p:cNvPr>
              <p:cNvSpPr txBox="1"/>
              <p:nvPr/>
            </p:nvSpPr>
            <p:spPr>
              <a:xfrm>
                <a:off x="5923252" y="3842197"/>
                <a:ext cx="3337560" cy="734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lang="ko-KR" altLang="en-US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en-US" altLang="ko-KR" sz="1800" b="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𝑤</m:t>
                      </m:r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ko-KR" sz="1800" b="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𝜖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F6EFE4-6751-AF4E-AEC5-B11C2ACC2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252" y="3842197"/>
                <a:ext cx="3337560" cy="7345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4147A8B-8DCE-68E0-9D9D-C7A872E3C320}"/>
              </a:ext>
            </a:extLst>
          </p:cNvPr>
          <p:cNvSpPr txBox="1"/>
          <p:nvPr/>
        </p:nvSpPr>
        <p:spPr>
          <a:xfrm>
            <a:off x="9672292" y="3974996"/>
            <a:ext cx="830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정규화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A4263-90EF-B299-1FB3-4C221EDD65E0}"/>
              </a:ext>
            </a:extLst>
          </p:cNvPr>
          <p:cNvSpPr txBox="1"/>
          <p:nvPr/>
        </p:nvSpPr>
        <p:spPr>
          <a:xfrm>
            <a:off x="9672292" y="4527139"/>
            <a:ext cx="830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복원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791D1D-C843-117F-D77F-F6ECAFBAAEBA}"/>
                  </a:ext>
                </a:extLst>
              </p:cNvPr>
              <p:cNvSpPr txBox="1"/>
              <p:nvPr/>
            </p:nvSpPr>
            <p:spPr>
              <a:xfrm>
                <a:off x="5923252" y="4580758"/>
                <a:ext cx="2592977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sub>
                      </m:sSub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𝛾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en-US" altLang="ko-KR" sz="1800" b="0" i="1" kern="1200" dirty="0" err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sub>
                          </m:sSub>
                        </m:e>
                      </m:acc>
                      <m:r>
                        <a:rPr lang="en-US" altLang="ko-KR" sz="1800" b="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ko-KR" sz="1800" b="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800" b="0" i="1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791D1D-C843-117F-D77F-F6ECAFBAA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252" y="4580758"/>
                <a:ext cx="2592977" cy="381515"/>
              </a:xfrm>
              <a:prstGeom prst="rect">
                <a:avLst/>
              </a:prstGeom>
              <a:blipFill>
                <a:blip r:embed="rId7"/>
                <a:stretch>
                  <a:fillRect t="-4762" r="-23529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CEFBA64-5D4A-E6E6-0BED-7B74505A1D20}"/>
              </a:ext>
            </a:extLst>
          </p:cNvPr>
          <p:cNvSpPr txBox="1"/>
          <p:nvPr/>
        </p:nvSpPr>
        <p:spPr>
          <a:xfrm>
            <a:off x="471488" y="5543938"/>
            <a:ext cx="79487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배치 크기와 무관</a:t>
            </a:r>
          </a:p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RNN, Transformer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시퀀스 기반 모델에서 주로 사용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미니배치 크기가 </a:t>
            </a:r>
            <a:r>
              <a:rPr lang="en-US" altLang="ko-KR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이어도 안정적</a:t>
            </a:r>
          </a:p>
        </p:txBody>
      </p:sp>
    </p:spTree>
    <p:extLst>
      <p:ext uri="{BB962C8B-B14F-4D97-AF65-F5344CB8AC3E}">
        <p14:creationId xmlns:p14="http://schemas.microsoft.com/office/powerpoint/2010/main" val="163842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E3EFF-D1B2-E84F-E454-B3EBBBD20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FE8E3-5D0F-C00B-F23F-E766ACB0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</a:t>
            </a:r>
            <a:r>
              <a:rPr lang="ko-KR" altLang="en-US" dirty="0"/>
              <a:t>정규화의 종류와 차이 </a:t>
            </a:r>
            <a:r>
              <a:rPr lang="en-US" altLang="ko-KR" sz="2400" dirty="0"/>
              <a:t>3.</a:t>
            </a:r>
            <a:r>
              <a:rPr lang="ko-KR" altLang="en-US" sz="2400" dirty="0"/>
              <a:t> 비교</a:t>
            </a:r>
            <a:endParaRPr lang="en-US" altLang="ko-KR" sz="24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3524357-1DF1-9D37-8695-AC02E6405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/>
              <a:t>비교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8957B27-4233-19BF-50E3-8019DC17C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668588"/>
              </p:ext>
            </p:extLst>
          </p:nvPr>
        </p:nvGraphicFramePr>
        <p:xfrm>
          <a:off x="471488" y="2777066"/>
          <a:ext cx="114572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092">
                  <a:extLst>
                    <a:ext uri="{9D8B030D-6E8A-4147-A177-3AD203B41FA5}">
                      <a16:colId xmlns:a16="http://schemas.microsoft.com/office/drawing/2014/main" val="1336298105"/>
                    </a:ext>
                  </a:extLst>
                </a:gridCol>
                <a:gridCol w="3819092">
                  <a:extLst>
                    <a:ext uri="{9D8B030D-6E8A-4147-A177-3AD203B41FA5}">
                      <a16:colId xmlns:a16="http://schemas.microsoft.com/office/drawing/2014/main" val="148164321"/>
                    </a:ext>
                  </a:extLst>
                </a:gridCol>
                <a:gridCol w="3819092">
                  <a:extLst>
                    <a:ext uri="{9D8B030D-6E8A-4147-A177-3AD203B41FA5}">
                      <a16:colId xmlns:a16="http://schemas.microsoft.com/office/drawing/2014/main" val="4096598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Batch Normalization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Layer Normalization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071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계산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배치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b="0" dirty="0"/>
                        <a:t> 내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 채널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단일 데이터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 </a:t>
                      </a:r>
                      <a:r>
                        <a:rPr lang="ko-KR" altLang="en-US" b="0" dirty="0"/>
                        <a:t>내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채널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C, H, W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13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배치 크기 의존성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매우 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없음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독립적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037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주요 사용처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CNN (</a:t>
                      </a:r>
                      <a:r>
                        <a:rPr lang="ko-KR" altLang="en-US" b="0" dirty="0"/>
                        <a:t>컴퓨터 비전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RNN, </a:t>
                      </a:r>
                      <a:r>
                        <a:rPr lang="ko-KR" altLang="en-US" b="0" dirty="0"/>
                        <a:t>트랜스포머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자연어 처리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12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29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8532-9134-8223-9D9A-CE5A42F6A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FD8C0-965E-0E52-564F-CC72F9B4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norm?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7E700D1-B2BC-E461-ECDD-660941073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Norm?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1A4D88-4AA9-51D9-B94D-B47B92BD624C}"/>
                  </a:ext>
                </a:extLst>
              </p:cNvPr>
              <p:cNvSpPr txBox="1"/>
              <p:nvPr/>
            </p:nvSpPr>
            <p:spPr>
              <a:xfrm>
                <a:off x="471488" y="2353407"/>
                <a:ext cx="9038272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벡터 공간에서 벡터 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크기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또는 길이를 측정하는 함수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0" b="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n-US" altLang="ko-KR" sz="1800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ko-KR" altLang="en-US" dirty="0"/>
                  <a:t>이</a:t>
                </a:r>
                <a:r>
                  <a:rPr lang="ko-KR" altLang="en-US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다</a:t>
                </a:r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1A4D88-4AA9-51D9-B94D-B47B92BD6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2353407"/>
                <a:ext cx="9038272" cy="404983"/>
              </a:xfrm>
              <a:prstGeom prst="rect">
                <a:avLst/>
              </a:prstGeom>
              <a:blipFill>
                <a:blip r:embed="rId3"/>
                <a:stretch>
                  <a:fillRect l="-539" t="-4545"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25C4D4-FB7A-8C38-708D-1401FB4F07E9}"/>
                  </a:ext>
                </a:extLst>
              </p:cNvPr>
              <p:cNvSpPr txBox="1"/>
              <p:nvPr/>
            </p:nvSpPr>
            <p:spPr>
              <a:xfrm>
                <a:off x="471488" y="2881359"/>
                <a:ext cx="6126480" cy="473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18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-Norm: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0" b="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800" b="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naryPr>
                              <m:sub>
                                <m:r>
                                  <a:rPr lang="en-US" altLang="ko-KR" sz="1800" b="0" i="1" kern="1200" dirty="0" err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ko-KR" sz="1800" b="0" i="1" kern="1200" dirty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0" b="0" i="1" kern="1200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0" b="0" i="1" kern="1200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0" b="0" i="1" kern="1200" dirty="0" err="1" smtClean="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/</m:t>
                        </m:r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p>
                    </m:sSup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25C4D4-FB7A-8C38-708D-1401FB4F0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2881359"/>
                <a:ext cx="6126480" cy="473015"/>
              </a:xfrm>
              <a:prstGeom prst="rect">
                <a:avLst/>
              </a:prstGeom>
              <a:blipFill>
                <a:blip r:embed="rId4"/>
                <a:stretch>
                  <a:fillRect t="-89610" b="-129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4C37022-C342-074B-B2F1-1D6F86CF08B9}"/>
              </a:ext>
            </a:extLst>
          </p:cNvPr>
          <p:cNvSpPr txBox="1"/>
          <p:nvPr/>
        </p:nvSpPr>
        <p:spPr>
          <a:xfrm>
            <a:off x="471488" y="3354374"/>
            <a:ext cx="7137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값에 따라 벡터 공간에서 두 점 사이의 거리를 다르게 정의하며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머신러닝에서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규제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(Regularization)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핵심 개념으로 사용된다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87696A-8D4C-0396-2EC9-DC2AE6786381}"/>
                  </a:ext>
                </a:extLst>
              </p:cNvPr>
              <p:cNvSpPr txBox="1"/>
              <p:nvPr/>
            </p:nvSpPr>
            <p:spPr>
              <a:xfrm>
                <a:off x="471488" y="4099611"/>
                <a:ext cx="11031582" cy="7500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벡터 공간에서 원점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(0, 0, ...)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특정 지점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벡터 </a:t>
                </a:r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𝐱</m:t>
                    </m:r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까지 얼마나 떨어져 있는가를 측정하는 방법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</a:p>
              <a:p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또는 한 지점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벡터 </a:t>
                </a:r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𝐱</m:t>
                    </m:r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다른 지점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벡터 </a:t>
                </a:r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𝐲</m:t>
                    </m:r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까지 얼마나 떨어져 있는가</a:t>
                </a:r>
                <a:r>
                  <a:rPr lang="en-US" altLang="ko-KR" dirty="0"/>
                  <a:t>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 재는 척도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180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US" altLang="ko-KR" sz="18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8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87696A-8D4C-0396-2EC9-DC2AE6786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4099611"/>
                <a:ext cx="11031582" cy="750014"/>
              </a:xfrm>
              <a:prstGeom prst="rect">
                <a:avLst/>
              </a:prstGeom>
              <a:blipFill>
                <a:blip r:embed="rId5"/>
                <a:stretch>
                  <a:fillRect l="-442" t="-4878" b="-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0008BB-91E8-930D-CA05-E6ED124D1FC9}"/>
                  </a:ext>
                </a:extLst>
              </p:cNvPr>
              <p:cNvSpPr txBox="1"/>
              <p:nvPr/>
            </p:nvSpPr>
            <p:spPr>
              <a:xfrm>
                <a:off x="471488" y="4880261"/>
                <a:ext cx="11441838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US" altLang="ko-KR" sz="1800" i="1" kern="1200" dirty="0" err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dirty="0"/>
                  <a:t>-Norm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은 이 거리를 재는 다양한 방식을 공식화한 것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p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값에 따라 거리를 재는 방식이 달라진다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0008BB-91E8-930D-CA05-E6ED124D1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4880261"/>
                <a:ext cx="11441838" cy="390748"/>
              </a:xfrm>
              <a:prstGeom prst="rect">
                <a:avLst/>
              </a:prstGeom>
              <a:blipFill>
                <a:blip r:embed="rId6"/>
                <a:stretch>
                  <a:fillRect t="-10938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DF35C4B-B482-5C66-D1C0-89CCE2938784}"/>
              </a:ext>
            </a:extLst>
          </p:cNvPr>
          <p:cNvSpPr txBox="1"/>
          <p:nvPr/>
        </p:nvSpPr>
        <p:spPr>
          <a:xfrm>
            <a:off x="471488" y="5597213"/>
            <a:ext cx="120504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정규화 기법</a:t>
            </a:r>
            <a:r>
              <a:rPr lang="en-US" altLang="ko-KR" dirty="0"/>
              <a:t>(L1 </a:t>
            </a:r>
            <a:r>
              <a:rPr lang="ko-KR" altLang="en-US" dirty="0"/>
              <a:t>정규화</a:t>
            </a:r>
            <a:r>
              <a:rPr lang="en-US" altLang="ko-KR" dirty="0"/>
              <a:t>, L2 </a:t>
            </a:r>
            <a:r>
              <a:rPr lang="ko-KR" altLang="en-US" dirty="0"/>
              <a:t>정규화</a:t>
            </a:r>
            <a:r>
              <a:rPr lang="en-US" altLang="ko-KR" dirty="0"/>
              <a:t>)</a:t>
            </a:r>
            <a:r>
              <a:rPr lang="ko-KR" altLang="en-US" dirty="0"/>
              <a:t>에서 가중치 벡터의 크기에 페널티를 부여하여 과적합을 방지하는 데 사용</a:t>
            </a:r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손실 함수</a:t>
            </a:r>
            <a:r>
              <a:rPr lang="en-US" altLang="ko-KR" dirty="0"/>
              <a:t>(Loss Function)</a:t>
            </a:r>
            <a:r>
              <a:rPr lang="ko-KR" altLang="en-US" dirty="0"/>
              <a:t>에서 예측 오차의 크기를 측정할 때도 사용</a:t>
            </a:r>
          </a:p>
        </p:txBody>
      </p:sp>
    </p:spTree>
    <p:extLst>
      <p:ext uri="{BB962C8B-B14F-4D97-AF65-F5344CB8AC3E}">
        <p14:creationId xmlns:p14="http://schemas.microsoft.com/office/powerpoint/2010/main" val="18405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16F65-6F25-61BE-B6AF-C880B5D9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C22B7-1386-3EA7-A5CA-B032D412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norm?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145FAF0-10B8-0F6F-83C6-98DCF381D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Norm?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B141F4-EA2F-C33F-6F00-8FE74B43BF84}"/>
                  </a:ext>
                </a:extLst>
              </p:cNvPr>
              <p:cNvSpPr txBox="1"/>
              <p:nvPr/>
            </p:nvSpPr>
            <p:spPr>
              <a:xfrm>
                <a:off x="471488" y="2230438"/>
                <a:ext cx="11637781" cy="718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rtl="0"/>
                <a:r>
                  <a:rPr lang="en-US" altLang="ko-KR" kern="1200" dirty="0">
                    <a:solidFill>
                      <a:schemeClr val="tx1"/>
                    </a:solidFill>
                    <a:effectLst/>
                    <a:ea typeface="+mn-ea"/>
                    <a:cs typeface="+mn-cs"/>
                  </a:rPr>
                  <a:t>p=1 (L1 Norm):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en-US" altLang="ko-KR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lang="en-US" altLang="ko-KR" b="0" i="1" kern="1200" dirty="0" err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kern="1200" dirty="0" err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kern="1200" dirty="0" err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kern="1200" dirty="0" err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ko-KR" kern="1200" dirty="0">
                  <a:solidFill>
                    <a:schemeClr val="tx1"/>
                  </a:solidFill>
                  <a:effectLst/>
                  <a:ea typeface="+mn-ea"/>
                  <a:cs typeface="+mn-cs"/>
                </a:endParaRPr>
              </a:p>
              <a:p>
                <a:pPr lvl="2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각 원소의 절댓값을 모두 더한 값</a:t>
                </a:r>
                <a:r>
                  <a:rPr lang="en-US" altLang="ko-KR" dirty="0"/>
                  <a:t>. 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맨해튼 거리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(Manhattan Distance)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라고도 부</a:t>
                </a:r>
                <a:r>
                  <a:rPr lang="ko-KR" altLang="en-US" dirty="0"/>
                  <a:t>른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B141F4-EA2F-C33F-6F00-8FE74B43B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2230438"/>
                <a:ext cx="11637781" cy="718082"/>
              </a:xfrm>
              <a:prstGeom prst="rect">
                <a:avLst/>
              </a:prstGeom>
              <a:blipFill>
                <a:blip r:embed="rId3"/>
                <a:stretch>
                  <a:fillRect t="-58475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597EC3-1D38-42EE-9F86-73A5809CFBAF}"/>
                  </a:ext>
                </a:extLst>
              </p:cNvPr>
              <p:cNvSpPr txBox="1"/>
              <p:nvPr/>
            </p:nvSpPr>
            <p:spPr>
              <a:xfrm>
                <a:off x="268288" y="2948520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||</m:t>
                      </m:r>
                      <m:r>
                        <a:rPr lang="en-US" altLang="ko-KR" sz="180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||_1 = ∑|</m:t>
                      </m:r>
                      <m:r>
                        <a:rPr lang="en-US" altLang="ko-KR" sz="180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_</m:t>
                      </m:r>
                      <m:r>
                        <a:rPr lang="en-US" altLang="ko-KR" sz="180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𝑖</m:t>
                      </m:r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 = |</m:t>
                      </m:r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_1| + |</m:t>
                      </m:r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_2| + … + |</m:t>
                      </m:r>
                      <m:r>
                        <a:rPr lang="en-US" altLang="ko-KR" sz="180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n-US" altLang="ko-KR" sz="180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_</m:t>
                      </m:r>
                      <m:r>
                        <a:rPr lang="en-US" altLang="ko-KR" sz="1800" i="1" kern="1200" dirty="0" err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597EC3-1D38-42EE-9F86-73A5809CF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88" y="2948520"/>
                <a:ext cx="6126480" cy="369332"/>
              </a:xfrm>
              <a:prstGeom prst="rect">
                <a:avLst/>
              </a:prstGeom>
              <a:blipFill>
                <a:blip r:embed="rId4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67E09BA-11A7-65C8-EE01-CC0759C47531}"/>
              </a:ext>
            </a:extLst>
          </p:cNvPr>
          <p:cNvSpPr txBox="1"/>
          <p:nvPr/>
        </p:nvSpPr>
        <p:spPr>
          <a:xfrm>
            <a:off x="868681" y="3364445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도시의 격자무늬 길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블록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따라 이동하는 것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4DFC7E-187C-46BC-2B5F-0499A5CE74A8}"/>
                  </a:ext>
                </a:extLst>
              </p:cNvPr>
              <p:cNvSpPr txBox="1"/>
              <p:nvPr/>
            </p:nvSpPr>
            <p:spPr>
              <a:xfrm>
                <a:off x="471488" y="3780370"/>
                <a:ext cx="866149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원점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(0,0)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(3,4)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까지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L1 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거리는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</a:p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가로로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블록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</m:d>
                  </m:oMath>
                </a14:m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세로로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블록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e>
                    </m:d>
                  </m:oMath>
                </a14:m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이동해야 </a:t>
                </a:r>
                <a:r>
                  <a:rPr lang="ko-KR" altLang="en-US" dirty="0"/>
                  <a:t>한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en-US" altLang="ko-KR" dirty="0"/>
              </a:p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총 거리는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 + 4 = 7</a:t>
                </a:r>
                <a:r>
                  <a:rPr lang="ko-KR" altLang="en-US" dirty="0"/>
                  <a:t> 이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4DFC7E-187C-46BC-2B5F-0499A5CE7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3780370"/>
                <a:ext cx="8661491" cy="923330"/>
              </a:xfrm>
              <a:prstGeom prst="rect">
                <a:avLst/>
              </a:prstGeom>
              <a:blipFill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865A7CF-8DE7-00B3-318E-F729E4BF367A}"/>
              </a:ext>
            </a:extLst>
          </p:cNvPr>
          <p:cNvSpPr txBox="1"/>
          <p:nvPr/>
        </p:nvSpPr>
        <p:spPr>
          <a:xfrm>
            <a:off x="868681" y="4750293"/>
            <a:ext cx="6988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원점으로부터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거리가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점들의 집합은 마름모 형태를 띈다 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2B65CF-0BBB-6573-7B1D-F5B8F7ABB459}"/>
              </a:ext>
            </a:extLst>
          </p:cNvPr>
          <p:cNvSpPr txBox="1"/>
          <p:nvPr/>
        </p:nvSpPr>
        <p:spPr>
          <a:xfrm>
            <a:off x="471488" y="5241936"/>
            <a:ext cx="89207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rtl="0"/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LASSO (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라쏘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회귀에 사용된다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(Feature):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중요하지 않은 변수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가중치를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만드는 경향이 있어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 선택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(Feature Selection)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유용하다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이상치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(outlier)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덜 민감하다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6483605-E897-2E48-B323-D02277B53E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23" r="65741" b="30734"/>
          <a:stretch>
            <a:fillRect/>
          </a:stretch>
        </p:blipFill>
        <p:spPr>
          <a:xfrm>
            <a:off x="9132979" y="2963340"/>
            <a:ext cx="2349500" cy="251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4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B36B4-7291-C9AC-1594-9A1582F1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C8785-0B27-6657-A1FC-AC780129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norm?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6B387F3-708E-5096-758E-B58109048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Norm?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01B23B-AA39-7D7A-D8D6-EC618307EB75}"/>
                  </a:ext>
                </a:extLst>
              </p:cNvPr>
              <p:cNvSpPr txBox="1"/>
              <p:nvPr/>
            </p:nvSpPr>
            <p:spPr>
              <a:xfrm>
                <a:off x="471488" y="2122488"/>
                <a:ext cx="12422960" cy="9330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rtl="0"/>
                <a:r>
                  <a:rPr lang="en-US" altLang="ko-KR" kern="1200" dirty="0">
                    <a:solidFill>
                      <a:schemeClr val="tx1"/>
                    </a:solidFill>
                    <a:effectLst/>
                    <a:ea typeface="+mn-ea"/>
                    <a:cs typeface="+mn-cs"/>
                  </a:rPr>
                  <a:t>p=2 (L2 Norm):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lang="en-US" altLang="ko-KR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ko-KR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naryPr>
                              <m:sub>
                                <m:r>
                                  <a:rPr lang="en-US" altLang="ko-KR" b="0" i="1" kern="1200" dirty="0" err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i="1" kern="1200" dirty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ko-KR" i="1" kern="1200" dirty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i="1" kern="1200" dirty="0" err="1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b="0" i="1" kern="1200" dirty="0" err="1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i="1" kern="1200" dirty="0" err="1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b="0" i="1" kern="1200" dirty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/</m:t>
                        </m:r>
                        <m:r>
                          <a:rPr lang="en-US" altLang="ko-KR" b="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lang="en-US" altLang="ko-KR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naryPr>
                          <m:sub>
                            <m:r>
                              <a:rPr lang="en-US" altLang="ko-KR" b="0" i="1" kern="1200" dirty="0" err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lang="en-US" altLang="ko-KR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ko-KR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ko-KR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endParaRPr lang="en-US" altLang="ko-KR" kern="1200" dirty="0">
                  <a:solidFill>
                    <a:schemeClr val="tx1"/>
                  </a:solidFill>
                  <a:effectLst/>
                  <a:ea typeface="+mn-ea"/>
                  <a:cs typeface="+mn-cs"/>
                </a:endParaRPr>
              </a:p>
              <a:p>
                <a:pPr lvl="2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우리가 흔히 아는 유클리드 거리와 같다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01B23B-AA39-7D7A-D8D6-EC618307E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2122488"/>
                <a:ext cx="12422960" cy="933012"/>
              </a:xfrm>
              <a:prstGeom prst="rect">
                <a:avLst/>
              </a:prstGeom>
              <a:blipFill>
                <a:blip r:embed="rId3"/>
                <a:stretch>
                  <a:fillRect b="-91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323786-F33D-1066-16E4-3BC082627316}"/>
                  </a:ext>
                </a:extLst>
              </p:cNvPr>
              <p:cNvSpPr txBox="1"/>
              <p:nvPr/>
            </p:nvSpPr>
            <p:spPr>
              <a:xfrm>
                <a:off x="-198437" y="3055500"/>
                <a:ext cx="6448424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80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800" i="1" kern="1200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altLang="ko-KR" sz="180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80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1800" i="1" kern="1200" dirty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rad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+…+</m:t>
                          </m:r>
                          <m:sSubSup>
                            <m:sSubSupPr>
                              <m:ctrlP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323786-F33D-1066-16E4-3BC082627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8437" y="3055500"/>
                <a:ext cx="6448424" cy="9106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E5AD21B-4C46-3CB6-5941-4E0E8F518550}"/>
              </a:ext>
            </a:extLst>
          </p:cNvPr>
          <p:cNvSpPr txBox="1"/>
          <p:nvPr/>
        </p:nvSpPr>
        <p:spPr>
          <a:xfrm>
            <a:off x="788987" y="3859096"/>
            <a:ext cx="11336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 흔히 아는 두 점 사이의 직선 거리</a:t>
            </a:r>
            <a:r>
              <a:rPr lang="ko-KR" altLang="en-US" dirty="0"/>
              <a:t>이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원소를 제곱해서 더한 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전체에 제곱근을 씌운다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2CC907-8BB1-120D-E005-9CD26A27C8A4}"/>
                  </a:ext>
                </a:extLst>
              </p:cNvPr>
              <p:cNvSpPr txBox="1"/>
              <p:nvPr/>
            </p:nvSpPr>
            <p:spPr>
              <a:xfrm>
                <a:off x="361156" y="4228428"/>
                <a:ext cx="10536237" cy="9572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원점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(0,0)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(3,4)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까지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L2 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거리는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</a:p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피타고라스의 정리를 생각하면 </a:t>
                </a:r>
                <a:r>
                  <a:rPr lang="ko-KR" altLang="en-US" dirty="0"/>
                  <a:t>된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총 거리는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e>
                          <m:sup>
                            <m:r>
                              <a:rPr lang="en-US" altLang="ko-KR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ko-KR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9+16</m:t>
                        </m:r>
                      </m:e>
                    </m:rad>
                    <m:r>
                      <a:rPr lang="en-US" altLang="ko-KR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25</m:t>
                        </m:r>
                      </m:e>
                    </m:rad>
                    <m:r>
                      <a:rPr lang="en-US" altLang="ko-KR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altLang="ko-KR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2CC907-8BB1-120D-E005-9CD26A27C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56" y="4228428"/>
                <a:ext cx="10536237" cy="957250"/>
              </a:xfrm>
              <a:prstGeom prst="rect">
                <a:avLst/>
              </a:prstGeom>
              <a:blipFill>
                <a:blip r:embed="rId5"/>
                <a:stretch>
                  <a:fillRect t="-3822" b="-89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BDA9752-7AD0-AD05-B6BD-CC2634E44CB8}"/>
              </a:ext>
            </a:extLst>
          </p:cNvPr>
          <p:cNvSpPr txBox="1"/>
          <p:nvPr/>
        </p:nvSpPr>
        <p:spPr>
          <a:xfrm>
            <a:off x="788987" y="5185678"/>
            <a:ext cx="9051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원점으로부터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L2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거리가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점들의 집합은 우리가 아는 원 형태를 띈다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4402FE-FF60-F05E-BA9B-2ADC574E7549}"/>
              </a:ext>
            </a:extLst>
          </p:cNvPr>
          <p:cNvSpPr txBox="1"/>
          <p:nvPr/>
        </p:nvSpPr>
        <p:spPr>
          <a:xfrm>
            <a:off x="330198" y="5447907"/>
            <a:ext cx="122539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rtl="0"/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Ridge (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릿지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회귀에 사용된다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(Feature):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가중치 값을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가깝게 줄이기는 하지만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만들지는 않는 경향이 있다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모델을 전반적으로 부드럽게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(Overfitting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방지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만든다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제곱을 하기 때문에 이상치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(outlier)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민감하게 반응한다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663A285-A1BA-059E-CD07-5EAFCEC81D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78" t="32523" r="34908" b="32393"/>
          <a:stretch>
            <a:fillRect/>
          </a:stretch>
        </p:blipFill>
        <p:spPr>
          <a:xfrm>
            <a:off x="9118600" y="1453050"/>
            <a:ext cx="2044700" cy="24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4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1B73D-8046-F99F-F657-096286A3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7CE20A-4001-BB40-D547-D74385E3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norm?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1AD8522-A4E5-3CD3-5E24-AEAB12BB7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Norm?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59B6052-4CEA-72BE-429F-510A4BA9E818}"/>
                  </a:ext>
                </a:extLst>
              </p:cNvPr>
              <p:cNvSpPr txBox="1"/>
              <p:nvPr/>
            </p:nvSpPr>
            <p:spPr>
              <a:xfrm>
                <a:off x="268288" y="2302149"/>
                <a:ext cx="11536362" cy="751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dirty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altLang="ko-KR" dirty="0"/>
                  <a:t> (L-infinity Norm):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ko-KR" b="0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b="0" i="0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ko-KR" b="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err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ko-KR" dirty="0"/>
              </a:p>
              <a:p>
                <a:pPr lvl="2"/>
                <a:r>
                  <a:rPr lang="ko-KR" altLang="en-US" dirty="0"/>
                  <a:t>벡터의 원소 중 절댓값이 가장 큰 값이다</a:t>
                </a:r>
                <a:r>
                  <a:rPr lang="en-US" altLang="ko-KR" dirty="0"/>
                  <a:t>. Maximum Norm </a:t>
                </a:r>
                <a:r>
                  <a:rPr lang="ko-KR" altLang="en-US" dirty="0"/>
                  <a:t>이라고도 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59B6052-4CEA-72BE-429F-510A4BA9E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88" y="2302149"/>
                <a:ext cx="11536362" cy="751552"/>
              </a:xfrm>
              <a:prstGeom prst="rect">
                <a:avLst/>
              </a:prstGeom>
              <a:blipFill>
                <a:blip r:embed="rId3"/>
                <a:stretch>
                  <a:fillRect t="-3252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E6B5452-B88E-67E9-12B0-C887E45C9D3C}"/>
              </a:ext>
            </a:extLst>
          </p:cNvPr>
          <p:cNvSpPr txBox="1"/>
          <p:nvPr/>
        </p:nvSpPr>
        <p:spPr>
          <a:xfrm>
            <a:off x="650874" y="3020231"/>
            <a:ext cx="8740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차원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방향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이동할 때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그중 가장 많이 이동한 단일 차원의 거리만 본다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5218A4-5870-BFFE-2C05-08C4DD4D0F65}"/>
                  </a:ext>
                </a:extLst>
              </p:cNvPr>
              <p:cNvSpPr txBox="1"/>
              <p:nvPr/>
            </p:nvSpPr>
            <p:spPr>
              <a:xfrm>
                <a:off x="200025" y="3321735"/>
                <a:ext cx="612775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벡터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(3, -4, 1)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L-infinity </a:t>
                </a:r>
                <a:r>
                  <a:rPr lang="en-US" altLang="ko-KR" dirty="0"/>
                  <a:t>Norm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은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</a:p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각 원소의 절댓값은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</m:d>
                    <m:r>
                      <a:rPr lang="en-US" altLang="ko-KR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</m:t>
                        </m:r>
                      </m:e>
                    </m:d>
                    <m:r>
                      <a:rPr lang="en-US" altLang="ko-KR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altLang="ko-KR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</m:oMath>
                </a14:m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1" rtl="0"/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 중 가장 큰 값은 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</a:t>
                </a:r>
                <a:r>
                  <a:rPr lang="ko-KR" altLang="en-US" dirty="0"/>
                  <a:t>이</a:t>
                </a:r>
                <a:r>
                  <a:rPr lang="ko-KR" altLang="en-US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다</a:t>
                </a:r>
                <a:r>
                  <a:rPr lang="en-US" altLang="ko-KR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5218A4-5870-BFFE-2C05-08C4DD4D0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" y="3321735"/>
                <a:ext cx="6127750" cy="923330"/>
              </a:xfrm>
              <a:prstGeom prst="rect">
                <a:avLst/>
              </a:prstGeom>
              <a:blipFill>
                <a:blip r:embed="rId4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D3BFCA8-C8F2-C10B-8F0E-28AF5F55395F}"/>
              </a:ext>
            </a:extLst>
          </p:cNvPr>
          <p:cNvSpPr txBox="1"/>
          <p:nvPr/>
        </p:nvSpPr>
        <p:spPr>
          <a:xfrm>
            <a:off x="650874" y="4188154"/>
            <a:ext cx="10090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원점으로부터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L-infinity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거리가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점들의 집합은 정사각형 형태를 </a:t>
            </a:r>
            <a:r>
              <a:rPr lang="ko-KR" altLang="en-US" dirty="0"/>
              <a:t>띈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7A2A62-B425-C7E7-34D5-24BB76A7BF7C}"/>
              </a:ext>
            </a:extLst>
          </p:cNvPr>
          <p:cNvSpPr txBox="1"/>
          <p:nvPr/>
        </p:nvSpPr>
        <p:spPr>
          <a:xfrm>
            <a:off x="200025" y="4561409"/>
            <a:ext cx="7934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모델의 최악의 오류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(worst-case error)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최소화하고자 할 때 사용된다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값 중 가장 크게 튀는 값을 제어할 때 유용하다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E1C5D4F-12A8-FD29-17CE-D9E5739E0C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44" t="33488" b="32129"/>
          <a:stretch>
            <a:fillRect/>
          </a:stretch>
        </p:blipFill>
        <p:spPr>
          <a:xfrm>
            <a:off x="9282112" y="1744141"/>
            <a:ext cx="2438400" cy="235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12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FE37-8F11-4A24-40AB-2962DB3E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ED5F59-42FB-2023-80AC-7EB7642F8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en-US" altLang="ko-KR" sz="2400" dirty="0"/>
              <a:t>norm?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CDE74BB-DD41-C8EB-4C52-58E928D5B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Norm?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B07822-01CD-6911-FE74-894F5C7E144A}"/>
              </a:ext>
            </a:extLst>
          </p:cNvPr>
          <p:cNvSpPr txBox="1"/>
          <p:nvPr/>
        </p:nvSpPr>
        <p:spPr>
          <a:xfrm>
            <a:off x="722631" y="2375393"/>
            <a:ext cx="6988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원점으로부터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L1?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뭔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소리고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왜 중요한지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F5781E-7DB0-BBAD-3FB4-5EDB6AB2025E}"/>
                  </a:ext>
                </a:extLst>
              </p:cNvPr>
              <p:cNvSpPr txBox="1"/>
              <p:nvPr/>
            </p:nvSpPr>
            <p:spPr>
              <a:xfrm>
                <a:off x="606425" y="2889680"/>
                <a:ext cx="3292475" cy="718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(L1 Norm / </a:t>
                </a:r>
                <a:r>
                  <a:rPr lang="ko-KR" altLang="en-US" dirty="0"/>
                  <a:t>맨해튼 거리</a:t>
                </a:r>
                <a:r>
                  <a:rPr lang="en-US" altLang="ko-KR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80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800" i="1" kern="1200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ko-KR" sz="1800" i="1" kern="1200" dirty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80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  <m:r>
                                        <a:rPr lang="en-US" altLang="ko-KR" sz="180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lang="en-U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altLang="ko-KR" sz="180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lang="en-US" altLang="ko-KR" sz="18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F5781E-7DB0-BBAD-3FB4-5EDB6AB20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25" y="2889680"/>
                <a:ext cx="3292475" cy="718082"/>
              </a:xfrm>
              <a:prstGeom prst="rect">
                <a:avLst/>
              </a:prstGeom>
              <a:blipFill>
                <a:blip r:embed="rId3"/>
                <a:stretch>
                  <a:fillRect t="-4237" r="-3512" b="-8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16ACA5-4953-6C64-EE27-53174685A214}"/>
                  </a:ext>
                </a:extLst>
              </p:cNvPr>
              <p:cNvSpPr txBox="1"/>
              <p:nvPr/>
            </p:nvSpPr>
            <p:spPr>
              <a:xfrm>
                <a:off x="4216945" y="2778496"/>
                <a:ext cx="3561805" cy="757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(L2 Norm / </a:t>
                </a:r>
                <a:r>
                  <a:rPr lang="ko-KR" altLang="en-US" dirty="0"/>
                  <a:t>유클리드 거리</a:t>
                </a:r>
                <a:r>
                  <a:rPr lang="en-US" altLang="ko-KR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ko-KR" sz="180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ES" altLang="ko-KR" sz="180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ES" altLang="ko-KR" sz="1800" i="1" kern="1200" dirty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s-ES" altLang="ko-KR" sz="1800" i="1" kern="1200" dirty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altLang="ko-KR" sz="180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  <m:r>
                                        <a:rPr lang="es-ES" altLang="ko-KR" sz="180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s-ES" altLang="ko-KR" sz="1800" i="1" kern="1200" dirty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s-E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lang="es-E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es-E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altLang="ko-KR" sz="1800" i="1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es-E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ES" altLang="ko-KR" sz="1800" i="1" kern="1200" dirty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ES" altLang="ko-KR" sz="1800" i="1" kern="1200" dirty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s-ES" altLang="ko-KR" sz="180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lang="es-ES" altLang="ko-KR" sz="18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16ACA5-4953-6C64-EE27-53174685A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945" y="2778496"/>
                <a:ext cx="3561805" cy="757515"/>
              </a:xfrm>
              <a:prstGeom prst="rect">
                <a:avLst/>
              </a:prstGeom>
              <a:blipFill>
                <a:blip r:embed="rId4"/>
                <a:stretch>
                  <a:fillRect t="-4839" r="-32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5EB189-8895-25E5-D102-3ADEC9CD905F}"/>
                  </a:ext>
                </a:extLst>
              </p:cNvPr>
              <p:cNvSpPr txBox="1"/>
              <p:nvPr/>
            </p:nvSpPr>
            <p:spPr>
              <a:xfrm>
                <a:off x="8096795" y="2710918"/>
                <a:ext cx="3155950" cy="718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=∞</m:t>
                    </m:r>
                  </m:oMath>
                </a14:m>
                <a:r>
                  <a:rPr lang="en-US" altLang="ko-KR" dirty="0"/>
                  <a:t> (L-infinity Norm)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5EB189-8895-25E5-D102-3ADEC9CD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795" y="2710918"/>
                <a:ext cx="3155950" cy="718082"/>
              </a:xfrm>
              <a:prstGeom prst="rect">
                <a:avLst/>
              </a:prstGeom>
              <a:blipFill>
                <a:blip r:embed="rId5"/>
                <a:stretch>
                  <a:fillRect t="-50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50B9920E-463E-97AB-B8E8-6D0997DCDA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23" b="30741"/>
          <a:stretch>
            <a:fillRect/>
          </a:stretch>
        </p:blipFill>
        <p:spPr>
          <a:xfrm>
            <a:off x="2097088" y="3567435"/>
            <a:ext cx="6858000" cy="25193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48248-07BF-30D7-A47C-6BD27494F121}"/>
                  </a:ext>
                </a:extLst>
              </p:cNvPr>
              <p:cNvSpPr txBox="1"/>
              <p:nvPr/>
            </p:nvSpPr>
            <p:spPr>
              <a:xfrm>
                <a:off x="471488" y="5979786"/>
                <a:ext cx="12063049" cy="4410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/>
                  <a:t>모델이 얼마나 </a:t>
                </a:r>
                <a:r>
                  <a:rPr lang="ko-KR" altLang="en-US" dirty="0" err="1"/>
                  <a:t>구린가</a:t>
                </a:r>
                <a:r>
                  <a:rPr lang="ko-KR" altLang="en-US" dirty="0"/>
                  <a:t> 또는 모델이 얼마나 복잡한가를 측정하는 척도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180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ko-KR" sz="180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sz="18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ko-KR" sz="1800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1800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ko-KR" sz="18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18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1800" b="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18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ko-KR" sz="1800" b="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548248-07BF-30D7-A47C-6BD27494F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5979786"/>
                <a:ext cx="12063049" cy="441083"/>
              </a:xfrm>
              <a:prstGeom prst="rect">
                <a:avLst/>
              </a:prstGeom>
              <a:blipFill>
                <a:blip r:embed="rId7"/>
                <a:stretch>
                  <a:fillRect l="-404" t="-5556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3D8CC86-F387-7E2F-724F-EC99FA1798DC}"/>
              </a:ext>
            </a:extLst>
          </p:cNvPr>
          <p:cNvSpPr txBox="1"/>
          <p:nvPr/>
        </p:nvSpPr>
        <p:spPr>
          <a:xfrm>
            <a:off x="471488" y="6311646"/>
            <a:ext cx="10885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규제를 통한 정규화가 궁금하다면</a:t>
            </a:r>
            <a:r>
              <a:rPr lang="en-US" altLang="ko-KR" sz="1400" dirty="0"/>
              <a:t>? : https://gihak111.github.io/ai/2025/11/05/L1_L1_Norm_upload.html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7818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12111-1923-6CA3-EBCB-DD15D93F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D30DE-FA2D-52F9-4B58-7234D613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 dirty="0"/>
              <a:t>1. </a:t>
            </a:r>
            <a:r>
              <a:rPr lang="ko-KR" altLang="en-US" sz="3600" dirty="0"/>
              <a:t>정규화의 종류와 차이 </a:t>
            </a:r>
            <a:r>
              <a:rPr lang="ko-KR" altLang="en-US" sz="2400" dirty="0"/>
              <a:t>비교</a:t>
            </a:r>
            <a:endParaRPr lang="en-US" altLang="ko-K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278B21F5-6E90-FBF0-0796-CC42AA6017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2623671"/>
                  </p:ext>
                </p:extLst>
              </p:nvPr>
            </p:nvGraphicFramePr>
            <p:xfrm>
              <a:off x="268288" y="1537854"/>
              <a:ext cx="10782665" cy="439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9843">
                      <a:extLst>
                        <a:ext uri="{9D8B030D-6E8A-4147-A177-3AD203B41FA5}">
                          <a16:colId xmlns:a16="http://schemas.microsoft.com/office/drawing/2014/main" val="816440886"/>
                        </a:ext>
                      </a:extLst>
                    </a:gridCol>
                    <a:gridCol w="2939143">
                      <a:extLst>
                        <a:ext uri="{9D8B030D-6E8A-4147-A177-3AD203B41FA5}">
                          <a16:colId xmlns:a16="http://schemas.microsoft.com/office/drawing/2014/main" val="392195761"/>
                        </a:ext>
                      </a:extLst>
                    </a:gridCol>
                    <a:gridCol w="2420613">
                      <a:extLst>
                        <a:ext uri="{9D8B030D-6E8A-4147-A177-3AD203B41FA5}">
                          <a16:colId xmlns:a16="http://schemas.microsoft.com/office/drawing/2014/main" val="1451015725"/>
                        </a:ext>
                      </a:extLst>
                    </a:gridCol>
                    <a:gridCol w="2184044">
                      <a:extLst>
                        <a:ext uri="{9D8B030D-6E8A-4147-A177-3AD203B41FA5}">
                          <a16:colId xmlns:a16="http://schemas.microsoft.com/office/drawing/2014/main" val="1566749477"/>
                        </a:ext>
                      </a:extLst>
                    </a:gridCol>
                    <a:gridCol w="2129022">
                      <a:extLst>
                        <a:ext uri="{9D8B030D-6E8A-4147-A177-3AD203B41FA5}">
                          <a16:colId xmlns:a16="http://schemas.microsoft.com/office/drawing/2014/main" val="35451662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구분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L1 Norm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L2 Norm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Batch Normalization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Layer Normalization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5375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범주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수학적 </a:t>
                          </a:r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 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수학적 </a:t>
                          </a:r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 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Normalization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Normalization</a:t>
                          </a:r>
                          <a:endParaRPr lang="ko-KR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39576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계산 방식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벡터 요소 절댓값의 합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/>
                              </m:nary>
                            </m:oMath>
                          </a14:m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1470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적용 대상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주로 가중치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주로 가중치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활성화 함수 입력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활성화 함수 입력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1131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주요 목적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/>
                            <a:t>Lasso </a:t>
                          </a:r>
                          <a:r>
                            <a:rPr lang="ko-KR" altLang="en-US" b="0" dirty="0"/>
                            <a:t>정규화에 사용</a:t>
                          </a:r>
                          <a:r>
                            <a:rPr lang="en-US" altLang="ko-KR" b="0" dirty="0"/>
                            <a:t>. </a:t>
                          </a:r>
                        </a:p>
                        <a:p>
                          <a:pPr algn="ctr" latinLnBrk="1"/>
                          <a:r>
                            <a:rPr lang="ko-KR" altLang="en-US" b="0" dirty="0"/>
                            <a:t>중요하지 않은 가중치를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en-US" altLang="ko-KR" b="0" dirty="0"/>
                            <a:t>0</a:t>
                          </a:r>
                          <a:r>
                            <a:rPr lang="ko-KR" altLang="en-US" b="0" dirty="0"/>
                            <a:t>으로 만들어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특징 선택 효과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/>
                            <a:t>Ridge </a:t>
                          </a:r>
                          <a:r>
                            <a:rPr lang="ko-KR" altLang="en-US" b="0" dirty="0"/>
                            <a:t>정규화에 사용</a:t>
                          </a:r>
                          <a:r>
                            <a:rPr lang="en-US" altLang="ko-KR" b="0" dirty="0"/>
                            <a:t>. </a:t>
                          </a:r>
                          <a:r>
                            <a:rPr lang="ko-KR" altLang="en-US" b="0" dirty="0"/>
                            <a:t>모든 가중치를 </a:t>
                          </a:r>
                          <a:r>
                            <a:rPr lang="en-US" altLang="ko-KR" b="0" dirty="0"/>
                            <a:t>0</a:t>
                          </a:r>
                          <a:r>
                            <a:rPr lang="ko-KR" altLang="en-US" b="0" dirty="0"/>
                            <a:t>에 가깝게 줄여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 err="1"/>
                            <a:t>과적합</a:t>
                          </a:r>
                          <a:r>
                            <a:rPr lang="ko-KR" altLang="en-US" b="0" dirty="0"/>
                            <a:t> 방지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훈련 속도를 높이고</a:t>
                          </a:r>
                          <a:r>
                            <a:rPr lang="en-US" altLang="ko-KR" b="0" dirty="0"/>
                            <a:t>, </a:t>
                          </a:r>
                          <a:r>
                            <a:rPr lang="ko-KR" altLang="en-US" b="0" dirty="0"/>
                            <a:t>내부 </a:t>
                          </a:r>
                          <a:r>
                            <a:rPr lang="ko-KR" altLang="en-US" b="0" dirty="0" err="1"/>
                            <a:t>공변량</a:t>
                          </a:r>
                          <a:r>
                            <a:rPr lang="ko-KR" altLang="en-US" b="0" dirty="0"/>
                            <a:t>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변화를 줄여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훈련 안정화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/>
                            <a:t>RNN/Transformer </a:t>
                          </a:r>
                          <a:r>
                            <a:rPr lang="ko-KR" altLang="en-US" b="0" dirty="0"/>
                            <a:t>등 시퀀스 모델 및 작은 배치 사이즈에서 훈련 안정화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012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특징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결과 벡터가 희소해짐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모든 가중치에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균등하게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페널티 부여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배치 크기에 의존적</a:t>
                          </a:r>
                          <a:r>
                            <a:rPr lang="en-US" altLang="ko-KR" b="0" dirty="0"/>
                            <a:t>. </a:t>
                          </a:r>
                          <a:r>
                            <a:rPr lang="ko-KR" altLang="en-US" b="0" dirty="0"/>
                            <a:t>배치 크기가 작으면 성능 저하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배치 크기에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 독립적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19275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278B21F5-6E90-FBF0-0796-CC42AA6017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2623671"/>
                  </p:ext>
                </p:extLst>
              </p:nvPr>
            </p:nvGraphicFramePr>
            <p:xfrm>
              <a:off x="268288" y="1537854"/>
              <a:ext cx="10782665" cy="439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9843">
                      <a:extLst>
                        <a:ext uri="{9D8B030D-6E8A-4147-A177-3AD203B41FA5}">
                          <a16:colId xmlns:a16="http://schemas.microsoft.com/office/drawing/2014/main" val="816440886"/>
                        </a:ext>
                      </a:extLst>
                    </a:gridCol>
                    <a:gridCol w="2939143">
                      <a:extLst>
                        <a:ext uri="{9D8B030D-6E8A-4147-A177-3AD203B41FA5}">
                          <a16:colId xmlns:a16="http://schemas.microsoft.com/office/drawing/2014/main" val="392195761"/>
                        </a:ext>
                      </a:extLst>
                    </a:gridCol>
                    <a:gridCol w="2420613">
                      <a:extLst>
                        <a:ext uri="{9D8B030D-6E8A-4147-A177-3AD203B41FA5}">
                          <a16:colId xmlns:a16="http://schemas.microsoft.com/office/drawing/2014/main" val="1451015725"/>
                        </a:ext>
                      </a:extLst>
                    </a:gridCol>
                    <a:gridCol w="2184044">
                      <a:extLst>
                        <a:ext uri="{9D8B030D-6E8A-4147-A177-3AD203B41FA5}">
                          <a16:colId xmlns:a16="http://schemas.microsoft.com/office/drawing/2014/main" val="1566749477"/>
                        </a:ext>
                      </a:extLst>
                    </a:gridCol>
                    <a:gridCol w="2129022">
                      <a:extLst>
                        <a:ext uri="{9D8B030D-6E8A-4147-A177-3AD203B41FA5}">
                          <a16:colId xmlns:a16="http://schemas.microsoft.com/office/drawing/2014/main" val="354516621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구분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L1 Norm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L2 Norm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Batch Normalization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Layer Normalization </a:t>
                          </a:r>
                          <a:endParaRPr lang="ko-KR" altLang="en-US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5375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범주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수학적 </a:t>
                          </a:r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 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수학적 </a:t>
                          </a:r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 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Normalization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Normalization</a:t>
                          </a:r>
                          <a:endParaRPr lang="ko-KR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395761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계산 방식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8174" t="-162857" r="-230083" b="-44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67758" t="-162857" r="-179345" b="-44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14703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적용 대상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주로 가중치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주로 가중치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활성화 함수 입력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활성화 함수 입력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1131517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주요 목적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/>
                            <a:t>Lasso </a:t>
                          </a:r>
                          <a:r>
                            <a:rPr lang="ko-KR" altLang="en-US" b="0" dirty="0"/>
                            <a:t>정규화에 사용</a:t>
                          </a:r>
                          <a:r>
                            <a:rPr lang="en-US" altLang="ko-KR" b="0" dirty="0"/>
                            <a:t>. </a:t>
                          </a:r>
                        </a:p>
                        <a:p>
                          <a:pPr algn="ctr" latinLnBrk="1"/>
                          <a:r>
                            <a:rPr lang="ko-KR" altLang="en-US" b="0" dirty="0"/>
                            <a:t>중요하지 않은 가중치를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en-US" altLang="ko-KR" b="0" dirty="0"/>
                            <a:t>0</a:t>
                          </a:r>
                          <a:r>
                            <a:rPr lang="ko-KR" altLang="en-US" b="0" dirty="0"/>
                            <a:t>으로 만들어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특징 선택 효과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/>
                            <a:t>Ridge </a:t>
                          </a:r>
                          <a:r>
                            <a:rPr lang="ko-KR" altLang="en-US" b="0" dirty="0"/>
                            <a:t>정규화에 사용</a:t>
                          </a:r>
                          <a:r>
                            <a:rPr lang="en-US" altLang="ko-KR" b="0" dirty="0"/>
                            <a:t>. </a:t>
                          </a:r>
                          <a:r>
                            <a:rPr lang="ko-KR" altLang="en-US" b="0" dirty="0"/>
                            <a:t>모든 가중치를 </a:t>
                          </a:r>
                          <a:r>
                            <a:rPr lang="en-US" altLang="ko-KR" b="0" dirty="0"/>
                            <a:t>0</a:t>
                          </a:r>
                          <a:r>
                            <a:rPr lang="ko-KR" altLang="en-US" b="0" dirty="0"/>
                            <a:t>에 가깝게 줄여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 err="1"/>
                            <a:t>과적합</a:t>
                          </a:r>
                          <a:r>
                            <a:rPr lang="ko-KR" altLang="en-US" b="0" dirty="0"/>
                            <a:t> 방지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훈련 속도를 높이고</a:t>
                          </a:r>
                          <a:r>
                            <a:rPr lang="en-US" altLang="ko-KR" b="0" dirty="0"/>
                            <a:t>, </a:t>
                          </a:r>
                          <a:r>
                            <a:rPr lang="ko-KR" altLang="en-US" b="0" dirty="0"/>
                            <a:t>내부 </a:t>
                          </a:r>
                          <a:r>
                            <a:rPr lang="ko-KR" altLang="en-US" b="0" dirty="0" err="1"/>
                            <a:t>공변량</a:t>
                          </a:r>
                          <a:r>
                            <a:rPr lang="ko-KR" altLang="en-US" b="0" dirty="0"/>
                            <a:t>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변화를 줄여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훈련 안정화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/>
                            <a:t>RNN/Transformer </a:t>
                          </a:r>
                          <a:r>
                            <a:rPr lang="ko-KR" altLang="en-US" b="0" dirty="0"/>
                            <a:t>등 시퀀스 모델 및 작은 배치 사이즈에서 훈련 안정화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001203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특징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결과 벡터가 희소해짐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모든 가중치에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균등하게 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페널티 부여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배치 크기에 의존적</a:t>
                          </a:r>
                          <a:r>
                            <a:rPr lang="en-US" altLang="ko-KR" b="0" dirty="0"/>
                            <a:t>. </a:t>
                          </a:r>
                          <a:r>
                            <a:rPr lang="ko-KR" altLang="en-US" b="0" dirty="0"/>
                            <a:t>배치 크기가 작으면 성능 저하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dirty="0"/>
                            <a:t>배치 크기에</a:t>
                          </a:r>
                          <a:endParaRPr lang="en-US" altLang="ko-KR" b="0" dirty="0"/>
                        </a:p>
                        <a:p>
                          <a:pPr algn="ctr" latinLnBrk="1"/>
                          <a:r>
                            <a:rPr lang="ko-KR" altLang="en-US" b="0" dirty="0"/>
                            <a:t> 독립적</a:t>
                          </a:r>
                          <a:r>
                            <a:rPr lang="en-US" altLang="ko-KR" b="0" dirty="0"/>
                            <a:t>.</a:t>
                          </a:r>
                          <a:endParaRPr lang="ko-KR" alt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19275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3746D4B-4635-14B6-8FC8-7ED756FC8D0C}"/>
              </a:ext>
            </a:extLst>
          </p:cNvPr>
          <p:cNvSpPr txBox="1"/>
          <p:nvPr/>
        </p:nvSpPr>
        <p:spPr>
          <a:xfrm>
            <a:off x="391390" y="5966350"/>
            <a:ext cx="61306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https://arxiv.org/abs/1502.03167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B5FB4D-F46D-898B-1C8F-653810B92F2B}"/>
              </a:ext>
            </a:extLst>
          </p:cNvPr>
          <p:cNvSpPr txBox="1"/>
          <p:nvPr/>
        </p:nvSpPr>
        <p:spPr>
          <a:xfrm>
            <a:off x="391390" y="6274127"/>
            <a:ext cx="61306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https://arxiv.org/abs/1607.06450</a:t>
            </a:r>
          </a:p>
        </p:txBody>
      </p:sp>
    </p:spTree>
    <p:extLst>
      <p:ext uri="{BB962C8B-B14F-4D97-AF65-F5344CB8AC3E}">
        <p14:creationId xmlns:p14="http://schemas.microsoft.com/office/powerpoint/2010/main" val="402067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E611D-5C5F-CB2B-506E-E3E11F2F1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6C612-D107-23E7-D9A5-68B153481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</a:t>
            </a:r>
            <a:r>
              <a:rPr lang="en-US" altLang="ko-KR" sz="3600" dirty="0"/>
              <a:t>. U-Net </a:t>
            </a:r>
            <a:r>
              <a:rPr lang="ko-KR" altLang="en-US" sz="3600" dirty="0"/>
              <a:t>알아보기 </a:t>
            </a:r>
            <a:r>
              <a:rPr lang="ko-KR" altLang="en-US" sz="2400" dirty="0"/>
              <a:t>어떻게 생겼을까</a:t>
            </a:r>
            <a:r>
              <a:rPr lang="en-US" altLang="ko-KR" sz="2400" dirty="0"/>
              <a:t>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04DC704-E62B-AF0A-843F-C0ED23689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U-Net?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E98609-19F0-5CA4-C54A-1E7D2D17C089}"/>
              </a:ext>
            </a:extLst>
          </p:cNvPr>
          <p:cNvSpPr txBox="1"/>
          <p:nvPr/>
        </p:nvSpPr>
        <p:spPr>
          <a:xfrm>
            <a:off x="582386" y="2565304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이미지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분할을 위한 모델 </a:t>
            </a:r>
            <a:r>
              <a:rPr lang="en-US" altLang="ko-KR" dirty="0"/>
              <a:t>FCN(Fully Convolutional Network)</a:t>
            </a:r>
            <a:r>
              <a:rPr lang="ko-KR" altLang="en-US" dirty="0"/>
              <a:t> 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D06848-11CC-CF19-FC81-5B1132161F55}"/>
              </a:ext>
            </a:extLst>
          </p:cNvPr>
          <p:cNvSpPr txBox="1"/>
          <p:nvPr/>
        </p:nvSpPr>
        <p:spPr>
          <a:xfrm>
            <a:off x="582386" y="2900170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/>
              <a:t>대칭적인 </a:t>
            </a:r>
            <a:r>
              <a:rPr lang="en-US" altLang="ko-KR" dirty="0"/>
              <a:t>U</a:t>
            </a:r>
            <a:r>
              <a:rPr lang="ko-KR" altLang="en-US" dirty="0"/>
              <a:t>자형 구조와 </a:t>
            </a:r>
            <a:r>
              <a:rPr lang="ko-KR" altLang="en-US" dirty="0" err="1"/>
              <a:t>스킵</a:t>
            </a:r>
            <a:r>
              <a:rPr lang="ko-KR" altLang="en-US" dirty="0"/>
              <a:t> 연결</a:t>
            </a:r>
            <a:r>
              <a:rPr lang="en-US" altLang="ko-KR" dirty="0"/>
              <a:t>(Skip Connections)</a:t>
            </a:r>
            <a:r>
              <a:rPr lang="ko-KR" altLang="en-US" dirty="0"/>
              <a:t>을 핵심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E6EBA-9C44-72F9-BDAE-68CE830B4CAE}"/>
              </a:ext>
            </a:extLst>
          </p:cNvPr>
          <p:cNvSpPr txBox="1"/>
          <p:nvPr/>
        </p:nvSpPr>
        <p:spPr>
          <a:xfrm>
            <a:off x="582386" y="3519265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인코더 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수축 경로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115087-0EEE-51D8-68E6-FA0D5E581944}"/>
              </a:ext>
            </a:extLst>
          </p:cNvPr>
          <p:cNvSpPr txBox="1"/>
          <p:nvPr/>
        </p:nvSpPr>
        <p:spPr>
          <a:xfrm>
            <a:off x="582386" y="4008196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디코더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확장 경로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48FBA-12CB-A708-7414-CA922FD9B904}"/>
              </a:ext>
            </a:extLst>
          </p:cNvPr>
          <p:cNvSpPr txBox="1"/>
          <p:nvPr/>
        </p:nvSpPr>
        <p:spPr>
          <a:xfrm>
            <a:off x="582386" y="4497127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스킵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연결 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인코더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디코더를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연결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1B584-1C39-AF8C-48F9-5D80601652C6}"/>
              </a:ext>
            </a:extLst>
          </p:cNvPr>
          <p:cNvSpPr txBox="1"/>
          <p:nvPr/>
        </p:nvSpPr>
        <p:spPr>
          <a:xfrm>
            <a:off x="582386" y="6156310"/>
            <a:ext cx="61306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https://arxiv.org/abs/1505.04597</a:t>
            </a:r>
          </a:p>
        </p:txBody>
      </p:sp>
    </p:spTree>
    <p:extLst>
      <p:ext uri="{BB962C8B-B14F-4D97-AF65-F5344CB8AC3E}">
        <p14:creationId xmlns:p14="http://schemas.microsoft.com/office/powerpoint/2010/main" val="173836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82CF-A88C-82F5-48B6-44C7F331E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5A485-1818-D97D-A138-84F7345D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</a:t>
            </a:r>
            <a:r>
              <a:rPr lang="en-US" altLang="ko-KR" sz="3600" dirty="0"/>
              <a:t>. U-Net </a:t>
            </a:r>
            <a:r>
              <a:rPr lang="ko-KR" altLang="en-US" sz="3600" dirty="0"/>
              <a:t>알아보기 </a:t>
            </a:r>
            <a:r>
              <a:rPr lang="ko-KR" altLang="en-US" sz="2400" dirty="0"/>
              <a:t>어떻게 생겼을까</a:t>
            </a:r>
            <a:r>
              <a:rPr lang="en-US" altLang="ko-KR" sz="24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DD3D28-78CE-C3BE-C158-11BC75DD7625}"/>
              </a:ext>
            </a:extLst>
          </p:cNvPr>
          <p:cNvSpPr txBox="1"/>
          <p:nvPr/>
        </p:nvSpPr>
        <p:spPr>
          <a:xfrm>
            <a:off x="582386" y="2565304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이미지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분할을 위한 모델 </a:t>
            </a:r>
            <a:r>
              <a:rPr lang="en-US" altLang="ko-KR" dirty="0"/>
              <a:t>FCN(Fully Convolutional Network)</a:t>
            </a:r>
            <a:r>
              <a:rPr lang="ko-KR" altLang="en-US" dirty="0"/>
              <a:t> 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3FF0D-1A63-04CC-B5C6-BF3E137F6572}"/>
              </a:ext>
            </a:extLst>
          </p:cNvPr>
          <p:cNvSpPr txBox="1"/>
          <p:nvPr/>
        </p:nvSpPr>
        <p:spPr>
          <a:xfrm>
            <a:off x="582386" y="2900170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latin typeface="Consolas" panose="020B0609020204030204" pitchFamily="49" charset="0"/>
              </a:rPr>
              <a:t>이미지의 모든 픽셀이 어디에 속하는지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ko-KR" altLang="en-US" dirty="0">
                <a:latin typeface="Consolas" panose="020B0609020204030204" pitchFamily="49" charset="0"/>
              </a:rPr>
              <a:t>종양</a:t>
            </a:r>
            <a:r>
              <a:rPr lang="en-US" altLang="ko-KR" dirty="0">
                <a:latin typeface="Consolas" panose="020B0609020204030204" pitchFamily="49" charset="0"/>
              </a:rPr>
              <a:t>, </a:t>
            </a:r>
            <a:r>
              <a:rPr lang="ko-KR" altLang="en-US" dirty="0">
                <a:latin typeface="Consolas" panose="020B0609020204030204" pitchFamily="49" charset="0"/>
              </a:rPr>
              <a:t>배경</a:t>
            </a:r>
            <a:r>
              <a:rPr lang="en-US" altLang="ko-KR" dirty="0">
                <a:latin typeface="Consolas" panose="020B0609020204030204" pitchFamily="49" charset="0"/>
              </a:rPr>
              <a:t>, </a:t>
            </a:r>
            <a:r>
              <a:rPr lang="ko-KR" altLang="en-US" dirty="0">
                <a:latin typeface="Consolas" panose="020B0609020204030204" pitchFamily="49" charset="0"/>
              </a:rPr>
              <a:t>혈관</a:t>
            </a:r>
            <a:r>
              <a:rPr lang="en-US" altLang="ko-KR" dirty="0">
                <a:latin typeface="Consolas" panose="020B0609020204030204" pitchFamily="49" charset="0"/>
              </a:rPr>
              <a:t>) </a:t>
            </a:r>
            <a:r>
              <a:rPr lang="ko-KR" altLang="en-US" dirty="0" err="1">
                <a:latin typeface="Consolas" panose="020B0609020204030204" pitchFamily="49" charset="0"/>
              </a:rPr>
              <a:t>그런거</a:t>
            </a:r>
            <a:r>
              <a:rPr lang="ko-KR" altLang="en-US" dirty="0">
                <a:latin typeface="Consolas" panose="020B0609020204030204" pitchFamily="49" charset="0"/>
              </a:rPr>
              <a:t> 판단 할 수 있다</a:t>
            </a:r>
            <a:r>
              <a:rPr lang="en-US" altLang="ko-KR" dirty="0">
                <a:latin typeface="Consolas" panose="020B0609020204030204" pitchFamily="49" charset="0"/>
              </a:rPr>
              <a:t>.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21280A-00B9-FDF3-1911-5E46227009B0}"/>
              </a:ext>
            </a:extLst>
          </p:cNvPr>
          <p:cNvSpPr txBox="1"/>
          <p:nvPr/>
        </p:nvSpPr>
        <p:spPr>
          <a:xfrm>
            <a:off x="582386" y="4120156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인코더 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수축 경로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이미지가 무엇인지 파악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0920C3-5DE1-6785-38DA-DDEDB87B3194}"/>
              </a:ext>
            </a:extLst>
          </p:cNvPr>
          <p:cNvSpPr txBox="1"/>
          <p:nvPr/>
        </p:nvSpPr>
        <p:spPr>
          <a:xfrm>
            <a:off x="582386" y="4609087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디코더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확장 경로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이미지가 어디에 있는지 파악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스킵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연결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EA377F-EC64-7F4A-601C-E6FCD6BCFF0F}"/>
              </a:ext>
            </a:extLst>
          </p:cNvPr>
          <p:cNvSpPr txBox="1"/>
          <p:nvPr/>
        </p:nvSpPr>
        <p:spPr>
          <a:xfrm>
            <a:off x="582386" y="3237476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/>
              <a:t>대칭적인 </a:t>
            </a:r>
            <a:r>
              <a:rPr lang="en-US" altLang="ko-KR" dirty="0"/>
              <a:t>U</a:t>
            </a:r>
            <a:r>
              <a:rPr lang="ko-KR" altLang="en-US" dirty="0"/>
              <a:t>자형 구조와 </a:t>
            </a:r>
            <a:r>
              <a:rPr lang="ko-KR" altLang="en-US" dirty="0" err="1"/>
              <a:t>스킵</a:t>
            </a:r>
            <a:r>
              <a:rPr lang="ko-KR" altLang="en-US" dirty="0"/>
              <a:t> 연결</a:t>
            </a:r>
            <a:r>
              <a:rPr lang="en-US" altLang="ko-KR" dirty="0"/>
              <a:t>(Skip Connections)</a:t>
            </a:r>
            <a:r>
              <a:rPr lang="ko-KR" altLang="en-US" dirty="0"/>
              <a:t>을 핵심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2373E-BC87-42FB-A640-D4F0593B0889}"/>
              </a:ext>
            </a:extLst>
          </p:cNvPr>
          <p:cNvSpPr txBox="1"/>
          <p:nvPr/>
        </p:nvSpPr>
        <p:spPr>
          <a:xfrm>
            <a:off x="582386" y="6056475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어디서 본 </a:t>
            </a:r>
            <a:r>
              <a:rPr lang="ko-KR" altLang="en-US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구조죠</a:t>
            </a: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Yolo </a:t>
            </a:r>
            <a:r>
              <a:rPr lang="en-US" altLang="ko-KR" dirty="0">
                <a:latin typeface="Consolas" panose="020B0609020204030204" pitchFamily="49" charset="0"/>
              </a:rPr>
              <a:t>neck </a:t>
            </a:r>
            <a:r>
              <a:rPr lang="ko-KR" altLang="en-US" dirty="0">
                <a:latin typeface="Consolas" panose="020B0609020204030204" pitchFamily="49" charset="0"/>
              </a:rPr>
              <a:t>이랑 비슷한 느낌 나오죠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A0FA54E3-8007-7575-8CD9-8FBCBC99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U-Net?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C0002C-8A69-BCB7-A99E-A5887A74F4CD}"/>
              </a:ext>
            </a:extLst>
          </p:cNvPr>
          <p:cNvSpPr txBox="1"/>
          <p:nvPr/>
        </p:nvSpPr>
        <p:spPr>
          <a:xfrm>
            <a:off x="582386" y="5098018"/>
            <a:ext cx="10833100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최종 출력</a:t>
            </a:r>
            <a:endParaRPr lang="en-US" altLang="ko-KR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43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E57E3-1EF2-98E0-D55F-DDCBEB36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C1A27-E5C4-C403-09DF-E172AF83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</a:t>
            </a:r>
            <a:r>
              <a:rPr lang="en-US" altLang="ko-KR" sz="3600" dirty="0"/>
              <a:t>. U-Net </a:t>
            </a:r>
            <a:r>
              <a:rPr lang="ko-KR" altLang="en-US" sz="3600" dirty="0"/>
              <a:t>알아보기 </a:t>
            </a:r>
            <a:r>
              <a:rPr lang="en-US" altLang="ko-KR" sz="2400" dirty="0"/>
              <a:t>Encoder?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5747FD-AC9B-3187-07AF-13616398A2DE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입력 이미지에서 특징</a:t>
            </a:r>
            <a:r>
              <a:rPr lang="en-US" altLang="ko-KR" dirty="0"/>
              <a:t>(feature)</a:t>
            </a:r>
            <a:r>
              <a:rPr lang="ko-KR" altLang="en-US" dirty="0"/>
              <a:t>을 추출하고</a:t>
            </a:r>
            <a:r>
              <a:rPr lang="en-US" altLang="ko-KR" dirty="0"/>
              <a:t>, </a:t>
            </a:r>
            <a:r>
              <a:rPr lang="ko-KR" altLang="en-US" dirty="0"/>
              <a:t>이미지의 전반적인 문맥</a:t>
            </a:r>
            <a:r>
              <a:rPr lang="en-US" altLang="ko-KR" dirty="0"/>
              <a:t>(Context)</a:t>
            </a:r>
            <a:r>
              <a:rPr lang="ko-KR" altLang="en-US" dirty="0"/>
              <a:t>을 파악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B9ADAD64-6A31-75F8-E3E3-73B640525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1AE5D-1965-067A-F670-E302600E2DBB}"/>
              </a:ext>
            </a:extLst>
          </p:cNvPr>
          <p:cNvSpPr txBox="1"/>
          <p:nvPr/>
        </p:nvSpPr>
        <p:spPr>
          <a:xfrm>
            <a:off x="685800" y="324433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반복 블록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(3x3 Convolution + </a:t>
            </a:r>
            <a:r>
              <a:rPr lang="en-US" altLang="ko-KR" dirty="0" err="1"/>
              <a:t>ReLU</a:t>
            </a:r>
            <a:r>
              <a:rPr lang="en-US" altLang="ko-KR" dirty="0"/>
              <a:t>) * 2</a:t>
            </a:r>
            <a:r>
              <a:rPr lang="ko-KR" altLang="en-US" dirty="0"/>
              <a:t>회</a:t>
            </a:r>
            <a:endParaRPr lang="en-US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6C9868-8AAD-8E10-77BC-E830A1763191}"/>
              </a:ext>
            </a:extLst>
          </p:cNvPr>
          <p:cNvSpPr txBox="1"/>
          <p:nvPr/>
        </p:nvSpPr>
        <p:spPr>
          <a:xfrm>
            <a:off x="685800" y="373869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 err="1"/>
              <a:t>다운샘플링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(2x2 Max Pooling)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CBD95F-2DC3-0D97-A5B2-D3231A1B5BE5}"/>
              </a:ext>
            </a:extLst>
          </p:cNvPr>
          <p:cNvSpPr txBox="1"/>
          <p:nvPr/>
        </p:nvSpPr>
        <p:spPr>
          <a:xfrm>
            <a:off x="582386" y="4422407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그냥 </a:t>
            </a:r>
            <a:r>
              <a:rPr lang="en-US" altLang="ko-KR" dirty="0"/>
              <a:t>CNN</a:t>
            </a:r>
            <a:r>
              <a:rPr lang="ko-KR" altLang="en-US" dirty="0"/>
              <a:t>이죠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7789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77E86-B03A-46F7-3ECD-A4428FC01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17BCD-D801-44B5-668B-F0B240394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Encoder?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4ECA237A-94A0-8972-AA77-2DC3E88A9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211BDFF-4027-FFF0-2AEC-01CABA037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2824886"/>
            <a:ext cx="9366922" cy="3609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E24338-3CCB-AFA5-1016-A6D30C2EBC73}"/>
              </a:ext>
            </a:extLst>
          </p:cNvPr>
          <p:cNvSpPr txBox="1"/>
          <p:nvPr/>
        </p:nvSpPr>
        <p:spPr>
          <a:xfrm>
            <a:off x="471488" y="2342996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Conv Layer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586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EE61-3003-3DED-EDBA-3C8B4604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5458D-3BC2-CCA6-0FF5-804E097D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Encoder?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10C4F172-3DB1-EED9-32AE-8055E2348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5A8D17-BBC4-F20F-2691-0D6C6F4EBA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15"/>
          <a:stretch>
            <a:fillRect/>
          </a:stretch>
        </p:blipFill>
        <p:spPr>
          <a:xfrm>
            <a:off x="471488" y="2824886"/>
            <a:ext cx="7402274" cy="32286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48E7CC-1E6E-855A-DD45-C181FA9413D4}"/>
              </a:ext>
            </a:extLst>
          </p:cNvPr>
          <p:cNvSpPr txBox="1"/>
          <p:nvPr/>
        </p:nvSpPr>
        <p:spPr>
          <a:xfrm>
            <a:off x="471488" y="2342996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RelULayer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262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B20EF-EBF9-C9C9-6BD3-CC37A401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743CE-612A-8B09-6564-8B054523D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Encoder?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67EC8248-D488-5750-1D10-343560911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E0D5BE-E304-4B4B-3FAB-EDDB712233B0}"/>
              </a:ext>
            </a:extLst>
          </p:cNvPr>
          <p:cNvSpPr txBox="1"/>
          <p:nvPr/>
        </p:nvSpPr>
        <p:spPr>
          <a:xfrm>
            <a:off x="471488" y="2342996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Maxpooling</a:t>
            </a:r>
            <a:r>
              <a:rPr lang="en-US" altLang="ko-KR" dirty="0"/>
              <a:t> Layer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D3C342-5277-B8E0-27A1-E7AD06AF1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2824886"/>
            <a:ext cx="8262257" cy="308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0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FF606-BB0E-09AE-1CE1-2EF562CA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043F6-73AB-A91E-D5F9-1ECF0B6F8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Encoder?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82F71E05-AB54-1804-71DE-698339E19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55DD53-973C-E18A-90F3-70564E8AA8CB}"/>
              </a:ext>
            </a:extLst>
          </p:cNvPr>
          <p:cNvSpPr txBox="1"/>
          <p:nvPr/>
        </p:nvSpPr>
        <p:spPr>
          <a:xfrm>
            <a:off x="542109" y="2910725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en-US" altLang="ko-KR" dirty="0"/>
              <a:t>3x3 Convolution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32D9E-F2AE-F926-D0B9-54A1A7EA0021}"/>
              </a:ext>
            </a:extLst>
          </p:cNvPr>
          <p:cNvSpPr txBox="1"/>
          <p:nvPr/>
        </p:nvSpPr>
        <p:spPr>
          <a:xfrm>
            <a:off x="542109" y="4906897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5. </a:t>
            </a:r>
            <a:r>
              <a:rPr lang="en-US" altLang="ko-KR" dirty="0"/>
              <a:t>2x2 Max Pooling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6E6F0-CD5C-BE79-774F-C8435553120E}"/>
              </a:ext>
            </a:extLst>
          </p:cNvPr>
          <p:cNvSpPr txBox="1"/>
          <p:nvPr/>
        </p:nvSpPr>
        <p:spPr>
          <a:xfrm>
            <a:off x="542109" y="340976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en-US" altLang="ko-KR" dirty="0" err="1"/>
              <a:t>ReLU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AB8C3-17D9-EF99-F930-312D9FB117F7}"/>
              </a:ext>
            </a:extLst>
          </p:cNvPr>
          <p:cNvSpPr txBox="1"/>
          <p:nvPr/>
        </p:nvSpPr>
        <p:spPr>
          <a:xfrm>
            <a:off x="535577" y="3908811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</a:t>
            </a:r>
            <a:r>
              <a:rPr lang="en-US" altLang="ko-KR" dirty="0"/>
              <a:t>3x3 Convolution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D076E-596F-1671-5038-7FFB164494C6}"/>
              </a:ext>
            </a:extLst>
          </p:cNvPr>
          <p:cNvSpPr txBox="1"/>
          <p:nvPr/>
        </p:nvSpPr>
        <p:spPr>
          <a:xfrm>
            <a:off x="535577" y="440785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4. </a:t>
            </a:r>
            <a:r>
              <a:rPr lang="en-US" altLang="ko-KR" dirty="0" err="1"/>
              <a:t>ReLU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2019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06B14-BBD8-CBEE-60E5-A3D59280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D0670-370C-1C65-8D9F-C07C1B2E3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EF5A9440-91E4-9929-4F1A-598951FE0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5627F-24B1-0E80-10FB-CB23C6844D4A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압축된 특징 </a:t>
            </a:r>
            <a:r>
              <a:rPr lang="ko-KR" altLang="en-US" dirty="0" err="1"/>
              <a:t>맵을</a:t>
            </a:r>
            <a:r>
              <a:rPr lang="ko-KR" altLang="en-US" dirty="0"/>
              <a:t> 바탕으로 픽셀 단위의 정확한 위치 정보를 복원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EDE85D-D04A-C5C7-5D8B-B48B0188F991}"/>
              </a:ext>
            </a:extLst>
          </p:cNvPr>
          <p:cNvSpPr txBox="1"/>
          <p:nvPr/>
        </p:nvSpPr>
        <p:spPr>
          <a:xfrm>
            <a:off x="685800" y="3244334"/>
            <a:ext cx="10652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 err="1"/>
              <a:t>업샘플링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(2x2 Up-Convolution </a:t>
            </a:r>
            <a:r>
              <a:rPr lang="ko-KR" altLang="en-US" dirty="0"/>
              <a:t>또는 </a:t>
            </a:r>
            <a:r>
              <a:rPr lang="en-US" altLang="ko-KR" dirty="0"/>
              <a:t>Transposed Convolution)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206A1-C047-0C86-7171-B4A2E74E6356}"/>
              </a:ext>
            </a:extLst>
          </p:cNvPr>
          <p:cNvSpPr txBox="1"/>
          <p:nvPr/>
        </p:nvSpPr>
        <p:spPr>
          <a:xfrm>
            <a:off x="685800" y="373869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Skip Connection </a:t>
            </a:r>
            <a:r>
              <a:rPr lang="ko-KR" altLang="en-US" dirty="0"/>
              <a:t>결합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아래 </a:t>
            </a:r>
            <a:r>
              <a:rPr lang="en-US" altLang="ko-KR" dirty="0"/>
              <a:t>3</a:t>
            </a:r>
            <a:r>
              <a:rPr lang="ko-KR" altLang="en-US" dirty="0"/>
              <a:t>번 항목 참조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A0E1A-FE9D-08AC-7143-07759A59FBD8}"/>
              </a:ext>
            </a:extLst>
          </p:cNvPr>
          <p:cNvSpPr txBox="1"/>
          <p:nvPr/>
        </p:nvSpPr>
        <p:spPr>
          <a:xfrm>
            <a:off x="685800" y="4233062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반복 블록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(3x3 Convolution + </a:t>
            </a:r>
            <a:r>
              <a:rPr lang="en-US" altLang="ko-KR" dirty="0" err="1"/>
              <a:t>ReLU</a:t>
            </a:r>
            <a:r>
              <a:rPr lang="en-US" altLang="ko-KR" dirty="0"/>
              <a:t>) * 2</a:t>
            </a:r>
            <a:r>
              <a:rPr lang="ko-KR" altLang="en-US" dirty="0"/>
              <a:t>회</a:t>
            </a:r>
          </a:p>
        </p:txBody>
      </p:sp>
    </p:spTree>
    <p:extLst>
      <p:ext uri="{BB962C8B-B14F-4D97-AF65-F5344CB8AC3E}">
        <p14:creationId xmlns:p14="http://schemas.microsoft.com/office/powerpoint/2010/main" val="372042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634A8-4DAE-8563-B172-B24BBC90E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31BF1-4B02-88FB-0CE3-5DD4F5E17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509E683D-722E-A6D4-AF9E-8E6DBF0D8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1BF5EC-0451-D4CB-D2CC-F0791A71DFCD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2x2 Up-Convolution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91109-4367-AD34-06B1-A0993C0C2020}"/>
              </a:ext>
            </a:extLst>
          </p:cNvPr>
          <p:cNvSpPr txBox="1"/>
          <p:nvPr/>
        </p:nvSpPr>
        <p:spPr>
          <a:xfrm>
            <a:off x="4101737" y="256530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전치</a:t>
            </a:r>
            <a:r>
              <a:rPr lang="en-US" altLang="ko-KR" dirty="0"/>
              <a:t> </a:t>
            </a:r>
            <a:r>
              <a:rPr lang="ko-KR" altLang="en-US" dirty="0" err="1"/>
              <a:t>컨볼루션</a:t>
            </a:r>
            <a:r>
              <a:rPr lang="ko-KR" altLang="en-US" dirty="0"/>
              <a:t> 사용</a:t>
            </a:r>
            <a:r>
              <a:rPr lang="en-US" altLang="ko-KR" dirty="0"/>
              <a:t>(Transposed Convolution)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CFE5D-44A7-3886-A7B6-554AC0C41782}"/>
              </a:ext>
            </a:extLst>
          </p:cNvPr>
          <p:cNvSpPr txBox="1"/>
          <p:nvPr/>
        </p:nvSpPr>
        <p:spPr>
          <a:xfrm>
            <a:off x="582386" y="3001332"/>
            <a:ext cx="7491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특징 </a:t>
            </a:r>
            <a:r>
              <a:rPr lang="ko-KR" altLang="en-US" dirty="0" err="1"/>
              <a:t>맵의</a:t>
            </a:r>
            <a:r>
              <a:rPr lang="ko-KR" altLang="en-US" dirty="0"/>
              <a:t> 크기</a:t>
            </a:r>
            <a:r>
              <a:rPr lang="en-US" altLang="ko-KR" dirty="0"/>
              <a:t>(</a:t>
            </a:r>
            <a:r>
              <a:rPr lang="ko-KR" altLang="en-US" dirty="0"/>
              <a:t>해상도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en-US" altLang="ko-KR" dirty="0"/>
              <a:t>2</a:t>
            </a:r>
            <a:r>
              <a:rPr lang="ko-KR" altLang="en-US" dirty="0"/>
              <a:t>배로 늘리고</a:t>
            </a:r>
            <a:r>
              <a:rPr lang="en-US" altLang="ko-KR" dirty="0"/>
              <a:t>, </a:t>
            </a:r>
            <a:r>
              <a:rPr lang="ko-KR" altLang="en-US" dirty="0"/>
              <a:t>채널 수는 반으로 줄이는 역할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29E453-2377-AE6F-73A5-86AD5BB21EF9}"/>
                  </a:ext>
                </a:extLst>
              </p:cNvPr>
              <p:cNvSpPr txBox="1"/>
              <p:nvPr/>
            </p:nvSpPr>
            <p:spPr>
              <a:xfrm>
                <a:off x="582386" y="3975024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입력 특징 맵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US" altLang="ko-KR" sz="1800" b="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</m:oMath>
                </a14:m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크기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채널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</a:t>
                </a:r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개 가정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29E453-2377-AE6F-73A5-86AD5BB21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86" y="3975024"/>
                <a:ext cx="6126480" cy="369332"/>
              </a:xfrm>
              <a:prstGeom prst="rect">
                <a:avLst/>
              </a:prstGeom>
              <a:blipFill>
                <a:blip r:embed="rId3"/>
                <a:stretch>
                  <a:fillRect l="-896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A722CF-6E1C-719D-1D10-EC55FE8B3608}"/>
                  </a:ext>
                </a:extLst>
              </p:cNvPr>
              <p:cNvSpPr txBox="1"/>
              <p:nvPr/>
            </p:nvSpPr>
            <p:spPr>
              <a:xfrm>
                <a:off x="582386" y="4353523"/>
                <a:ext cx="79215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커널 </a:t>
                </a:r>
                <a:r>
                  <a:rPr lang="en-US" altLang="ko-KR" sz="18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(K): </a:t>
                </a:r>
                <a14:m>
                  <m:oMath xmlns:m="http://schemas.openxmlformats.org/officeDocument/2006/math"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2 </m:t>
                    </m:r>
                    <m:r>
                      <a:rPr lang="en-US" altLang="ko-KR" sz="1800" i="1" kern="1200" dirty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US" altLang="ko-KR" sz="1800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</m:oMath>
                </a14:m>
                <a:endParaRPr lang="en-US" altLang="ko-KR" sz="18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A722CF-6E1C-719D-1D10-EC55FE8B3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86" y="4353523"/>
                <a:ext cx="7921534" cy="369332"/>
              </a:xfrm>
              <a:prstGeom prst="rect">
                <a:avLst/>
              </a:prstGeom>
              <a:blipFill>
                <a:blip r:embed="rId4"/>
                <a:stretch>
                  <a:fillRect l="-693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0FB399A-2E7D-34C8-E4DF-5DBD0FC55D8B}"/>
              </a:ext>
            </a:extLst>
          </p:cNvPr>
          <p:cNvSpPr txBox="1"/>
          <p:nvPr/>
        </p:nvSpPr>
        <p:spPr>
          <a:xfrm>
            <a:off x="582386" y="475427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스트라이드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S: </a:t>
            </a:r>
            <a:r>
              <a:rPr lang="en-US" altLang="ko-KR" dirty="0"/>
              <a:t>1</a:t>
            </a:r>
            <a:endParaRPr lang="en-US" altLang="ko-KR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554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D7BCD-5B9C-BE2B-44DC-8965162F5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B7AEA0-1EC1-C7B8-40E8-C110A8754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62253BEA-6989-26D4-6FAA-492C88EB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568253-EF9E-57AA-697C-DF9558FCE4F7}"/>
                  </a:ext>
                </a:extLst>
              </p:cNvPr>
              <p:cNvSpPr txBox="1"/>
              <p:nvPr/>
            </p:nvSpPr>
            <p:spPr>
              <a:xfrm>
                <a:off x="2900680" y="2978427"/>
                <a:ext cx="151638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solidFill>
                            <a:srgbClr val="1F1F1F"/>
                          </a:solidFill>
                          <a:effectLst/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ko-KR" b="0" i="1" dirty="0">
                          <a:solidFill>
                            <a:srgbClr val="1F1F1F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dirty="0">
                              <a:solidFill>
                                <a:srgbClr val="1F1F1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dirty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568253-EF9E-57AA-697C-DF9558FCE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680" y="2978427"/>
                <a:ext cx="1516380" cy="5821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4BFCC3E-C7E3-FAC9-252C-716901D0BAD6}"/>
                  </a:ext>
                </a:extLst>
              </p:cNvPr>
              <p:cNvSpPr txBox="1"/>
              <p:nvPr/>
            </p:nvSpPr>
            <p:spPr>
              <a:xfrm>
                <a:off x="663575" y="2978428"/>
                <a:ext cx="1348105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solidFill>
                            <a:srgbClr val="1F1F1F"/>
                          </a:solidFill>
                          <a:effectLst/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b="0" i="1" dirty="0">
                          <a:solidFill>
                            <a:srgbClr val="1F1F1F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dirty="0">
                              <a:solidFill>
                                <a:srgbClr val="1F1F1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dirty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dirty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4BFCC3E-C7E3-FAC9-252C-716901D0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75" y="2978428"/>
                <a:ext cx="1348105" cy="5821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EB0B7A6-8801-F0B0-E5EA-0D62D090B47C}"/>
                  </a:ext>
                </a:extLst>
              </p:cNvPr>
              <p:cNvSpPr txBox="1"/>
              <p:nvPr/>
            </p:nvSpPr>
            <p:spPr>
              <a:xfrm>
                <a:off x="-165100" y="4077454"/>
                <a:ext cx="61315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𝑂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e>
                      </m:d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𝐾</m:t>
                      </m:r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2−1</m:t>
                          </m:r>
                        </m:e>
                      </m:d>
                      <m:r>
                        <a:rPr lang="en-US" altLang="ko-K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×1+2=3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EB0B7A6-8801-F0B0-E5EA-0D62D090B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5100" y="4077454"/>
                <a:ext cx="6131560" cy="369332"/>
              </a:xfrm>
              <a:prstGeom prst="rect">
                <a:avLst/>
              </a:prstGeom>
              <a:blipFill>
                <a:blip r:embed="rId5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1B8E801-0BEB-55C0-D895-5DB0269533EB}"/>
              </a:ext>
            </a:extLst>
          </p:cNvPr>
          <p:cNvSpPr txBox="1"/>
          <p:nvPr/>
        </p:nvSpPr>
        <p:spPr>
          <a:xfrm>
            <a:off x="663575" y="3708122"/>
            <a:ext cx="6212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출력</a:t>
            </a:r>
            <a:r>
              <a:rPr lang="en-US" altLang="ko-KR" dirty="0"/>
              <a:t> </a:t>
            </a:r>
            <a:r>
              <a:rPr lang="ko-KR" altLang="en-US" dirty="0"/>
              <a:t>크기는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112FCF-9780-59AE-E900-DE9B393A07A5}"/>
              </a:ext>
            </a:extLst>
          </p:cNvPr>
          <p:cNvSpPr txBox="1"/>
          <p:nvPr/>
        </p:nvSpPr>
        <p:spPr>
          <a:xfrm>
            <a:off x="663575" y="4510762"/>
            <a:ext cx="6212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따라서</a:t>
            </a:r>
            <a:r>
              <a:rPr lang="en-US" altLang="ko-KR" dirty="0"/>
              <a:t>, 3 * 3 </a:t>
            </a:r>
            <a:r>
              <a:rPr lang="ko-KR" altLang="en-US" dirty="0"/>
              <a:t>이 된다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D2B38B-C8DC-D69B-6345-1A7089CDC23B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2x2 Up-Convolution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17F104-4AF9-DDFA-D4E7-B7975D6C2CEC}"/>
                  </a:ext>
                </a:extLst>
              </p:cNvPr>
              <p:cNvSpPr txBox="1"/>
              <p:nvPr/>
            </p:nvSpPr>
            <p:spPr>
              <a:xfrm>
                <a:off x="6876415" y="2860217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17F104-4AF9-DDFA-D4E7-B7975D6C2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415" y="2860217"/>
                <a:ext cx="967740" cy="5821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64F8126-F606-60BB-31EB-1078AB933502}"/>
                  </a:ext>
                </a:extLst>
              </p:cNvPr>
              <p:cNvSpPr txBox="1"/>
              <p:nvPr/>
            </p:nvSpPr>
            <p:spPr>
              <a:xfrm>
                <a:off x="8305709" y="2860217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64F8126-F606-60BB-31EB-1078AB933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709" y="2860217"/>
                <a:ext cx="967740" cy="5821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053609-BFC8-9848-3AAC-2C2113C788B0}"/>
                  </a:ext>
                </a:extLst>
              </p:cNvPr>
              <p:cNvSpPr txBox="1"/>
              <p:nvPr/>
            </p:nvSpPr>
            <p:spPr>
              <a:xfrm>
                <a:off x="6876415" y="3892788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053609-BFC8-9848-3AAC-2C2113C78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415" y="3892788"/>
                <a:ext cx="967740" cy="58214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428A81F-1D15-F0DA-9AEF-49058D8B8161}"/>
                  </a:ext>
                </a:extLst>
              </p:cNvPr>
              <p:cNvSpPr txBox="1"/>
              <p:nvPr/>
            </p:nvSpPr>
            <p:spPr>
              <a:xfrm>
                <a:off x="8305709" y="3892787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428A81F-1D15-F0DA-9AEF-49058D8B8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709" y="3892787"/>
                <a:ext cx="967740" cy="582147"/>
              </a:xfrm>
              <a:prstGeom prst="rect">
                <a:avLst/>
              </a:prstGeom>
              <a:blipFill>
                <a:blip r:embed="rId9"/>
                <a:stretch>
                  <a:fillRect r="-8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393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7885A-8747-E8B1-573C-EB3CE003F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EFE7A-DE89-C8F5-E821-3297E83C3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222437C0-210A-A1D5-9E0A-5059AE7BE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DB5DF7-06F4-C3BC-A558-F50E64ADE7AE}"/>
              </a:ext>
            </a:extLst>
          </p:cNvPr>
          <p:cNvSpPr txBox="1"/>
          <p:nvPr/>
        </p:nvSpPr>
        <p:spPr>
          <a:xfrm>
            <a:off x="582386" y="3114170"/>
            <a:ext cx="3996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그런데</a:t>
            </a:r>
            <a:r>
              <a:rPr lang="en-US" altLang="ko-KR" dirty="0"/>
              <a:t>, </a:t>
            </a:r>
            <a:r>
              <a:rPr lang="ko-KR" altLang="en-US" dirty="0" err="1"/>
              <a:t>스트라이드가</a:t>
            </a:r>
            <a:r>
              <a:rPr lang="ko-KR" altLang="en-US" dirty="0"/>
              <a:t> </a:t>
            </a:r>
            <a:r>
              <a:rPr lang="en-US" altLang="ko-KR" dirty="0"/>
              <a:t>1 </a:t>
            </a:r>
            <a:r>
              <a:rPr lang="ko-KR" altLang="en-US" dirty="0"/>
              <a:t>이므로</a:t>
            </a:r>
            <a:r>
              <a:rPr lang="en-US" altLang="ko-KR" dirty="0"/>
              <a:t>, 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0C812D-C72E-C369-CCA2-16AD4D51E5E0}"/>
              </a:ext>
            </a:extLst>
          </p:cNvPr>
          <p:cNvSpPr txBox="1"/>
          <p:nvPr/>
        </p:nvSpPr>
        <p:spPr>
          <a:xfrm>
            <a:off x="582386" y="5993562"/>
            <a:ext cx="6212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따라서</a:t>
            </a:r>
            <a:r>
              <a:rPr lang="en-US" altLang="ko-KR" dirty="0"/>
              <a:t>, 3 * 3 </a:t>
            </a:r>
            <a:r>
              <a:rPr lang="ko-KR" altLang="en-US" dirty="0"/>
              <a:t>의 크기를 가지게 된다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31DCEC-45DA-1676-DAE1-C93D5513406F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2x2 Up-Convolution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03AC70-2C00-A8AD-E4E5-BD05AF7F872A}"/>
                  </a:ext>
                </a:extLst>
              </p:cNvPr>
              <p:cNvSpPr txBox="1"/>
              <p:nvPr/>
            </p:nvSpPr>
            <p:spPr>
              <a:xfrm>
                <a:off x="471488" y="3533789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03AC70-2C00-A8AD-E4E5-BD05AF7F8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3533789"/>
                <a:ext cx="967740" cy="5821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322F0E0-D4FD-D689-EA67-A15BA4F29D13}"/>
                  </a:ext>
                </a:extLst>
              </p:cNvPr>
              <p:cNvSpPr txBox="1"/>
              <p:nvPr/>
            </p:nvSpPr>
            <p:spPr>
              <a:xfrm>
                <a:off x="2869021" y="3533789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322F0E0-D4FD-D689-EA67-A15BA4F29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021" y="3533789"/>
                <a:ext cx="967740" cy="5821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BDD3015-C38D-369C-E174-C1B2F60BB124}"/>
                  </a:ext>
                </a:extLst>
              </p:cNvPr>
              <p:cNvSpPr txBox="1"/>
              <p:nvPr/>
            </p:nvSpPr>
            <p:spPr>
              <a:xfrm>
                <a:off x="471488" y="4995824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BDD3015-C38D-369C-E174-C1B2F60BB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4995824"/>
                <a:ext cx="967740" cy="582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1D3FA6-4997-7F11-EE93-B0F4EF7B4D74}"/>
                  </a:ext>
                </a:extLst>
              </p:cNvPr>
              <p:cNvSpPr txBox="1"/>
              <p:nvPr/>
            </p:nvSpPr>
            <p:spPr>
              <a:xfrm>
                <a:off x="2869021" y="4995823"/>
                <a:ext cx="96774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800" b="0" i="1" kern="120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en-US" altLang="ko-KR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1D3FA6-4997-7F11-EE93-B0F4EF7B4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021" y="4995823"/>
                <a:ext cx="967740" cy="582147"/>
              </a:xfrm>
              <a:prstGeom prst="rect">
                <a:avLst/>
              </a:prstGeom>
              <a:blipFill>
                <a:blip r:embed="rId6"/>
                <a:stretch>
                  <a:fillRect r="-82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D460BB-5220-CFC9-9DCD-2C9E67613D05}"/>
                  </a:ext>
                </a:extLst>
              </p:cNvPr>
              <p:cNvSpPr txBox="1"/>
              <p:nvPr/>
            </p:nvSpPr>
            <p:spPr>
              <a:xfrm>
                <a:off x="5724525" y="3950953"/>
                <a:ext cx="6127750" cy="829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2+2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3+3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4+6+6+4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8+8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12+12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D460BB-5220-CFC9-9DCD-2C9E67613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525" y="3950953"/>
                <a:ext cx="6127750" cy="8295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FD3C4039-C1DB-438C-C142-E32D5F7C14D8}"/>
              </a:ext>
            </a:extLst>
          </p:cNvPr>
          <p:cNvSpPr/>
          <p:nvPr/>
        </p:nvSpPr>
        <p:spPr>
          <a:xfrm>
            <a:off x="5359400" y="422178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DCA307-88B2-D400-4EF3-71742726811C}"/>
                  </a:ext>
                </a:extLst>
              </p:cNvPr>
              <p:cNvSpPr txBox="1"/>
              <p:nvPr/>
            </p:nvSpPr>
            <p:spPr>
              <a:xfrm>
                <a:off x="6396471" y="5017331"/>
                <a:ext cx="6127750" cy="829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e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DCA307-88B2-D400-4EF3-717427268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471" y="5017331"/>
                <a:ext cx="6127750" cy="8295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화살표: 위로 굽음 7">
            <a:extLst>
              <a:ext uri="{FF2B5EF4-FFF2-40B4-BE49-F238E27FC236}">
                <a16:creationId xmlns:a16="http://schemas.microsoft.com/office/drawing/2014/main" id="{EEB98894-FB0C-FC84-D0BC-B6942D46F12C}"/>
              </a:ext>
            </a:extLst>
          </p:cNvPr>
          <p:cNvSpPr/>
          <p:nvPr/>
        </p:nvSpPr>
        <p:spPr>
          <a:xfrm rot="5400000">
            <a:off x="7488382" y="5066332"/>
            <a:ext cx="850392" cy="73152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25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1.11111E-6 L 0.07942 0.0849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1" y="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-0.0849 0.0849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45" y="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3 -0.04236 L 0.0763 -0.0833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1" y="-2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-0.08594 -0.0833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97" y="-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6" grpId="0"/>
      <p:bldP spid="37" grpId="0"/>
      <p:bldP spid="3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0BB8C-D8D0-3816-B6CF-7A7B53F7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6E027-130E-728A-A2C7-09AE21E05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B1067C89-2BE2-2A8C-58BE-2ED4884A6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E3E52-10F2-B137-64B1-22492B2F0DA9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Skip Connection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7576BD-F59F-465F-D886-FB5BAE808E46}"/>
              </a:ext>
            </a:extLst>
          </p:cNvPr>
          <p:cNvSpPr txBox="1"/>
          <p:nvPr/>
        </p:nvSpPr>
        <p:spPr>
          <a:xfrm>
            <a:off x="582386" y="2934636"/>
            <a:ext cx="8433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인코더의 특징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맵을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디코더의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대응하는 레이어로 직접 복사하여 연결하는 구조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CB339-50D7-AC7F-E202-A8E512125AC7}"/>
              </a:ext>
            </a:extLst>
          </p:cNvPr>
          <p:cNvSpPr txBox="1"/>
          <p:nvPr/>
        </p:nvSpPr>
        <p:spPr>
          <a:xfrm>
            <a:off x="582386" y="3292184"/>
            <a:ext cx="11073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인코더는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컨볼루션과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풀링을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거치며 이미지의 무엇인지 정보는 잘 학습하지만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어디인지 정보는 손실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926F89-C610-7AFA-824F-B1F4179B308E}"/>
              </a:ext>
            </a:extLst>
          </p:cNvPr>
          <p:cNvSpPr txBox="1"/>
          <p:nvPr/>
        </p:nvSpPr>
        <p:spPr>
          <a:xfrm>
            <a:off x="582385" y="4072234"/>
            <a:ext cx="10833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디코더가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업샘플링을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통해 해상도를 복원할 때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인코더에서 손실되었던 정확한 픽셀 레벨의 위치 정보를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 Connection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통해 다시 공급받는다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8C3EB9-85F5-3BC6-E42B-C26CC8084999}"/>
              </a:ext>
            </a:extLst>
          </p:cNvPr>
          <p:cNvSpPr txBox="1"/>
          <p:nvPr/>
        </p:nvSpPr>
        <p:spPr>
          <a:xfrm>
            <a:off x="582384" y="4799114"/>
            <a:ext cx="109030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디코더는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업샘플링된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흐릿한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문맥 정보와 인코더의 선명한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 정보를 결합하여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정교한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Segmentation Mask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생성할 수 있다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701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BE052-E2A6-854B-F03D-6167B1426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912F57-F6C1-7368-2A6D-986A7670E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FADDCF63-35D0-3CF6-5688-3715F9A7A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97552-23BB-E3CF-2C29-AA540BCC90B2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Skip Connection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39B023-4912-030A-BCCE-6F5442AC06BA}"/>
              </a:ext>
            </a:extLst>
          </p:cNvPr>
          <p:cNvSpPr txBox="1"/>
          <p:nvPr/>
        </p:nvSpPr>
        <p:spPr>
          <a:xfrm>
            <a:off x="582386" y="3269502"/>
            <a:ext cx="2081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인코더 특징 맵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3B286-B679-4A68-6A63-9E2781CB82CC}"/>
              </a:ext>
            </a:extLst>
          </p:cNvPr>
          <p:cNvSpPr txBox="1"/>
          <p:nvPr/>
        </p:nvSpPr>
        <p:spPr>
          <a:xfrm>
            <a:off x="875063" y="3638834"/>
            <a:ext cx="3577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폴링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되기 전의 고해상도 특징 맵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CEF6F4-7984-A62F-EA30-79B11A8F01AF}"/>
              </a:ext>
            </a:extLst>
          </p:cNvPr>
          <p:cNvSpPr txBox="1"/>
          <p:nvPr/>
        </p:nvSpPr>
        <p:spPr>
          <a:xfrm>
            <a:off x="875063" y="4008166"/>
            <a:ext cx="2407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64 x 64 x 128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CDC376-7A59-1F4D-39ED-28F8BD30FB6C}"/>
              </a:ext>
            </a:extLst>
          </p:cNvPr>
          <p:cNvSpPr txBox="1"/>
          <p:nvPr/>
        </p:nvSpPr>
        <p:spPr>
          <a:xfrm>
            <a:off x="5385955" y="3244334"/>
            <a:ext cx="2081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디코더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특징 맵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E805D8-F819-1783-CAB6-6B2CED6FFED0}"/>
              </a:ext>
            </a:extLst>
          </p:cNvPr>
          <p:cNvSpPr txBox="1"/>
          <p:nvPr/>
        </p:nvSpPr>
        <p:spPr>
          <a:xfrm>
            <a:off x="5629275" y="3638834"/>
            <a:ext cx="4124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Up-Convolution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거친 후의 특징 맵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AB5311-7653-8E6A-3E59-D011A9120D3C}"/>
              </a:ext>
            </a:extLst>
          </p:cNvPr>
          <p:cNvSpPr txBox="1"/>
          <p:nvPr/>
        </p:nvSpPr>
        <p:spPr>
          <a:xfrm>
            <a:off x="5629275" y="4008166"/>
            <a:ext cx="2407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64 x 64 x 128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1CE5C6-E2D4-ADA6-1942-A98022E40784}"/>
              </a:ext>
            </a:extLst>
          </p:cNvPr>
          <p:cNvSpPr txBox="1"/>
          <p:nvPr/>
        </p:nvSpPr>
        <p:spPr>
          <a:xfrm>
            <a:off x="1390465" y="4340021"/>
            <a:ext cx="1976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높이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너비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93CF5D-C92B-B83E-270D-E343EB423661}"/>
              </a:ext>
            </a:extLst>
          </p:cNvPr>
          <p:cNvSpPr txBox="1"/>
          <p:nvPr/>
        </p:nvSpPr>
        <p:spPr>
          <a:xfrm>
            <a:off x="582386" y="5041208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특징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맵을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채널 방향으로 결합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9F1533-E235-014F-CA18-8CA16FCC22DD}"/>
              </a:ext>
            </a:extLst>
          </p:cNvPr>
          <p:cNvSpPr txBox="1"/>
          <p:nvPr/>
        </p:nvSpPr>
        <p:spPr>
          <a:xfrm>
            <a:off x="582386" y="5373063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 x 64 x (128 + 128) = 64 x 64 x 256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995165-9682-696D-90C3-CED021139496}"/>
              </a:ext>
            </a:extLst>
          </p:cNvPr>
          <p:cNvSpPr txBox="1"/>
          <p:nvPr/>
        </p:nvSpPr>
        <p:spPr>
          <a:xfrm>
            <a:off x="416378" y="5962438"/>
            <a:ext cx="1063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U-Net </a:t>
            </a:r>
            <a:r>
              <a:rPr lang="ko-KR" altLang="en-US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원본 논문에서는 </a:t>
            </a:r>
            <a:r>
              <a:rPr lang="en-US" altLang="ko-KR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</a:t>
            </a:r>
            <a:r>
              <a:rPr lang="ko-KR" altLang="en-US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사용하지 않아 인코더</a:t>
            </a:r>
            <a:r>
              <a:rPr lang="en-US" altLang="ko-KR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4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디코더</a:t>
            </a:r>
            <a:r>
              <a:rPr lang="ko-KR" altLang="en-US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4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맵의</a:t>
            </a:r>
            <a:r>
              <a:rPr lang="ko-KR" altLang="en-US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크기가 약간 다를 수 있어</a:t>
            </a:r>
            <a:r>
              <a:rPr lang="en-US" altLang="ko-KR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altLang="ko-KR" sz="1400" dirty="0"/>
              <a:t>   </a:t>
            </a:r>
            <a:r>
              <a:rPr lang="ko-KR" altLang="en-US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중앙을 기준으로 </a:t>
            </a:r>
            <a:r>
              <a:rPr lang="en-US" altLang="ko-KR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Crop </a:t>
            </a:r>
            <a:r>
              <a:rPr lang="ko-KR" altLang="en-US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하여 크기를 맞춘 후 연결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1728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39FAE-5244-8A2B-7F49-30ACE7B85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75E88-8A0F-70A2-23A3-79CAE015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3130FBD3-CECA-85A5-81CC-6D69A6B4F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A45D8-D37D-BF26-FC9B-A5D047BF7BE2}"/>
              </a:ext>
            </a:extLst>
          </p:cNvPr>
          <p:cNvSpPr txBox="1"/>
          <p:nvPr/>
        </p:nvSpPr>
        <p:spPr>
          <a:xfrm>
            <a:off x="582386" y="2565304"/>
            <a:ext cx="1083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반복 블록 </a:t>
            </a:r>
            <a:r>
              <a:rPr lang="en-US" altLang="ko-KR" dirty="0"/>
              <a:t>(3x3 Convolution + </a:t>
            </a:r>
            <a:r>
              <a:rPr lang="en-US" altLang="ko-KR" dirty="0" err="1"/>
              <a:t>ReLU</a:t>
            </a:r>
            <a:r>
              <a:rPr lang="en-US" altLang="ko-KR" dirty="0"/>
              <a:t>) * 2</a:t>
            </a:r>
            <a:r>
              <a:rPr lang="ko-KR" altLang="en-US" dirty="0"/>
              <a:t>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43DC3-B8D3-A35C-5631-68635EEA4BD5}"/>
              </a:ext>
            </a:extLst>
          </p:cNvPr>
          <p:cNvSpPr txBox="1"/>
          <p:nvPr/>
        </p:nvSpPr>
        <p:spPr>
          <a:xfrm>
            <a:off x="582386" y="3059668"/>
            <a:ext cx="8530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결합된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(Concatenated)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맵을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입력받아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dirty="0"/>
              <a:t>특징을 정제하고 학습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51EB0-E6E3-81ED-AAFE-6BF48A59117E}"/>
              </a:ext>
            </a:extLst>
          </p:cNvPr>
          <p:cNvSpPr txBox="1"/>
          <p:nvPr/>
        </p:nvSpPr>
        <p:spPr>
          <a:xfrm>
            <a:off x="190995" y="3554032"/>
            <a:ext cx="93137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rtl="0"/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Up-Convolution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통해 전달된 문맥정보와</a:t>
            </a:r>
          </a:p>
          <a:p>
            <a:pPr lvl="1" rtl="0"/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 Connection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복사된 위치정보를</a:t>
            </a:r>
          </a:p>
          <a:p>
            <a:pPr lvl="1" rtl="0"/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3x3 Conv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연산을 통해 본격적으로 융합하여 의미 있는 새로운 특징을 추출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6D8B05-A4B4-B525-4B89-DC5E0221CA4C}"/>
              </a:ext>
            </a:extLst>
          </p:cNvPr>
          <p:cNvSpPr txBox="1"/>
          <p:nvPr/>
        </p:nvSpPr>
        <p:spPr>
          <a:xfrm>
            <a:off x="672441" y="4912092"/>
            <a:ext cx="11519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3x3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커널을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 연속 적용하여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해상도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(Resolution)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레벨에서 더 복잡하고 정교한 패턴을 학습할 수 있다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33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946D-D0A2-5743-C533-FDAF951C7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980D4-F61C-6640-6C24-94B13C565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Decoder?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5777CE0E-D839-E262-753B-9D7B19E35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Decoder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2E4F9-5A03-F43D-9623-A9C9FED83A62}"/>
              </a:ext>
            </a:extLst>
          </p:cNvPr>
          <p:cNvSpPr txBox="1"/>
          <p:nvPr/>
        </p:nvSpPr>
        <p:spPr>
          <a:xfrm>
            <a:off x="542109" y="2910725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en-US" altLang="ko-KR" dirty="0"/>
              <a:t>2x2 Up-Convolution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BA617-C7BC-A969-3E77-68C6DD6189D9}"/>
              </a:ext>
            </a:extLst>
          </p:cNvPr>
          <p:cNvSpPr txBox="1"/>
          <p:nvPr/>
        </p:nvSpPr>
        <p:spPr>
          <a:xfrm>
            <a:off x="542109" y="3409768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en-US" altLang="ko-KR" dirty="0"/>
              <a:t>Skip Connection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8A1A9-914A-173A-0D64-33B51CAFBD9A}"/>
              </a:ext>
            </a:extLst>
          </p:cNvPr>
          <p:cNvSpPr txBox="1"/>
          <p:nvPr/>
        </p:nvSpPr>
        <p:spPr>
          <a:xfrm>
            <a:off x="535577" y="3908811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</a:t>
            </a:r>
            <a:r>
              <a:rPr lang="en-US" altLang="ko-KR" dirty="0"/>
              <a:t>3x3 Convolution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74DAE-600E-9299-7B03-9A517B6ECB4D}"/>
              </a:ext>
            </a:extLst>
          </p:cNvPr>
          <p:cNvSpPr txBox="1"/>
          <p:nvPr/>
        </p:nvSpPr>
        <p:spPr>
          <a:xfrm>
            <a:off x="535577" y="440785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4. </a:t>
            </a:r>
            <a:r>
              <a:rPr lang="en-US" altLang="ko-KR" dirty="0" err="1"/>
              <a:t>ReLU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0B29A0-AF09-F801-D507-854D39636C78}"/>
              </a:ext>
            </a:extLst>
          </p:cNvPr>
          <p:cNvSpPr txBox="1"/>
          <p:nvPr/>
        </p:nvSpPr>
        <p:spPr>
          <a:xfrm>
            <a:off x="542109" y="4906897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5. </a:t>
            </a:r>
            <a:r>
              <a:rPr lang="en-US" altLang="ko-KR" dirty="0"/>
              <a:t>3x3 Convolution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5DAC83-E5BB-B1FA-212D-35DA870EC9BD}"/>
              </a:ext>
            </a:extLst>
          </p:cNvPr>
          <p:cNvSpPr txBox="1"/>
          <p:nvPr/>
        </p:nvSpPr>
        <p:spPr>
          <a:xfrm>
            <a:off x="542109" y="5405940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6. </a:t>
            </a:r>
            <a:r>
              <a:rPr lang="en-US" altLang="ko-KR" dirty="0" err="1"/>
              <a:t>ReLU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C2D6FA-A971-89D0-A9A9-55ACF58103E3}"/>
              </a:ext>
            </a:extLst>
          </p:cNvPr>
          <p:cNvSpPr txBox="1"/>
          <p:nvPr/>
        </p:nvSpPr>
        <p:spPr>
          <a:xfrm>
            <a:off x="542109" y="6156310"/>
            <a:ext cx="7465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디코더는</a:t>
            </a:r>
            <a:r>
              <a:rPr lang="ko-KR" altLang="en-US" dirty="0"/>
              <a:t> 원본 이미지와 동일한 해상도가 될 때 까지 반복한다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384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D26D7-5DAE-CBC5-3E09-E55B1293D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993EC-2E89-428C-4F77-E4F70A2C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ko-KR" altLang="en-US" sz="2400" dirty="0"/>
              <a:t>최종출력</a:t>
            </a:r>
            <a:r>
              <a:rPr lang="en-US" altLang="ko-KR" sz="2400" dirty="0"/>
              <a:t>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48E0D159-3765-856D-237C-A9031A6EF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/>
              <a:t>최종출력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39D763-CE9B-8F1E-8FBF-1B77E3EE0772}"/>
              </a:ext>
            </a:extLst>
          </p:cNvPr>
          <p:cNvSpPr txBox="1"/>
          <p:nvPr/>
        </p:nvSpPr>
        <p:spPr>
          <a:xfrm>
            <a:off x="471488" y="2340370"/>
            <a:ext cx="10643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이전 단계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디코더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블록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까지의 출력은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높이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너비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64]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복잡한 특징정보를 담고 있다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3F44F3-4921-7CAD-593D-7D8F298FEB47}"/>
              </a:ext>
            </a:extLst>
          </p:cNvPr>
          <p:cNvSpPr txBox="1"/>
          <p:nvPr/>
        </p:nvSpPr>
        <p:spPr>
          <a:xfrm>
            <a:off x="471487" y="2819634"/>
            <a:ext cx="91435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1x1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컨볼루션을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통해 이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특징을 조합하여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픽셀이 어떤 클래스에 속하는지를 나타내는 최종 클래스 맵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(Class Map)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변환한다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4127D5-105E-2826-E389-EF6918AF9E9F}"/>
              </a:ext>
            </a:extLst>
          </p:cNvPr>
          <p:cNvSpPr txBox="1"/>
          <p:nvPr/>
        </p:nvSpPr>
        <p:spPr>
          <a:xfrm>
            <a:off x="471487" y="4231469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1x1 Convolution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B366A1-5738-0F5D-3544-9E93BC851FCB}"/>
              </a:ext>
            </a:extLst>
          </p:cNvPr>
          <p:cNvSpPr txBox="1"/>
          <p:nvPr/>
        </p:nvSpPr>
        <p:spPr>
          <a:xfrm>
            <a:off x="471487" y="4639934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7905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8193C-962F-1B97-D350-92C33BE1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035FAA-292B-7656-257B-94574048D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ko-KR" altLang="en-US" sz="2400" dirty="0"/>
              <a:t>최종출력</a:t>
            </a:r>
            <a:r>
              <a:rPr lang="en-US" altLang="ko-KR" sz="2400" dirty="0"/>
              <a:t>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ACBA3D12-304D-4918-6F40-CA998EA89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/>
              <a:t>최종출력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58E151-80EE-D59A-6F7F-C3EEA4F01911}"/>
              </a:ext>
            </a:extLst>
          </p:cNvPr>
          <p:cNvSpPr txBox="1"/>
          <p:nvPr/>
        </p:nvSpPr>
        <p:spPr>
          <a:xfrm>
            <a:off x="471487" y="2395742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1x1 Convolution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B3F82D-DE2B-F59E-2D23-E85724BDCB6E}"/>
              </a:ext>
            </a:extLst>
          </p:cNvPr>
          <p:cNvSpPr txBox="1"/>
          <p:nvPr/>
        </p:nvSpPr>
        <p:spPr>
          <a:xfrm>
            <a:off x="471486" y="6039243"/>
            <a:ext cx="7266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</a:t>
            </a:r>
            <a:r>
              <a:rPr lang="en-US" altLang="ko-KR" dirty="0"/>
              <a:t>(</a:t>
            </a:r>
            <a:r>
              <a:rPr lang="ko-KR" altLang="en-US" dirty="0"/>
              <a:t>다중</a:t>
            </a:r>
            <a:r>
              <a:rPr lang="en-US" altLang="ko-KR" dirty="0"/>
              <a:t>)</a:t>
            </a:r>
            <a:r>
              <a:rPr lang="ko-KR" altLang="en-US" dirty="0"/>
              <a:t>이나 </a:t>
            </a:r>
            <a:r>
              <a:rPr lang="en-US" altLang="ko-KR" dirty="0"/>
              <a:t>Sigmoid(</a:t>
            </a:r>
            <a:r>
              <a:rPr lang="ko-KR" altLang="en-US" dirty="0"/>
              <a:t>이진</a:t>
            </a:r>
            <a:r>
              <a:rPr lang="en-US" altLang="ko-KR" dirty="0"/>
              <a:t>)</a:t>
            </a:r>
            <a:r>
              <a:rPr lang="ko-KR" altLang="en-US" dirty="0"/>
              <a:t>을 사용해서 최종 출력을 계산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B1B86-2D1B-5D92-6E57-4D15163C1A0A}"/>
              </a:ext>
            </a:extLst>
          </p:cNvPr>
          <p:cNvSpPr txBox="1"/>
          <p:nvPr/>
        </p:nvSpPr>
        <p:spPr>
          <a:xfrm>
            <a:off x="471487" y="2930378"/>
            <a:ext cx="8032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이미지의 높이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너비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(W)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변경하지 않고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(Channel) 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수만 조절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792F8C-7FC3-C0D0-AA1C-2D6CAC047B88}"/>
              </a:ext>
            </a:extLst>
          </p:cNvPr>
          <p:cNvSpPr txBox="1"/>
          <p:nvPr/>
        </p:nvSpPr>
        <p:spPr>
          <a:xfrm>
            <a:off x="471486" y="3429000"/>
            <a:ext cx="10750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 하나하나를 보면서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64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채널 값을 </a:t>
            </a:r>
            <a:r>
              <a:rPr lang="ko-KR" altLang="en-U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입력받아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우리가 원하는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채널 값으로 압축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요약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CD939-3667-59FB-849E-8F13A39CBCBA}"/>
              </a:ext>
            </a:extLst>
          </p:cNvPr>
          <p:cNvSpPr txBox="1"/>
          <p:nvPr/>
        </p:nvSpPr>
        <p:spPr>
          <a:xfrm>
            <a:off x="471487" y="4128940"/>
            <a:ext cx="132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이진 분할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A76D84-C346-7C1F-587C-C5D29F47E31C}"/>
              </a:ext>
            </a:extLst>
          </p:cNvPr>
          <p:cNvSpPr txBox="1"/>
          <p:nvPr/>
        </p:nvSpPr>
        <p:spPr>
          <a:xfrm>
            <a:off x="5275118" y="4128940"/>
            <a:ext cx="2899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다중 클래스 분할 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ex) 3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AB71F3-7499-8E44-6DCE-E797752248F4}"/>
              </a:ext>
            </a:extLst>
          </p:cNvPr>
          <p:cNvSpPr txBox="1"/>
          <p:nvPr/>
        </p:nvSpPr>
        <p:spPr>
          <a:xfrm>
            <a:off x="471487" y="4656015"/>
            <a:ext cx="258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[512 x 512 x 64]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6AB487-4A35-AA5E-E0C5-8266D294B436}"/>
              </a:ext>
            </a:extLst>
          </p:cNvPr>
          <p:cNvSpPr txBox="1"/>
          <p:nvPr/>
        </p:nvSpPr>
        <p:spPr>
          <a:xfrm>
            <a:off x="471487" y="5059848"/>
            <a:ext cx="2500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[512 x 512 x 1]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E14868-2241-B930-6A93-F6E91EEF18A7}"/>
              </a:ext>
            </a:extLst>
          </p:cNvPr>
          <p:cNvSpPr txBox="1"/>
          <p:nvPr/>
        </p:nvSpPr>
        <p:spPr>
          <a:xfrm>
            <a:off x="5108863" y="4678990"/>
            <a:ext cx="258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[512 x 512 x 64]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1B811F-DC3B-C997-F09D-19AEC51BD373}"/>
              </a:ext>
            </a:extLst>
          </p:cNvPr>
          <p:cNvSpPr txBox="1"/>
          <p:nvPr/>
        </p:nvSpPr>
        <p:spPr>
          <a:xfrm>
            <a:off x="5108863" y="5059848"/>
            <a:ext cx="2500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</a:t>
            </a:r>
            <a:r>
              <a:rPr lang="en-US" altLang="ko-KR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[512 x 512 x 3]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032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7B43B-0AFE-07E4-442A-085D6AC13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8E9AB4-E8E6-76F9-14E4-498898914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ko-KR" altLang="en-US" sz="2400" dirty="0"/>
              <a:t>최종출력</a:t>
            </a:r>
            <a:r>
              <a:rPr lang="en-US" altLang="ko-KR" sz="2400" dirty="0"/>
              <a:t>?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FE70FFE8-E9B2-DB33-687E-DA8A9C885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/>
              <a:t>최종출력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12BD75-11B9-7AE8-4585-3F9A6E3A4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70" y="2664782"/>
            <a:ext cx="4819186" cy="3925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99913E-EE9E-178B-02DC-B7A870CD949C}"/>
              </a:ext>
            </a:extLst>
          </p:cNvPr>
          <p:cNvSpPr txBox="1"/>
          <p:nvPr/>
        </p:nvSpPr>
        <p:spPr>
          <a:xfrm>
            <a:off x="4937380" y="3576328"/>
            <a:ext cx="6878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저 파란 점 찍힌 부분 을 </a:t>
            </a:r>
            <a:r>
              <a:rPr lang="ko-KR" altLang="en-US" dirty="0" err="1"/>
              <a:t>컨볼루션을</a:t>
            </a:r>
            <a:r>
              <a:rPr lang="ko-KR" altLang="en-US" dirty="0"/>
              <a:t> 통해서 하나로 합친다</a:t>
            </a:r>
            <a:r>
              <a:rPr lang="en-US" altLang="ko-KR" dirty="0"/>
              <a:t>(</a:t>
            </a:r>
            <a:r>
              <a:rPr lang="ko-KR" altLang="en-US" dirty="0"/>
              <a:t>압축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178882-8A05-07BF-5208-43702C7F2FA6}"/>
              </a:ext>
            </a:extLst>
          </p:cNvPr>
          <p:cNvSpPr txBox="1"/>
          <p:nvPr/>
        </p:nvSpPr>
        <p:spPr>
          <a:xfrm>
            <a:off x="4937380" y="4010672"/>
            <a:ext cx="6878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 과정에서 각 채널에 가중치를 곱한 후 합치게 된다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A11AD5-333D-87FE-BAF4-B228B8982231}"/>
              </a:ext>
            </a:extLst>
          </p:cNvPr>
          <p:cNvSpPr txBox="1"/>
          <p:nvPr/>
        </p:nvSpPr>
        <p:spPr>
          <a:xfrm>
            <a:off x="4937380" y="4445016"/>
            <a:ext cx="6878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결국 모든 특징이 하나로 합쳐진 하나의 채널만 남는다</a:t>
            </a:r>
          </a:p>
        </p:txBody>
      </p:sp>
    </p:spTree>
    <p:extLst>
      <p:ext uri="{BB962C8B-B14F-4D97-AF65-F5344CB8AC3E}">
        <p14:creationId xmlns:p14="http://schemas.microsoft.com/office/powerpoint/2010/main" val="87785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18054-3EDC-5629-0AF4-0E821EB6A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E2B6D-D6A1-7FA5-B98F-8F31E84A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ko-KR" altLang="en-US" sz="2400" dirty="0"/>
              <a:t>종합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B94C9F-D32F-403F-058A-6A0D688A9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782" y="1444855"/>
            <a:ext cx="4661932" cy="50338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595676-DF43-C454-AD1A-949CB7AA9897}"/>
              </a:ext>
            </a:extLst>
          </p:cNvPr>
          <p:cNvSpPr txBox="1"/>
          <p:nvPr/>
        </p:nvSpPr>
        <p:spPr>
          <a:xfrm>
            <a:off x="2713930" y="2294322"/>
            <a:ext cx="16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Encoder 1</a:t>
            </a:r>
            <a:r>
              <a:rPr lang="ko-KR" altLang="en-US" dirty="0"/>
              <a:t>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B8CCD5-716C-6FB5-CC49-8F8CB617CD97}"/>
              </a:ext>
            </a:extLst>
          </p:cNvPr>
          <p:cNvSpPr txBox="1"/>
          <p:nvPr/>
        </p:nvSpPr>
        <p:spPr>
          <a:xfrm>
            <a:off x="7587541" y="2294322"/>
            <a:ext cx="171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Decoder 4</a:t>
            </a:r>
            <a:r>
              <a:rPr lang="ko-KR" altLang="en-US" dirty="0"/>
              <a:t>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426E4-546A-8165-6038-014D1A50C7AC}"/>
              </a:ext>
            </a:extLst>
          </p:cNvPr>
          <p:cNvSpPr txBox="1"/>
          <p:nvPr/>
        </p:nvSpPr>
        <p:spPr>
          <a:xfrm>
            <a:off x="2713930" y="3059668"/>
            <a:ext cx="16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Encoder 2</a:t>
            </a:r>
            <a:r>
              <a:rPr lang="ko-KR" altLang="en-US" dirty="0"/>
              <a:t>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40A2A-96CF-D880-333F-B9AA011DA666}"/>
              </a:ext>
            </a:extLst>
          </p:cNvPr>
          <p:cNvSpPr txBox="1"/>
          <p:nvPr/>
        </p:nvSpPr>
        <p:spPr>
          <a:xfrm>
            <a:off x="7587541" y="3059668"/>
            <a:ext cx="1951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Decoder 3</a:t>
            </a:r>
            <a:r>
              <a:rPr lang="ko-KR" altLang="en-US" dirty="0"/>
              <a:t>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DA18E-A161-0272-9A90-4E6B653F43DB}"/>
              </a:ext>
            </a:extLst>
          </p:cNvPr>
          <p:cNvSpPr txBox="1"/>
          <p:nvPr/>
        </p:nvSpPr>
        <p:spPr>
          <a:xfrm>
            <a:off x="2713930" y="3948339"/>
            <a:ext cx="16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Encoder 3</a:t>
            </a:r>
            <a:r>
              <a:rPr lang="ko-KR" altLang="en-US" dirty="0"/>
              <a:t>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591A22-FEA1-A3D7-CF0F-7D6FC895A922}"/>
              </a:ext>
            </a:extLst>
          </p:cNvPr>
          <p:cNvSpPr txBox="1"/>
          <p:nvPr/>
        </p:nvSpPr>
        <p:spPr>
          <a:xfrm>
            <a:off x="7587541" y="3948339"/>
            <a:ext cx="16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Decoder 2</a:t>
            </a:r>
            <a:r>
              <a:rPr lang="ko-KR" altLang="en-US" dirty="0"/>
              <a:t>번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866D52-0BDE-5E09-758E-7320DBECB5F1}"/>
              </a:ext>
            </a:extLst>
          </p:cNvPr>
          <p:cNvSpPr txBox="1"/>
          <p:nvPr/>
        </p:nvSpPr>
        <p:spPr>
          <a:xfrm>
            <a:off x="2713930" y="4837010"/>
            <a:ext cx="16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Encoder 4</a:t>
            </a:r>
            <a:r>
              <a:rPr lang="ko-KR" altLang="en-US" dirty="0"/>
              <a:t>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7E05F5-74E0-AEC3-A07C-760F7F079864}"/>
              </a:ext>
            </a:extLst>
          </p:cNvPr>
          <p:cNvSpPr txBox="1"/>
          <p:nvPr/>
        </p:nvSpPr>
        <p:spPr>
          <a:xfrm>
            <a:off x="7587541" y="4837010"/>
            <a:ext cx="1951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Decoder 1</a:t>
            </a:r>
            <a:r>
              <a:rPr lang="ko-KR" altLang="en-US" dirty="0"/>
              <a:t>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C924DF-12FA-DDC1-655E-0612C1786D13}"/>
              </a:ext>
            </a:extLst>
          </p:cNvPr>
          <p:cNvSpPr txBox="1"/>
          <p:nvPr/>
        </p:nvSpPr>
        <p:spPr>
          <a:xfrm>
            <a:off x="6078374" y="1901683"/>
            <a:ext cx="171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최종 출력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98D7C1-4F0F-6128-1501-B7AE132BB72A}"/>
              </a:ext>
            </a:extLst>
          </p:cNvPr>
          <p:cNvSpPr txBox="1"/>
          <p:nvPr/>
        </p:nvSpPr>
        <p:spPr>
          <a:xfrm>
            <a:off x="4171962" y="1902152"/>
            <a:ext cx="171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이미지 입력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2BCA88-7F41-0FAE-D4F2-30DFB08DFD73}"/>
              </a:ext>
            </a:extLst>
          </p:cNvPr>
          <p:cNvSpPr txBox="1"/>
          <p:nvPr/>
        </p:nvSpPr>
        <p:spPr>
          <a:xfrm>
            <a:off x="4289359" y="5886480"/>
            <a:ext cx="3196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바닥 </a:t>
            </a:r>
            <a:r>
              <a:rPr lang="en-US" altLang="ko-KR" dirty="0"/>
              <a:t>Bottleneck (conv</a:t>
            </a:r>
            <a:r>
              <a:rPr lang="ko-KR" altLang="en-US" dirty="0"/>
              <a:t> </a:t>
            </a:r>
            <a:r>
              <a:rPr lang="en-US" altLang="ko-KR" dirty="0"/>
              <a:t>* 2) 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5A852C-5BF5-9D62-67E6-BCAE67B8C351}"/>
              </a:ext>
            </a:extLst>
          </p:cNvPr>
          <p:cNvSpPr txBox="1"/>
          <p:nvPr/>
        </p:nvSpPr>
        <p:spPr>
          <a:xfrm>
            <a:off x="3696810" y="6255812"/>
            <a:ext cx="4381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더 복잡하고 의미 있는 고차원 특징을 학습하기 위함</a:t>
            </a:r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24E24D75-A942-71D7-827D-08DACB253922}"/>
              </a:ext>
            </a:extLst>
          </p:cNvPr>
          <p:cNvSpPr/>
          <p:nvPr/>
        </p:nvSpPr>
        <p:spPr>
          <a:xfrm>
            <a:off x="1460470" y="2271015"/>
            <a:ext cx="484632" cy="36437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1A3B963F-DC2A-59EB-061F-642F304ED6F9}"/>
              </a:ext>
            </a:extLst>
          </p:cNvPr>
          <p:cNvSpPr/>
          <p:nvPr/>
        </p:nvSpPr>
        <p:spPr>
          <a:xfrm rot="10800000">
            <a:off x="10073436" y="2086349"/>
            <a:ext cx="484632" cy="36437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56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4B07B-E272-60B1-27CF-7463AB7B9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C4D2B-6F87-6617-D1B7-931A28BB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U-Net? Yolo?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CAF2350-7F57-C603-587E-E513D1C06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U-Net</a:t>
            </a:r>
            <a:r>
              <a:rPr lang="ko-KR" altLang="en-US" dirty="0"/>
              <a:t>과 </a:t>
            </a:r>
            <a:r>
              <a:rPr lang="en-US" altLang="ko-KR" dirty="0"/>
              <a:t>Yolo</a:t>
            </a:r>
            <a:r>
              <a:rPr lang="ko-KR" altLang="en-US" dirty="0"/>
              <a:t>는 어떻게 </a:t>
            </a:r>
            <a:r>
              <a:rPr lang="ko-KR" altLang="en-US" dirty="0" err="1"/>
              <a:t>다른가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48A6D-4A37-B7C1-F11F-05B33F6AF993}"/>
              </a:ext>
            </a:extLst>
          </p:cNvPr>
          <p:cNvSpPr txBox="1"/>
          <p:nvPr/>
        </p:nvSpPr>
        <p:spPr>
          <a:xfrm>
            <a:off x="471488" y="2319634"/>
            <a:ext cx="9725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특징을 추출</a:t>
            </a:r>
            <a:r>
              <a:rPr lang="en-US" altLang="ko-KR" dirty="0"/>
              <a:t>(Encoding)</a:t>
            </a:r>
            <a:r>
              <a:rPr lang="ko-KR" altLang="en-US" dirty="0"/>
              <a:t>하고 다시 특징을 조합</a:t>
            </a:r>
            <a:r>
              <a:rPr lang="en-US" altLang="ko-KR" dirty="0"/>
              <a:t>(Decoding/Fusing)</a:t>
            </a:r>
            <a:r>
              <a:rPr lang="ko-KR" altLang="en-US" dirty="0"/>
              <a:t>한다는 점에서 굉장히 유사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48E781-0328-4ED8-A580-AE0B38774E44}"/>
              </a:ext>
            </a:extLst>
          </p:cNvPr>
          <p:cNvSpPr txBox="1"/>
          <p:nvPr/>
        </p:nvSpPr>
        <p:spPr>
          <a:xfrm>
            <a:off x="730828" y="4598753"/>
            <a:ext cx="61306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/>
              <a:t>YOLO (Detection):</a:t>
            </a:r>
          </a:p>
          <a:p>
            <a:pPr>
              <a:buNone/>
            </a:pPr>
            <a:r>
              <a:rPr lang="ko-KR" altLang="en-US" dirty="0"/>
              <a:t>객체를 잘 찾기 위해 </a:t>
            </a:r>
            <a:r>
              <a:rPr lang="en-US" altLang="ko-KR" dirty="0"/>
              <a:t>U</a:t>
            </a:r>
            <a:r>
              <a:rPr lang="ko-KR" altLang="en-US" dirty="0"/>
              <a:t>자 구조</a:t>
            </a:r>
            <a:r>
              <a:rPr lang="en-US" altLang="ko-KR" dirty="0"/>
              <a:t>(Neck)</a:t>
            </a:r>
            <a:r>
              <a:rPr lang="ko-KR" altLang="en-US" dirty="0"/>
              <a:t>로 다양한 크기</a:t>
            </a:r>
            <a:r>
              <a:rPr lang="en-US" altLang="ko-KR" dirty="0"/>
              <a:t>(Multi-scale)</a:t>
            </a:r>
            <a:r>
              <a:rPr lang="ko-KR" altLang="en-US" dirty="0"/>
              <a:t>의 특징을 융합</a:t>
            </a:r>
            <a:r>
              <a:rPr lang="en-US" altLang="ko-KR" dirty="0"/>
              <a:t>(Fusion)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헤드가 이 융합된 정보에서 좌표</a:t>
            </a:r>
            <a:r>
              <a:rPr lang="en-US" altLang="ko-KR" dirty="0"/>
              <a:t>(Box)</a:t>
            </a:r>
            <a:r>
              <a:rPr lang="ko-KR" altLang="en-US" dirty="0"/>
              <a:t>를 예측한다</a:t>
            </a:r>
            <a:r>
              <a:rPr lang="en-US" altLang="ko-KR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F6E8BA-39B1-94AF-44B4-7016365FF522}"/>
              </a:ext>
            </a:extLst>
          </p:cNvPr>
          <p:cNvSpPr txBox="1"/>
          <p:nvPr/>
        </p:nvSpPr>
        <p:spPr>
          <a:xfrm>
            <a:off x="730828" y="3182194"/>
            <a:ext cx="61306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U-Net (Segmentation):</a:t>
            </a:r>
          </a:p>
          <a:p>
            <a:r>
              <a:rPr lang="ko-KR" altLang="en-US" dirty="0"/>
              <a:t>입력과 똑같은 크기의 픽셀 단위 지도</a:t>
            </a:r>
            <a:r>
              <a:rPr lang="en-US" altLang="ko-KR" dirty="0"/>
              <a:t>(Mask)</a:t>
            </a:r>
            <a:r>
              <a:rPr lang="ko-KR" altLang="en-US" dirty="0"/>
              <a:t>를 만들기 위해 </a:t>
            </a:r>
            <a:r>
              <a:rPr lang="en-US" altLang="ko-KR" dirty="0"/>
              <a:t>U</a:t>
            </a:r>
            <a:r>
              <a:rPr lang="ko-KR" altLang="en-US" dirty="0"/>
              <a:t>자 구조로 잃어버린 위치 정보를 완벽하게 복원한다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9905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C0496-8935-9B8C-41DF-B8F29580A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B72A5-9635-B691-C0B0-8250F99A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U-Net? Yolo?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6F5C1E-1D1F-8D47-57CB-31F70D0A1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7795"/>
            <a:ext cx="12192000" cy="517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0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E513E-3156-00ED-E8B8-8D05E8C8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2A8BA-2912-EC56-3C34-CD8C36CD2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Encoder, Decoder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379AC17-CF65-30B6-D667-D37F43930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Encoder, Decoder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040E3-E969-537B-760C-054502F136EE}"/>
              </a:ext>
            </a:extLst>
          </p:cNvPr>
          <p:cNvSpPr txBox="1"/>
          <p:nvPr/>
        </p:nvSpPr>
        <p:spPr>
          <a:xfrm>
            <a:off x="471488" y="2364467"/>
            <a:ext cx="11422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Encoder : </a:t>
            </a:r>
            <a:r>
              <a:rPr lang="ko-KR" altLang="en-US" dirty="0"/>
              <a:t>전체의 내용이나 특정 부분의 의미를 </a:t>
            </a:r>
            <a:r>
              <a:rPr lang="ko-KR" altLang="en-US" dirty="0">
                <a:solidFill>
                  <a:srgbClr val="FF0000"/>
                </a:solidFill>
              </a:rPr>
              <a:t>이해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8441AC-42A8-5383-BDFE-D4AFC2C2FE79}"/>
              </a:ext>
            </a:extLst>
          </p:cNvPr>
          <p:cNvSpPr txBox="1"/>
          <p:nvPr/>
        </p:nvSpPr>
        <p:spPr>
          <a:xfrm>
            <a:off x="471488" y="2836576"/>
            <a:ext cx="10210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Decoder : </a:t>
            </a:r>
            <a:r>
              <a:rPr lang="ko-KR" altLang="en-US" dirty="0"/>
              <a:t>어진 조건</a:t>
            </a:r>
            <a:r>
              <a:rPr lang="en-US" altLang="ko-KR" dirty="0"/>
              <a:t>(</a:t>
            </a:r>
            <a:r>
              <a:rPr lang="ko-KR" altLang="en-US" dirty="0"/>
              <a:t>시작 픽셀</a:t>
            </a:r>
            <a:r>
              <a:rPr lang="en-US" altLang="ko-KR" dirty="0"/>
              <a:t>, </a:t>
            </a:r>
            <a:r>
              <a:rPr lang="ko-KR" altLang="en-US" dirty="0"/>
              <a:t>텍스트 프롬프트</a:t>
            </a:r>
            <a:r>
              <a:rPr lang="en-US" altLang="ko-KR" dirty="0"/>
              <a:t>)</a:t>
            </a:r>
            <a:r>
              <a:rPr lang="ko-KR" altLang="en-US" dirty="0"/>
              <a:t>으로부터 새로운 이미지를 </a:t>
            </a:r>
            <a:r>
              <a:rPr lang="ko-KR" altLang="en-US" dirty="0">
                <a:solidFill>
                  <a:srgbClr val="FF0000"/>
                </a:solidFill>
              </a:rPr>
              <a:t>생성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DB8BA38-2EDC-2A83-4870-01A1EF897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41046"/>
              </p:ext>
            </p:extLst>
          </p:nvPr>
        </p:nvGraphicFramePr>
        <p:xfrm>
          <a:off x="826654" y="3830011"/>
          <a:ext cx="1021036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928">
                  <a:extLst>
                    <a:ext uri="{9D8B030D-6E8A-4147-A177-3AD203B41FA5}">
                      <a16:colId xmlns:a16="http://schemas.microsoft.com/office/drawing/2014/main" val="823223385"/>
                    </a:ext>
                  </a:extLst>
                </a:gridCol>
                <a:gridCol w="3027218">
                  <a:extLst>
                    <a:ext uri="{9D8B030D-6E8A-4147-A177-3AD203B41FA5}">
                      <a16:colId xmlns:a16="http://schemas.microsoft.com/office/drawing/2014/main" val="627754757"/>
                    </a:ext>
                  </a:extLst>
                </a:gridCol>
                <a:gridCol w="3226630">
                  <a:extLst>
                    <a:ext uri="{9D8B030D-6E8A-4147-A177-3AD203B41FA5}">
                      <a16:colId xmlns:a16="http://schemas.microsoft.com/office/drawing/2014/main" val="3863486466"/>
                    </a:ext>
                  </a:extLst>
                </a:gridCol>
                <a:gridCol w="2552592">
                  <a:extLst>
                    <a:ext uri="{9D8B030D-6E8A-4147-A177-3AD203B41FA5}">
                      <a16:colId xmlns:a16="http://schemas.microsoft.com/office/drawing/2014/main" val="459327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Encoder - Decoder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Encoder Only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Decoder Only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535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핵심 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시각적 변환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시각적 이해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시각적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80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이미지 </a:t>
                      </a:r>
                      <a:r>
                        <a:rPr lang="ko-KR" altLang="en-US" dirty="0" err="1"/>
                        <a:t>캡셔닝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스타일 전이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이미지 분류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객체 감지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분할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텍스트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투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이미지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436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텍스트 프롬프트</a:t>
                      </a:r>
                      <a:r>
                        <a:rPr lang="en-US" altLang="ko-KR" dirty="0"/>
                        <a:t> + </a:t>
                      </a:r>
                    </a:p>
                    <a:p>
                      <a:pPr algn="ctr" latinLnBrk="1"/>
                      <a:r>
                        <a:rPr lang="ko-KR" altLang="en-US" dirty="0"/>
                        <a:t>시작 이미지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픽셀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160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텍스트 또는 다른 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레이블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바운딩</a:t>
                      </a:r>
                      <a:r>
                        <a:rPr lang="ko-KR" altLang="en-US" dirty="0"/>
                        <a:t> 박스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마스크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새로운 이미지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41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대표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U-Net, Autoencoder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CNN, YOLO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Diffusion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18339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875C210-77A7-E697-968E-9DDBFCC1BAB8}"/>
              </a:ext>
            </a:extLst>
          </p:cNvPr>
          <p:cNvSpPr txBox="1"/>
          <p:nvPr/>
        </p:nvSpPr>
        <p:spPr>
          <a:xfrm>
            <a:off x="471487" y="3308685"/>
            <a:ext cx="10210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Encoder  + Decoder : </a:t>
            </a:r>
            <a:r>
              <a:rPr lang="ko-KR" altLang="en-US" dirty="0"/>
              <a:t>입력 내용을 조건에 맞게 </a:t>
            </a:r>
            <a:r>
              <a:rPr lang="ko-KR" altLang="en-US" dirty="0">
                <a:solidFill>
                  <a:srgbClr val="FF0000"/>
                </a:solidFill>
              </a:rPr>
              <a:t>변형</a:t>
            </a:r>
          </a:p>
        </p:txBody>
      </p:sp>
    </p:spTree>
    <p:extLst>
      <p:ext uri="{BB962C8B-B14F-4D97-AF65-F5344CB8AC3E}">
        <p14:creationId xmlns:p14="http://schemas.microsoft.com/office/powerpoint/2010/main" val="282140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87A6-9711-A630-690D-19A47369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E3389-7E5E-9343-A6CE-200AEB92A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U-Net </a:t>
            </a:r>
            <a:r>
              <a:rPr lang="ko-KR" altLang="en-US" dirty="0"/>
              <a:t>알아보기 </a:t>
            </a:r>
            <a:r>
              <a:rPr lang="en-US" altLang="ko-KR" sz="2400" dirty="0"/>
              <a:t>Encoder, Decoder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BC0C1E8-B494-CDC4-9D97-40D4A2B3C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814513"/>
            <a:ext cx="5157787" cy="415925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 dirty="0"/>
              <a:t>Encoder, Decoder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4CD8A2A-B19A-836A-1A77-0A9FB30C7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829253"/>
              </p:ext>
            </p:extLst>
          </p:nvPr>
        </p:nvGraphicFramePr>
        <p:xfrm>
          <a:off x="826654" y="2555393"/>
          <a:ext cx="1021036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928">
                  <a:extLst>
                    <a:ext uri="{9D8B030D-6E8A-4147-A177-3AD203B41FA5}">
                      <a16:colId xmlns:a16="http://schemas.microsoft.com/office/drawing/2014/main" val="823223385"/>
                    </a:ext>
                  </a:extLst>
                </a:gridCol>
                <a:gridCol w="3027218">
                  <a:extLst>
                    <a:ext uri="{9D8B030D-6E8A-4147-A177-3AD203B41FA5}">
                      <a16:colId xmlns:a16="http://schemas.microsoft.com/office/drawing/2014/main" val="627754757"/>
                    </a:ext>
                  </a:extLst>
                </a:gridCol>
                <a:gridCol w="3226630">
                  <a:extLst>
                    <a:ext uri="{9D8B030D-6E8A-4147-A177-3AD203B41FA5}">
                      <a16:colId xmlns:a16="http://schemas.microsoft.com/office/drawing/2014/main" val="3863486466"/>
                    </a:ext>
                  </a:extLst>
                </a:gridCol>
                <a:gridCol w="2552592">
                  <a:extLst>
                    <a:ext uri="{9D8B030D-6E8A-4147-A177-3AD203B41FA5}">
                      <a16:colId xmlns:a16="http://schemas.microsoft.com/office/drawing/2014/main" val="459327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Encoder - Decoder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Encoder Only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Decoder Only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535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핵심 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변형 </a:t>
                      </a:r>
                      <a:r>
                        <a:rPr lang="en-US" altLang="ko-KR" b="0" dirty="0"/>
                        <a:t>(Seq2Seq)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이해 </a:t>
                      </a:r>
                      <a:r>
                        <a:rPr lang="en-US" altLang="ko-KR" b="0" dirty="0"/>
                        <a:t>(NLU)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생성 </a:t>
                      </a:r>
                      <a:r>
                        <a:rPr lang="en-US" altLang="ko-KR" b="0" dirty="0"/>
                        <a:t>(NLG)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80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주요 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번역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요약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분류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 err="1"/>
                        <a:t>개체명</a:t>
                      </a:r>
                      <a:r>
                        <a:rPr lang="ko-KR" altLang="en-US" b="0" dirty="0"/>
                        <a:t> 인식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err="1"/>
                        <a:t>챗봇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글쓰기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436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양방향</a:t>
                      </a:r>
                      <a:r>
                        <a:rPr lang="en-US" altLang="ko-KR" b="0" dirty="0"/>
                        <a:t> + </a:t>
                      </a:r>
                      <a:r>
                        <a:rPr lang="ko-KR" altLang="en-US" b="0" dirty="0"/>
                        <a:t>단방향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양방향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단방향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순차적</a:t>
                      </a:r>
                      <a:r>
                        <a:rPr lang="en-US" altLang="ko-KR" b="0" dirty="0"/>
                        <a:t>)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160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텍스트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/>
                        <a:t>텍스트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/>
                        <a:t>텍스트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41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대표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T5, BART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BERT, </a:t>
                      </a:r>
                      <a:r>
                        <a:rPr lang="en-US" altLang="ko-KR" b="0" dirty="0" err="1"/>
                        <a:t>RoBERTa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GPT, </a:t>
                      </a:r>
                      <a:r>
                        <a:rPr lang="en-US" altLang="ko-KR" b="0" dirty="0" err="1"/>
                        <a:t>LLaMA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1833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E46AFAD-4C60-4B69-4EF0-5EB1DFB1A728}"/>
              </a:ext>
            </a:extLst>
          </p:cNvPr>
          <p:cNvSpPr txBox="1"/>
          <p:nvPr/>
        </p:nvSpPr>
        <p:spPr>
          <a:xfrm>
            <a:off x="471488" y="6016934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https://huggingface.co/gihakkk/U-Net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D25BF-025E-AF8C-F0D6-C29A2D860A25}"/>
              </a:ext>
            </a:extLst>
          </p:cNvPr>
          <p:cNvSpPr txBox="1"/>
          <p:nvPr/>
        </p:nvSpPr>
        <p:spPr>
          <a:xfrm>
            <a:off x="471488" y="5647602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모델 코드</a:t>
            </a:r>
          </a:p>
        </p:txBody>
      </p:sp>
    </p:spTree>
    <p:extLst>
      <p:ext uri="{BB962C8B-B14F-4D97-AF65-F5344CB8AC3E}">
        <p14:creationId xmlns:p14="http://schemas.microsoft.com/office/powerpoint/2010/main" val="343635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3999" y="3429000"/>
            <a:ext cx="9144000" cy="92910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감사합니다</a:t>
            </a:r>
          </a:p>
        </p:txBody>
      </p:sp>
      <p:sp>
        <p:nvSpPr>
          <p:cNvPr id="4" name="부제목 2"/>
          <p:cNvSpPr txBox="1"/>
          <p:nvPr/>
        </p:nvSpPr>
        <p:spPr>
          <a:xfrm>
            <a:off x="9524498" y="504826"/>
            <a:ext cx="2287003" cy="52546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ONECLICK AI </a:t>
            </a:r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4309</TotalTime>
  <Words>3160</Words>
  <Application>Microsoft Office PowerPoint</Application>
  <PresentationFormat>와이드스크린</PresentationFormat>
  <Paragraphs>507</Paragraphs>
  <Slides>44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0" baseType="lpstr">
      <vt:lpstr>맑은 고딕</vt:lpstr>
      <vt:lpstr>Arial</vt:lpstr>
      <vt:lpstr>Cambria Math</vt:lpstr>
      <vt:lpstr>Consolas</vt:lpstr>
      <vt:lpstr>Roboto</vt:lpstr>
      <vt:lpstr>Office 테마</vt:lpstr>
      <vt:lpstr>정규화와 UNet</vt:lpstr>
      <vt:lpstr>목차</vt:lpstr>
      <vt:lpstr>1. 정규화의 종류와 차이 정규화?</vt:lpstr>
      <vt:lpstr>1. 정규화의 종류와 차이 정규화?</vt:lpstr>
      <vt:lpstr>1. 정규화의 종류와 차이 정규화?</vt:lpstr>
      <vt:lpstr>1. 정규화의 종류와 차이 정규화?</vt:lpstr>
      <vt:lpstr>1. 정규화의 종류와 차이 1. Batch Normalization?</vt:lpstr>
      <vt:lpstr>1. 정규화의 종류와 차이 1. Batch Normalization?</vt:lpstr>
      <vt:lpstr>1. 정규화의 종류와 차이 1. Batch Normalization?</vt:lpstr>
      <vt:lpstr>1. 정규화의 종류와 차이 1. Batch Normalization?</vt:lpstr>
      <vt:lpstr>1. 정규화의 종류와 차이 1. Batch Normalization?</vt:lpstr>
      <vt:lpstr>1. 정규화의 종류와 차이 1. Batch Normalization?</vt:lpstr>
      <vt:lpstr>1. 정규화의 종류와 차이 2. Layer Normalization?</vt:lpstr>
      <vt:lpstr>1. 정규화의 종류와 차이 3. 비교</vt:lpstr>
      <vt:lpstr>1. 정규화의 종류와 차이 norm?</vt:lpstr>
      <vt:lpstr>1. 정규화의 종류와 차이 norm?</vt:lpstr>
      <vt:lpstr>1. 정규화의 종류와 차이 norm?</vt:lpstr>
      <vt:lpstr>1. 정규화의 종류와 차이 norm?</vt:lpstr>
      <vt:lpstr>1. 정규화의 종류와 차이 norm?</vt:lpstr>
      <vt:lpstr>1. 정규화의 종류와 차이 비교</vt:lpstr>
      <vt:lpstr>2. U-Net 알아보기 어떻게 생겼을까?</vt:lpstr>
      <vt:lpstr>2. U-Net 알아보기 어떻게 생겼을까?</vt:lpstr>
      <vt:lpstr>2. U-Net 알아보기 Encoder?</vt:lpstr>
      <vt:lpstr>2. U-Net 알아보기 Encoder?</vt:lpstr>
      <vt:lpstr>2. U-Net 알아보기 Encoder?</vt:lpstr>
      <vt:lpstr>2. U-Net 알아보기 Encoder?</vt:lpstr>
      <vt:lpstr>2. U-Net 알아보기 Encoder?</vt:lpstr>
      <vt:lpstr>2. U-Net 알아보기 Decoder?</vt:lpstr>
      <vt:lpstr>2. U-Net 알아보기 Decoder?</vt:lpstr>
      <vt:lpstr>2. U-Net 알아보기 Decoder?</vt:lpstr>
      <vt:lpstr>2. U-Net 알아보기 Decoder?</vt:lpstr>
      <vt:lpstr>2. U-Net 알아보기 Decoder?</vt:lpstr>
      <vt:lpstr>2. U-Net 알아보기 Decoder?</vt:lpstr>
      <vt:lpstr>2. U-Net 알아보기 Decoder?</vt:lpstr>
      <vt:lpstr>2. U-Net 알아보기 Decoder?</vt:lpstr>
      <vt:lpstr>2. U-Net 알아보기 최종출력?</vt:lpstr>
      <vt:lpstr>2. U-Net 알아보기 최종출력?</vt:lpstr>
      <vt:lpstr>2. U-Net 알아보기 최종출력?</vt:lpstr>
      <vt:lpstr>2. U-Net 알아보기 종합</vt:lpstr>
      <vt:lpstr>2. U-Net 알아보기 U-Net? Yolo?</vt:lpstr>
      <vt:lpstr>2. U-Net 알아보기 U-Net? Yolo?</vt:lpstr>
      <vt:lpstr>2. U-Net 알아보기 Encoder, Decoder</vt:lpstr>
      <vt:lpstr>2. U-Net 알아보기 Encoder, Decoder</vt:lpstr>
      <vt:lpstr>감사합니다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준모 연</dc:creator>
  <cp:lastModifiedBy>준모 연</cp:lastModifiedBy>
  <cp:revision>1362</cp:revision>
  <dcterms:created xsi:type="dcterms:W3CDTF">2025-09-14T00:36:28Z</dcterms:created>
  <dcterms:modified xsi:type="dcterms:W3CDTF">2025-11-07T01:54:05Z</dcterms:modified>
  <cp:version/>
</cp:coreProperties>
</file>