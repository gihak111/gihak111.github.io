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notesMasterIdLst>
    <p:notesMasterId r:id="rId38"/>
  </p:notesMasterIdLst>
  <p:sldIdLst>
    <p:sldId id="256" r:id="rId2"/>
    <p:sldId id="257" r:id="rId3"/>
    <p:sldId id="403" r:id="rId4"/>
    <p:sldId id="258" r:id="rId5"/>
    <p:sldId id="404" r:id="rId6"/>
    <p:sldId id="427" r:id="rId7"/>
    <p:sldId id="405" r:id="rId8"/>
    <p:sldId id="428" r:id="rId9"/>
    <p:sldId id="406" r:id="rId10"/>
    <p:sldId id="429" r:id="rId11"/>
    <p:sldId id="430" r:id="rId12"/>
    <p:sldId id="407" r:id="rId13"/>
    <p:sldId id="339" r:id="rId14"/>
    <p:sldId id="409" r:id="rId15"/>
    <p:sldId id="431" r:id="rId16"/>
    <p:sldId id="432" r:id="rId17"/>
    <p:sldId id="410" r:id="rId18"/>
    <p:sldId id="411" r:id="rId19"/>
    <p:sldId id="412" r:id="rId20"/>
    <p:sldId id="417" r:id="rId21"/>
    <p:sldId id="416" r:id="rId22"/>
    <p:sldId id="413" r:id="rId23"/>
    <p:sldId id="421" r:id="rId24"/>
    <p:sldId id="414" r:id="rId25"/>
    <p:sldId id="433" r:id="rId26"/>
    <p:sldId id="418" r:id="rId27"/>
    <p:sldId id="422" r:id="rId28"/>
    <p:sldId id="426" r:id="rId29"/>
    <p:sldId id="419" r:id="rId30"/>
    <p:sldId id="420" r:id="rId31"/>
    <p:sldId id="415" r:id="rId32"/>
    <p:sldId id="423" r:id="rId33"/>
    <p:sldId id="424" r:id="rId34"/>
    <p:sldId id="434" r:id="rId35"/>
    <p:sldId id="425" r:id="rId36"/>
    <p:sldId id="317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준모 연" initials="준연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48" autoAdjust="0"/>
    <p:restoredTop sz="76308" autoAdjust="0"/>
  </p:normalViewPr>
  <p:slideViewPr>
    <p:cSldViewPr snapToGrid="0">
      <p:cViewPr varScale="1">
        <p:scale>
          <a:sx n="69" d="100"/>
          <a:sy n="69" d="100"/>
        </p:scale>
        <p:origin x="1023" y="48"/>
      </p:cViewPr>
      <p:guideLst>
        <p:guide orient="horz" pos="2152"/>
        <p:guide pos="3839"/>
      </p:guideLst>
    </p:cSldViewPr>
  </p:slideViewPr>
  <p:outlineViewPr>
    <p:cViewPr>
      <p:scale>
        <a:sx n="33" d="100"/>
        <a:sy n="33" d="100"/>
      </p:scale>
      <p:origin x="0" y="-8745"/>
    </p:cViewPr>
  </p:outlin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DFDBACCB-0E87-4E5C-AB5C-F4DB0E77C948}" type="datetime1">
              <a:rPr lang="ko-KR" altLang="en-US"/>
              <a:pPr lvl="0">
                <a:defRPr/>
              </a:pPr>
              <a:t>2025-11-13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A786029F-E1D5-4E18-87C2-5A622CF4BCF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869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D3EEF-BCB7-2148-BDE3-EB0212843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0D3682-2283-5874-77BE-C91E16476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DC7296-9696-2784-611D-4B9508C7C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F8DE2E-648E-636E-0C64-A0CCE820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014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743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5BBC7-D4F8-7966-818B-54385008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29857-8B07-3FD8-B6A3-21EAC20C5E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FDB381-3E7C-0585-5CD3-0171925CD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1A4BF3-26DE-4733-0945-C18A7C7C5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30253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4234A-CE5D-AD80-8947-DC1E71683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E02E93-6728-1E7D-7F80-BAFA80722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52788A-1AB7-3116-5A1E-4A3AB5D5A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4E945-30CA-E995-1B73-EA9F68E86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9070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53B23-22F4-ADE2-A93B-7A193D06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0E8C22-30A7-09B9-08AD-71231166AE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8BFD9B-69C3-2A0B-2240-4636D18D2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2A75F9-A9D5-B97C-F981-EB6B24F1E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13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87BE5-1BAA-71EE-0410-D829A2EA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386CD1-CE4E-1A48-B77C-4FB4FCCB6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785FD6-3D9A-D01C-0B5B-4089F6EEF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64712E-9EE0-4013-32E1-7E6FB7C7C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931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DB3CA-1A35-80D5-4C60-4C501864A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CACACE-572A-68B7-C5B7-67B5E49F4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774612-C50E-F43D-228E-50453B778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5D50CC-6C59-F04C-125B-63284E7146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1911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89F8-2600-0E1B-2970-5E69880A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486D9D-AE2D-24BA-4011-BE9DACFE3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BB5B67-1DD4-DB97-E1D8-10549516D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2EBE36-1B5A-66B8-B367-8B09EC354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54384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2FB1C-357E-575C-D853-5A03215B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3289AC-A0E2-F8BC-AD22-88DEABC923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099DA6-9C7E-C184-4AFC-4A83335EE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D3E657-B018-CDE2-0F1C-B05C0B5B1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70589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BFCBA-CD88-F63D-3F07-6551CE024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D06F50-C76B-D1A8-9D48-562CA839A9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3FEE1A-39D3-A739-066F-D582C32C3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19490D-9DF2-7791-CFE9-61F31725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3945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50D1-EC7D-6AEA-F875-AD7A5AC5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D2C752-6214-A207-C2FD-79F095AE7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84E083-B5CD-1C69-3E69-9DE4EE6C0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95DF-FE30-6020-3344-277477ACE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602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28F78-E164-F4B2-46D0-1244CBEC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279428-4541-F590-FD9C-FC610EB63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5DB00C-E452-215B-B06E-F196FC5A4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334C2A-6508-4D28-05EC-CE80FE482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2108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EB96C-55EF-688F-4F56-51A260AE6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1C951C-7589-104C-DB8C-F4FB6512D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769B62-9376-3CD9-F31A-FE05503BB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1E177-6CE8-D445-54C4-0EB17E5D1A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1253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12DF-DBD4-F9CE-4F51-7F95BB1CD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135AE2-3B80-80D4-380F-20E64C87A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4ADA89-7676-3998-FC4E-D35FAC4DE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E0DB10-F52B-ADC8-D840-31E946310C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3653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40B-E458-37AA-70A2-5DFEEC53D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495B90-55CD-3C50-5D3C-EF4F7A1B5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01F162-62CD-DCA1-147D-A91F1C7DA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1313D0-3C33-9A0D-FF58-88FE1FC7C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7166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1C4A-C65F-7AED-1E64-D212638CE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34778-E411-6C4A-B970-556FCA664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1CBEC1-6F42-9A67-989E-9831C49B8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5E2F93-E9F6-5FBB-7304-077B8D6C7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6273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4307F-C9EC-F2B9-9AE2-5490F12D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2D3DAF-A266-B191-0325-C0AE1250E9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BF5DF5-870F-1706-0FEE-0FE60C43C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E35BCB-927F-3C00-E9B3-39A2BCBA81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6402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8D4D-9FAA-AF74-5D87-43300834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8764E6-2769-933D-6F2A-6AC78E34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F86749-24F0-2A17-D7F5-3520BCD45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1FE26-8F27-C99C-4CA9-44BF48C00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98547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F62B0-FC5A-A86A-B472-2F82A7422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24ACA8-791F-8211-5F4B-5057CB961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546E8D-C412-361C-7C13-E6A2DB997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32905B-40DC-0764-6142-393590CF5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3863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D022F-D705-7193-37A0-9B064646A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71BAAB-4DF4-6262-E2E8-B343768F9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E46E6E-7F83-9286-7EEA-C726723B5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A252AB-A6B3-3DBC-8530-6B619A2FD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5635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1D2BE-2AD9-E1BD-59C5-C418915AB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AE1B20-02D0-0900-E306-F1953B8583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8123FC-F068-5E4D-F8D0-7D96DEB5C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58B79F-807B-4348-F90E-43CD5D84D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2771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7E4FA-E6F8-5C12-D27D-811F5CA98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79178B-7301-4B3A-3991-A72BDED03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0A3094-C4BD-42F4-1748-553C4496C1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F469CE-FEC2-0869-C58E-7FCC5E97BC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8060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EE997-DA57-67A5-6EF3-A71F95DB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2BEC8D-0DC5-2AC8-585C-E7DA17379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150AEE-8FB2-E1AB-F857-245D410E7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E3B42D-41DD-DFA6-67D4-708731600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9043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B8E9D-7CEB-6D87-5445-A4B42381C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9D4707-D3C6-D1D6-DF5D-89C85C818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75355F-1CFD-FD67-2A36-DD0B090A5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08A4C9-68D1-74B2-42E1-6C27CC8F5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2727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7C637-7FD7-D334-6A67-BF3C5B535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95D01C-B28F-DFC7-7AE2-5F70A73C5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C08638-2E27-06AC-605D-E97E9ACF69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01340-214F-AE51-D04F-13E5E52FB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7993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1862F-65EC-AC8A-8548-3BAC54EF0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845596-338C-7043-4CDF-4EEC230A0C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0C512D-D77E-11A4-98DA-A3086E5A7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20B14-F6D6-4290-8BDD-218B0D3C0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50773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E70F9-5627-A4E9-B411-8D6D90E7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999197-BBA4-819B-9511-923364077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92069-A4D4-4E0F-8E88-AA70150C88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6AE23-5AFD-F3E2-627A-2CBF98FDF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43872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5755-A2BB-03D8-EDBD-7C94D78D9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1EF9F4-AA75-385A-2EA2-77F9D296E5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A55560-4DE7-33EA-6C10-ED45615E5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CD549D-1965-20C1-4B53-5DC9E43F6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4972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81AB9-B5A5-590E-D486-4AC3E768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A57825-36AA-6672-D216-E062C71E3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C561D0-E511-DEFA-FC73-F5A4D43BF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FB1602-B6AE-EE26-6C48-156C5A4EFB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6346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0F73D-CA3F-D87C-1224-179D792A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1F9248-35FF-AFE7-6CE7-16314BF13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A211E1-9AF7-49B6-D9BA-78682B38C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4C55C9-764F-4BC7-11B2-158F505D35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82756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B90C-8BEB-79EA-2BE9-7382A61F2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38F37B-B671-E7A7-268C-8E392831D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59C3B6-AE1D-6FD3-6C39-453781B828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E08F58-99AD-FF49-82FD-C4C398FEF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3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3A49B-4226-35FB-AC02-B1BC4B1E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6C62A9-25BB-0F6F-0E69-CE75C86EE3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091EDC-EBF6-F697-CAF0-7566C0FA8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3E7B00-26D8-4B17-9DE2-B786F7060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56676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D93B9-A5FE-8D43-C020-E0A7A04D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338675-CCA5-1A5B-D1BF-64764BCC1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29112D-B986-EE8A-9688-1238A37BA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65F3EA-8F28-A29A-1C56-B4D3D8DC3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A786029F-E1D5-4E18-87C2-5A622CF4BCFF}" type="slidenum">
              <a:rPr lang="ko-KR" altLang="en-US" smtClean="0"/>
              <a:pPr lvl="0">
                <a:defRPr/>
              </a:pPr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884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5DD97-6BD2-7F1A-56CD-916138F0E9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A61964-6009-DA2D-BA11-5E9431432F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FF5538-5026-B440-E870-938F34A75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0F26F7-3014-C216-9213-4B66D2092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99A04F-F800-67FD-EB82-AF813411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92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3FA43-B27A-8AF3-D4A5-F480EFC6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8A93A1-BA4E-F9F7-EACC-939C83ED3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D8D99A-9802-39D6-0561-21841FEFC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579433-A55F-C5A0-FB91-91FC4861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1524533-3DED-EB84-8271-0E6987D88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666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8429EC-C4D4-5CFF-5078-79595BEAF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AFF3B3-B7C2-D0E5-A59B-7F11DB18C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01D125-12D4-5A37-00B7-0930644DB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94A980-D2C5-611C-C0BC-E9B8D9B76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BF1819-AB8D-4349-3BA8-C0BD6FDBF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3292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1778FE-1386-AF82-2AE8-9E54CBFBB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CA720-09C7-1E18-068D-63B78A1CBF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AACDBD-BBB3-6024-2082-165C7F9AB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385B38-9A67-1CC5-56E0-CA0304C85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836481-9389-1B16-A139-3471AE4DE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4B6A52-F7DD-C6BD-AF58-23AA83611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4988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8288" y="517024"/>
            <a:ext cx="10515600" cy="617202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C86BE707-1330-4C19-83FC-0E737F95D1C2}" type="datetime1">
              <a:rPr lang="ko-KR" altLang="en-US"/>
              <a:pPr lvl="0">
                <a:defRPr/>
              </a:pPr>
              <a:t>2025-11-13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670557C8-A104-45B7-8B57-F3516A4E231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cxnSp>
        <p:nvCxnSpPr>
          <p:cNvPr id="11" name="직선 연결선 10"/>
          <p:cNvCxnSpPr>
            <a:cxnSpLocks/>
          </p:cNvCxnSpPr>
          <p:nvPr userDrawn="1"/>
        </p:nvCxnSpPr>
        <p:spPr>
          <a:xfrm>
            <a:off x="0" y="1362326"/>
            <a:ext cx="12192000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>
            <a:cxnSpLocks/>
          </p:cNvCxnSpPr>
          <p:nvPr userDrawn="1"/>
        </p:nvCxnSpPr>
        <p:spPr>
          <a:xfrm>
            <a:off x="0" y="140769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>
            <a:cxnSpLocks/>
          </p:cNvCxnSpPr>
          <p:nvPr userDrawn="1"/>
        </p:nvCxnSpPr>
        <p:spPr>
          <a:xfrm flipV="1">
            <a:off x="11163300" y="5924550"/>
            <a:ext cx="1076325" cy="985838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>
            <a:cxnSpLocks/>
          </p:cNvCxnSpPr>
          <p:nvPr userDrawn="1"/>
        </p:nvCxnSpPr>
        <p:spPr>
          <a:xfrm flipV="1">
            <a:off x="11272838" y="5972175"/>
            <a:ext cx="966787" cy="8858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부제목 2"/>
          <p:cNvSpPr txBox="1"/>
          <p:nvPr userDrawn="1"/>
        </p:nvSpPr>
        <p:spPr>
          <a:xfrm>
            <a:off x="9524498" y="504826"/>
            <a:ext cx="2287003" cy="52546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marL="0" lv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/>
              <a:buNone/>
              <a:defRPr/>
            </a:pPr>
            <a:r>
              <a:rPr kumimoji="0" lang="en-US" altLang="ko-KR" sz="2400" b="0" i="0" u="none" strike="noStrike" kern="1200" cap="none" spc="0" normalizeH="0" baseline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ONECLICK AI </a:t>
            </a:r>
          </a:p>
          <a:p>
            <a:pPr marL="0" lv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/>
              <a:buNone/>
              <a:defRPr/>
            </a:pPr>
            <a:endParaRPr kumimoji="0" lang="ko-KR" altLang="en-US" sz="2400" b="0" i="0" u="none" strike="noStrike" kern="1200" cap="none" spc="0" normalizeH="0" baseline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4CA16-F5B9-16A5-9D78-B8A5D0C3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DD5047-DD6A-312E-0B9D-2A75A355B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C35573-6CFA-561F-58A5-FE99FCE5D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405F01-04F9-D9DA-E053-B2E887563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417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CFFDEE5-DF14-52F1-D32E-4B542F993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F4EACB-5FCB-6DAD-2294-1355E7C23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E7F40-14E3-911A-6570-668B5216F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421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D1351B-368E-5CD9-4CFD-6921B2BAD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CD1BAE-3AA6-17B3-A129-B152E23C1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6E956EC-61E2-6755-AB96-ED1DA20A5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5FB4AE-20C3-C9E2-2D17-713B1C293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AF4851-A85F-C9AA-B08F-2F235C129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DA87B5-BEEF-1A6A-4F9C-76D7F3379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946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6287F7-C27F-F797-1AA0-197CB2898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AEE96E-F966-B66C-2887-26BD90013A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755A6F7-91D6-829A-8601-0F0755A97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C7E4AC-C368-50A4-311F-FAFB8A3E1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682CAB-6FA4-224E-E77A-FB93BB73C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6F8F0B-2656-AAE2-F937-3F3A9269C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121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F3F03-F05E-CC31-67D2-D5E05DCC7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0EE68B3-B825-9F19-CB0E-F9512FE1A7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453078-5B8A-933C-5208-FF3A2A795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586A19-8200-36D6-196A-2E82CD97E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C53544-9DDA-77E3-AF6F-00539D4AE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581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D19FEDA-A0B7-A46F-CCDB-FAEEB49B3C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1A7D75-F6A5-5543-4FC6-DB37269477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D4EA2A-7002-EC2B-F002-976CCC0C8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2DBB29-966D-82BB-08BC-840DB8CAE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B567F3-B82F-9230-AE55-E619C7CCB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731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C38C6FB-7909-5633-D16F-15BF229ED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4C77CC-5864-3185-283E-7EA88EDA0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9A1075-8865-C673-C805-B3A57F6B8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BE707-1330-4C19-83FC-0E737F95D1C2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F18A0B-215F-7988-65FB-6013E00506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3771D2-7DF7-BCE5-EDD5-1D279F56D9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0557C8-A104-45B7-8B57-F3516A4E2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2757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21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5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0.png"/><Relationship Id="rId11" Type="http://schemas.openxmlformats.org/officeDocument/2006/relationships/image" Target="../media/image151.png"/><Relationship Id="rId10" Type="http://schemas.openxmlformats.org/officeDocument/2006/relationships/image" Target="../media/image15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6.png"/><Relationship Id="rId4" Type="http://schemas.openxmlformats.org/officeDocument/2006/relationships/image" Target="../media/image15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7.png"/><Relationship Id="rId4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6.png"/><Relationship Id="rId4" Type="http://schemas.openxmlformats.org/officeDocument/2006/relationships/image" Target="../media/image5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dirty="0"/>
              <a:t>Attention</a:t>
            </a:r>
            <a:r>
              <a:rPr lang="ko-KR" altLang="en-US" dirty="0"/>
              <a:t>과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/>
              <a:t>연준모</a:t>
            </a:r>
          </a:p>
        </p:txBody>
      </p:sp>
      <p:sp>
        <p:nvSpPr>
          <p:cNvPr id="4" name="부제목 2"/>
          <p:cNvSpPr txBox="1"/>
          <p:nvPr/>
        </p:nvSpPr>
        <p:spPr>
          <a:xfrm>
            <a:off x="9524498" y="504826"/>
            <a:ext cx="2287003" cy="52546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altLang="ko-KR" dirty="0"/>
              <a:t>ONECLICK AI </a:t>
            </a:r>
          </a:p>
          <a:p>
            <a:pPr lvl="0">
              <a:defRPr/>
            </a:pPr>
            <a:endParaRPr lang="ko-KR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82588" y="396374"/>
            <a:ext cx="10515600" cy="617202"/>
          </a:xfrm>
        </p:spPr>
        <p:txBody>
          <a:bodyPr/>
          <a:lstStyle/>
          <a:p>
            <a:pPr lvl="0">
              <a:defRPr/>
            </a:pPr>
            <a:r>
              <a:rPr lang="ko-KR" altLang="en-US" dirty="0"/>
              <a:t>목차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2"/>
          </p:nvPr>
        </p:nvSpPr>
        <p:spPr>
          <a:xfrm>
            <a:off x="719292" y="3197049"/>
            <a:ext cx="7196136" cy="15513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  <a:defRPr/>
            </a:pPr>
            <a:r>
              <a:rPr lang="en-US" altLang="ko-KR" dirty="0"/>
              <a:t>Attention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15C65-DE14-800A-45ED-9867D3F64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57C2B-4707-1AAC-7A52-643F2070A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BD8C7C4-4505-FD2F-8A41-48DCDCEEA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30" name="내용 개체 틀 3">
            <a:extLst>
              <a:ext uri="{FF2B5EF4-FFF2-40B4-BE49-F238E27FC236}">
                <a16:creationId xmlns:a16="http://schemas.microsoft.com/office/drawing/2014/main" id="{49480EC3-AB7C-CEBD-FC71-FE56D2AD7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488" y="2374130"/>
            <a:ext cx="11297948" cy="2557099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ko-KR" altLang="en-US" sz="1800" dirty="0">
                <a:latin typeface="Cambria Math" panose="02040503050406030204" pitchFamily="18" charset="0"/>
              </a:rPr>
              <a:t>들어오는 데이터의 량은 엄청나게 많다</a:t>
            </a:r>
            <a:endParaRPr lang="en-US" altLang="ko-KR" sz="1800" dirty="0">
              <a:latin typeface="Cambria Math" panose="02040503050406030204" pitchFamily="18" charset="0"/>
            </a:endParaRPr>
          </a:p>
          <a:p>
            <a:pPr marL="0" indent="0">
              <a:buNone/>
              <a:defRPr/>
            </a:pPr>
            <a:r>
              <a:rPr lang="ko-KR" altLang="en-US" sz="1800" dirty="0">
                <a:latin typeface="Cambria Math" panose="02040503050406030204" pitchFamily="18" charset="0"/>
              </a:rPr>
              <a:t>특히</a:t>
            </a:r>
            <a:r>
              <a:rPr lang="en-US" altLang="ko-KR" sz="1800" dirty="0">
                <a:latin typeface="Cambria Math" panose="02040503050406030204" pitchFamily="18" charset="0"/>
              </a:rPr>
              <a:t>, </a:t>
            </a:r>
            <a:r>
              <a:rPr lang="ko-KR" altLang="en-US" sz="1800" dirty="0" err="1">
                <a:latin typeface="Cambria Math" panose="02040503050406030204" pitchFamily="18" charset="0"/>
              </a:rPr>
              <a:t>시퀜스</a:t>
            </a:r>
            <a:r>
              <a:rPr lang="ko-KR" altLang="en-US" sz="1800" dirty="0">
                <a:latin typeface="Cambria Math" panose="02040503050406030204" pitchFamily="18" charset="0"/>
              </a:rPr>
              <a:t> 데이터는 입력 데이터가 많으면 먼저 들어온 정보가 소실된다는 것을 우리는 배웠다</a:t>
            </a:r>
            <a:r>
              <a:rPr lang="en-US" altLang="ko-KR" sz="1800" dirty="0">
                <a:latin typeface="Cambria Math" panose="02040503050406030204" pitchFamily="18" charset="0"/>
              </a:rPr>
              <a:t>.(RNN)</a:t>
            </a:r>
          </a:p>
          <a:p>
            <a:pPr marL="0" indent="0">
              <a:buNone/>
              <a:defRPr/>
            </a:pPr>
            <a:r>
              <a:rPr lang="en-US" altLang="ko-KR" sz="1800" dirty="0">
                <a:latin typeface="Cambria Math" panose="02040503050406030204" pitchFamily="18" charset="0"/>
              </a:rPr>
              <a:t>Attention</a:t>
            </a:r>
            <a:r>
              <a:rPr lang="ko-KR" altLang="en-US" sz="1800" dirty="0">
                <a:latin typeface="Cambria Math" panose="02040503050406030204" pitchFamily="18" charset="0"/>
              </a:rPr>
              <a:t>은 </a:t>
            </a:r>
            <a:r>
              <a:rPr lang="ko-KR" altLang="en-US" sz="1800" dirty="0"/>
              <a:t>모든 정보를 동일하게 보지 않고</a:t>
            </a:r>
            <a:r>
              <a:rPr lang="en-US" altLang="ko-KR" sz="1800" dirty="0"/>
              <a:t>, </a:t>
            </a:r>
            <a:r>
              <a:rPr lang="ko-KR" altLang="en-US" sz="1800" dirty="0"/>
              <a:t>현재 작업과 </a:t>
            </a:r>
            <a:r>
              <a:rPr lang="ko-KR" altLang="en-US" sz="1800" b="1" dirty="0"/>
              <a:t>관련된 중요한 정보에만 집중</a:t>
            </a:r>
            <a:r>
              <a:rPr lang="ko-KR" altLang="en-US" sz="1800" dirty="0"/>
              <a:t>하여 </a:t>
            </a:r>
            <a:endParaRPr lang="en-US" altLang="ko-KR" sz="1800" dirty="0"/>
          </a:p>
          <a:p>
            <a:pPr marL="0" indent="0">
              <a:buNone/>
              <a:defRPr/>
            </a:pPr>
            <a:r>
              <a:rPr lang="ko-KR" altLang="en-US" sz="1800" dirty="0"/>
              <a:t>가중치를 부여하는 방법이다</a:t>
            </a:r>
            <a:endParaRPr lang="en-US" altLang="ko-KR" sz="1800" dirty="0">
              <a:latin typeface="Cambria Math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5AE65D-ACBE-BB64-1A6D-3EE4D4DB654C}"/>
              </a:ext>
            </a:extLst>
          </p:cNvPr>
          <p:cNvSpPr txBox="1"/>
          <p:nvPr/>
        </p:nvSpPr>
        <p:spPr>
          <a:xfrm>
            <a:off x="471488" y="3933643"/>
            <a:ext cx="10304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이는</a:t>
            </a:r>
            <a:r>
              <a:rPr lang="en-US" altLang="ko-KR" dirty="0"/>
              <a:t>, </a:t>
            </a:r>
            <a:r>
              <a:rPr lang="ko-KR" altLang="en-US" dirty="0"/>
              <a:t>데이터 베이스 검색과 유사한데</a:t>
            </a:r>
            <a:r>
              <a:rPr lang="en-US" altLang="ko-KR" dirty="0"/>
              <a:t>, </a:t>
            </a:r>
            <a:r>
              <a:rPr lang="ko-KR" altLang="en-US" dirty="0"/>
              <a:t>다음과 같은 값을 사용해서 계산하게 된다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1648A0-027C-6B90-BB6A-54FDEFDAE429}"/>
              </a:ext>
            </a:extLst>
          </p:cNvPr>
          <p:cNvSpPr txBox="1"/>
          <p:nvPr/>
        </p:nvSpPr>
        <p:spPr>
          <a:xfrm>
            <a:off x="471488" y="4627563"/>
            <a:ext cx="85963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Query (Q) </a:t>
            </a:r>
            <a:r>
              <a:rPr lang="en-US" altLang="ko-KR" dirty="0"/>
              <a:t>: </a:t>
            </a:r>
            <a:r>
              <a:rPr lang="ko-KR" altLang="en-US" dirty="0"/>
              <a:t>내가 찾고자 하는 정보 </a:t>
            </a:r>
            <a:r>
              <a:rPr lang="en-US" altLang="ko-KR" dirty="0"/>
              <a:t>(</a:t>
            </a:r>
            <a:r>
              <a:rPr lang="ko-KR" altLang="en-US" dirty="0"/>
              <a:t>검색어</a:t>
            </a:r>
            <a:r>
              <a:rPr lang="en-US" altLang="ko-KR" dirty="0"/>
              <a:t>)</a:t>
            </a:r>
          </a:p>
          <a:p>
            <a:r>
              <a:rPr lang="en-US" altLang="ko-KR" b="1" dirty="0"/>
              <a:t>Key (K) </a:t>
            </a:r>
            <a:r>
              <a:rPr lang="en-US" altLang="ko-KR" dirty="0"/>
              <a:t>: </a:t>
            </a:r>
            <a:r>
              <a:rPr lang="ko-KR" altLang="en-US" dirty="0"/>
              <a:t>검색 대상이 되는 정보의 식별자 </a:t>
            </a:r>
            <a:r>
              <a:rPr lang="en-US" altLang="ko-KR" dirty="0"/>
              <a:t>(</a:t>
            </a:r>
            <a:r>
              <a:rPr lang="ko-KR" altLang="en-US" dirty="0"/>
              <a:t>데이터베이스의 인덱스</a:t>
            </a:r>
            <a:r>
              <a:rPr lang="en-US" altLang="ko-KR" dirty="0"/>
              <a:t>)</a:t>
            </a:r>
          </a:p>
          <a:p>
            <a:r>
              <a:rPr lang="en-US" altLang="ko-KR" b="1" dirty="0"/>
              <a:t>Value (V) </a:t>
            </a:r>
            <a:r>
              <a:rPr lang="en-US" altLang="ko-KR" dirty="0"/>
              <a:t>: </a:t>
            </a:r>
            <a:r>
              <a:rPr lang="ko-KR" altLang="en-US" dirty="0"/>
              <a:t>식별자에 해당하는 실제 정보 </a:t>
            </a:r>
            <a:r>
              <a:rPr lang="en-US" altLang="ko-KR" dirty="0"/>
              <a:t>(</a:t>
            </a:r>
            <a:r>
              <a:rPr lang="ko-KR" altLang="en-US" dirty="0"/>
              <a:t>데이터베이스의 내용</a:t>
            </a:r>
            <a:r>
              <a:rPr lang="en-US" altLang="ko-K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5AEBA2-0D66-1826-ADFD-ED1824699B0E}"/>
              </a:ext>
            </a:extLst>
          </p:cNvPr>
          <p:cNvSpPr txBox="1"/>
          <p:nvPr/>
        </p:nvSpPr>
        <p:spPr>
          <a:xfrm>
            <a:off x="471487" y="5709468"/>
            <a:ext cx="9593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Q</a:t>
            </a:r>
            <a:r>
              <a:rPr lang="ko-KR" altLang="en-US" dirty="0"/>
              <a:t>가 모든 </a:t>
            </a:r>
            <a:r>
              <a:rPr lang="en-US" altLang="ko-KR" dirty="0"/>
              <a:t>K</a:t>
            </a:r>
            <a:r>
              <a:rPr lang="ko-KR" altLang="en-US" dirty="0"/>
              <a:t>와 얼마나 유사한지</a:t>
            </a:r>
            <a:r>
              <a:rPr lang="en-US" altLang="ko-KR" dirty="0"/>
              <a:t>(</a:t>
            </a:r>
            <a:r>
              <a:rPr lang="ko-KR" altLang="en-US" dirty="0"/>
              <a:t>관련 있는지</a:t>
            </a:r>
            <a:r>
              <a:rPr lang="en-US" altLang="ko-KR" dirty="0"/>
              <a:t>) </a:t>
            </a:r>
            <a:r>
              <a:rPr lang="ko-KR" altLang="en-US" dirty="0"/>
              <a:t>계산하고</a:t>
            </a:r>
            <a:r>
              <a:rPr lang="en-US" altLang="ko-KR" dirty="0"/>
              <a:t>, </a:t>
            </a:r>
            <a:r>
              <a:rPr lang="ko-KR" altLang="en-US" dirty="0"/>
              <a:t>이 유사도를 가중치로 </a:t>
            </a:r>
            <a:endParaRPr lang="en-US" altLang="ko-KR" dirty="0"/>
          </a:p>
          <a:p>
            <a:r>
              <a:rPr lang="ko-KR" altLang="en-US" dirty="0"/>
              <a:t>삼아 </a:t>
            </a:r>
            <a:r>
              <a:rPr lang="en-US" altLang="ko-KR" dirty="0"/>
              <a:t>V</a:t>
            </a:r>
            <a:r>
              <a:rPr lang="ko-KR" altLang="en-US" dirty="0"/>
              <a:t>들의 중합을 계산한다</a:t>
            </a:r>
            <a:r>
              <a:rPr lang="en-US" altLang="ko-KR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54DB55-4C5F-2475-56D9-91FF69735AF0}"/>
              </a:ext>
            </a:extLst>
          </p:cNvPr>
          <p:cNvSpPr txBox="1"/>
          <p:nvPr/>
        </p:nvSpPr>
        <p:spPr>
          <a:xfrm>
            <a:off x="471487" y="6412259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https://arxiv.org/abs/1706.03762</a:t>
            </a:r>
          </a:p>
        </p:txBody>
      </p:sp>
    </p:spTree>
    <p:extLst>
      <p:ext uri="{BB962C8B-B14F-4D97-AF65-F5344CB8AC3E}">
        <p14:creationId xmlns:p14="http://schemas.microsoft.com/office/powerpoint/2010/main" val="359769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2F4FE3-8FF9-31BB-7A38-B89843481E40}"/>
              </a:ext>
            </a:extLst>
          </p:cNvPr>
          <p:cNvSpPr txBox="1"/>
          <p:nvPr/>
        </p:nvSpPr>
        <p:spPr>
          <a:xfrm>
            <a:off x="471488" y="2230438"/>
            <a:ext cx="10466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일반적으로</a:t>
            </a:r>
            <a:r>
              <a:rPr lang="en-US" altLang="ko-KR" dirty="0"/>
              <a:t>(</a:t>
            </a:r>
            <a:r>
              <a:rPr lang="ko-KR" altLang="en-US" dirty="0"/>
              <a:t>특히 </a:t>
            </a:r>
            <a:r>
              <a:rPr lang="en-US" altLang="ko-KR" dirty="0"/>
              <a:t>Attention</a:t>
            </a:r>
            <a:r>
              <a:rPr lang="ko-KR" altLang="en-US" dirty="0"/>
              <a:t>이 주로 사용되는 </a:t>
            </a:r>
            <a:r>
              <a:rPr lang="en-US" altLang="ko-KR" dirty="0"/>
              <a:t>Transformer</a:t>
            </a:r>
            <a:r>
              <a:rPr lang="ko-KR" altLang="en-US" dirty="0"/>
              <a:t>에선</a:t>
            </a:r>
            <a:r>
              <a:rPr lang="en-US" altLang="ko-KR" dirty="0"/>
              <a:t>) </a:t>
            </a:r>
            <a:r>
              <a:rPr lang="ko-KR" altLang="en-US" dirty="0" err="1"/>
              <a:t>행렬곱으로</a:t>
            </a:r>
            <a:r>
              <a:rPr lang="ko-KR" altLang="en-US" dirty="0"/>
              <a:t> 이루어 진다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FF3952-2E78-32CA-ED05-0241CEDEEED5}"/>
                  </a:ext>
                </a:extLst>
              </p:cNvPr>
              <p:cNvSpPr txBox="1"/>
              <p:nvPr/>
            </p:nvSpPr>
            <p:spPr>
              <a:xfrm>
                <a:off x="471488" y="2599770"/>
                <a:ext cx="6130636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 (Query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쿼리 벡터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FF3952-2E78-32CA-ED05-0241CEDEE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599770"/>
                <a:ext cx="6130636" cy="390748"/>
              </a:xfrm>
              <a:prstGeom prst="rect">
                <a:avLst/>
              </a:prstGeom>
              <a:blipFill>
                <a:blip r:embed="rId3"/>
                <a:stretch>
                  <a:fillRect l="-795" t="-9231" b="-153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B1B1066-323C-F4FB-20D7-2B52D54AC2DF}"/>
                  </a:ext>
                </a:extLst>
              </p:cNvPr>
              <p:cNvSpPr txBox="1"/>
              <p:nvPr/>
            </p:nvSpPr>
            <p:spPr>
              <a:xfrm>
                <a:off x="471488" y="2969102"/>
                <a:ext cx="61306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K (Key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키 벡터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B1B1066-323C-F4FB-20D7-2B52D54AC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969102"/>
                <a:ext cx="6130636" cy="369332"/>
              </a:xfrm>
              <a:prstGeom prst="rect">
                <a:avLst/>
              </a:prstGeom>
              <a:blipFill>
                <a:blip r:embed="rId4"/>
                <a:stretch>
                  <a:fillRect l="-795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59131E-3888-27A0-4342-8C23122D82CE}"/>
                  </a:ext>
                </a:extLst>
              </p:cNvPr>
              <p:cNvSpPr txBox="1"/>
              <p:nvPr/>
            </p:nvSpPr>
            <p:spPr>
              <a:xfrm>
                <a:off x="471488" y="3334901"/>
                <a:ext cx="61306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 (Value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밸류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벡터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59131E-3888-27A0-4342-8C23122D8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3334901"/>
                <a:ext cx="6130636" cy="369332"/>
              </a:xfrm>
              <a:prstGeom prst="rect">
                <a:avLst/>
              </a:prstGeom>
              <a:blipFill>
                <a:blip r:embed="rId5"/>
                <a:stretch>
                  <a:fillRect l="-795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C0132A5C-0727-5B3C-A20C-2D9D4F4D5280}"/>
              </a:ext>
            </a:extLst>
          </p:cNvPr>
          <p:cNvSpPr txBox="1"/>
          <p:nvPr/>
        </p:nvSpPr>
        <p:spPr>
          <a:xfrm>
            <a:off x="471488" y="4041995"/>
            <a:ext cx="10466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Transformer</a:t>
            </a:r>
            <a:r>
              <a:rPr lang="ko-KR" altLang="en-US" dirty="0"/>
              <a:t> 모델에선 </a:t>
            </a:r>
            <a:r>
              <a:rPr lang="en-US" altLang="ko-KR" dirty="0"/>
              <a:t>Self-Attention</a:t>
            </a:r>
            <a:r>
              <a:rPr lang="ko-KR" altLang="en-US" dirty="0"/>
              <a:t>을 사용하게 되는데</a:t>
            </a:r>
            <a:r>
              <a:rPr lang="en-US" altLang="ko-KR" dirty="0"/>
              <a:t>,(</a:t>
            </a:r>
            <a:r>
              <a:rPr lang="ko-KR" altLang="en-US" dirty="0"/>
              <a:t>다음주 예정</a:t>
            </a:r>
            <a:r>
              <a:rPr lang="en-US" altLang="ko-KR" dirty="0"/>
              <a:t>), </a:t>
            </a:r>
            <a:r>
              <a:rPr lang="ko-KR" altLang="en-US" dirty="0"/>
              <a:t>여기서는 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4F32257-AD15-BDE6-84A8-1FF7CEC19461}"/>
                  </a:ext>
                </a:extLst>
              </p:cNvPr>
              <p:cNvSpPr txBox="1"/>
              <p:nvPr/>
            </p:nvSpPr>
            <p:spPr>
              <a:xfrm>
                <a:off x="471488" y="4406367"/>
                <a:ext cx="12526385" cy="68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𝐾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𝑉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모두 동일한 입력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 각각 다른 가중치 행렬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𝑄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𝑉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곱하여 생성</a:t>
                </a:r>
                <a:r>
                  <a:rPr lang="ko-KR" altLang="en-US" dirty="0"/>
                  <a:t>된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𝐾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𝑉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𝑉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여기서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𝑊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행렬들은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다른 기저로 투영하는 선형 변환 이다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4F32257-AD15-BDE6-84A8-1FF7CEC19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4406367"/>
                <a:ext cx="12526385" cy="685444"/>
              </a:xfrm>
              <a:prstGeom prst="rect">
                <a:avLst/>
              </a:prstGeom>
              <a:blipFill>
                <a:blip r:embed="rId6"/>
                <a:stretch>
                  <a:fillRect l="-97" t="-6250" b="-98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CD0D3-8239-61C0-8086-415C8BC9B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071026-154A-91AF-F3ED-B1EFBEA70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93C83DAE-CF89-1D39-3B83-EE1C7F9E5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E16B71-4AB5-7BF0-DBB0-00F88AA7C0DE}"/>
              </a:ext>
            </a:extLst>
          </p:cNvPr>
          <p:cNvSpPr txBox="1"/>
          <p:nvPr/>
        </p:nvSpPr>
        <p:spPr>
          <a:xfrm>
            <a:off x="471488" y="2230438"/>
            <a:ext cx="10466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식은 다음과 같다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7CFDF0-C3A3-B4E5-BCD7-AE63CB89BA5E}"/>
                  </a:ext>
                </a:extLst>
              </p:cNvPr>
              <p:cNvSpPr txBox="1"/>
              <p:nvPr/>
            </p:nvSpPr>
            <p:spPr>
              <a:xfrm>
                <a:off x="471488" y="2599770"/>
                <a:ext cx="4048991" cy="8082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sz="1800" i="0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Attention</m:t>
                      </m:r>
                      <m:d>
                        <m:d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𝑄</m:t>
                          </m:r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𝐾</m:t>
                          </m:r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𝑉</m:t>
                          </m:r>
                        </m:e>
                      </m:d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1800" i="0" kern="1200" dirty="0" err="1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softmax</m:t>
                      </m:r>
                      <m:d>
                        <m:d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800" i="1" kern="1200" dirty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altLang="ko-KR" sz="1800" i="1" kern="1200" dirty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altLang="ko-KR" sz="1800" i="1" kern="1200" dirty="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800" i="1" kern="1200" dirty="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altLang="ko-KR" sz="1800" i="1" kern="1200" dirty="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800" i="1" kern="1200" dirty="0" smtClean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ko-KR" sz="1800" i="1" kern="1200" dirty="0" err="1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800" i="1" kern="1200" dirty="0" err="1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altLang="ko-KR" sz="1800" i="1" kern="1200" dirty="0" err="1" smtClean="0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𝑉</m:t>
                      </m:r>
                    </m:oMath>
                  </m:oMathPara>
                </a14:m>
                <a:endParaRPr lang="en-US" altLang="ko-KR" sz="18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7CFDF0-C3A3-B4E5-BCD7-AE63CB89B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599770"/>
                <a:ext cx="4048991" cy="8082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2B8D992-CC17-C76F-82EB-A3F32CD89FEC}"/>
              </a:ext>
            </a:extLst>
          </p:cNvPr>
          <p:cNvSpPr txBox="1"/>
          <p:nvPr/>
        </p:nvSpPr>
        <p:spPr>
          <a:xfrm>
            <a:off x="471488" y="3592671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</a:t>
            </a:r>
            <a:r>
              <a:rPr lang="en-US" altLang="ko-KR"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8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유사도 계산 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AB56AA-898B-95DF-8968-25067F7FDD5A}"/>
                  </a:ext>
                </a:extLst>
              </p:cNvPr>
              <p:cNvSpPr txBox="1"/>
              <p:nvPr/>
            </p:nvSpPr>
            <p:spPr>
              <a:xfrm>
                <a:off x="619990" y="4082252"/>
                <a:ext cx="1818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𝑆𝑐𝑜𝑟𝑒𝑠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sSup>
                        <m:sSup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𝐾</m:t>
                          </m:r>
                        </m:e>
                        <m:sup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AB56AA-898B-95DF-8968-25067F7FD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0" y="4082252"/>
                <a:ext cx="1818409" cy="369332"/>
              </a:xfrm>
              <a:prstGeom prst="rect">
                <a:avLst/>
              </a:prstGeom>
              <a:blipFill>
                <a:blip r:embed="rId4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E47C5-84A3-56BC-7994-F2E81F8B1F86}"/>
                  </a:ext>
                </a:extLst>
              </p:cNvPr>
              <p:cNvSpPr txBox="1"/>
              <p:nvPr/>
            </p:nvSpPr>
            <p:spPr>
              <a:xfrm>
                <a:off x="471488" y="4571833"/>
                <a:ext cx="10466676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연산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행렬과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K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전치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(Transpose)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e>
                      <m:sup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곱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E47C5-84A3-56BC-7994-F2E81F8B1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4571833"/>
                <a:ext cx="10466676" cy="390748"/>
              </a:xfrm>
              <a:prstGeom prst="rect">
                <a:avLst/>
              </a:prstGeom>
              <a:blipFill>
                <a:blip r:embed="rId5"/>
                <a:stretch>
                  <a:fillRect l="-466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D619D87-9D43-EC17-FB41-0A9AF03F0733}"/>
                  </a:ext>
                </a:extLst>
              </p:cNvPr>
              <p:cNvSpPr txBox="1"/>
              <p:nvPr/>
            </p:nvSpPr>
            <p:spPr>
              <a:xfrm>
                <a:off x="471488" y="4962581"/>
                <a:ext cx="6130636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결과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s</m:t>
                    </m:r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𝑐𝑜𝑟𝑒𝑠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D619D87-9D43-EC17-FB41-0A9AF03F0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4962581"/>
                <a:ext cx="6130636" cy="390748"/>
              </a:xfrm>
              <a:prstGeom prst="rect">
                <a:avLst/>
              </a:prstGeom>
              <a:blipFill>
                <a:blip r:embed="rId6"/>
                <a:stretch>
                  <a:fillRect l="-795" t="-9375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40A3363-BF24-7D77-BC1F-0D5F40A74DBB}"/>
                  </a:ext>
                </a:extLst>
              </p:cNvPr>
              <p:cNvSpPr txBox="1"/>
              <p:nvPr/>
            </p:nvSpPr>
            <p:spPr>
              <a:xfrm>
                <a:off x="471488" y="5331913"/>
                <a:ext cx="1202531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행렬 곱의 결과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𝑆𝑐𝑜𝑟𝑒</m:t>
                    </m:r>
                    <m:sSub>
                      <m:sSub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𝑠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:r>
                  <a:rPr lang="en-US" altLang="ko-KR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번째 쿼리 벡터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j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번째 키 벡터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내적</a:t>
                </a:r>
                <a:r>
                  <a:rPr lang="ko-KR" altLang="en-US" dirty="0"/>
                  <a:t>이다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40A3363-BF24-7D77-BC1F-0D5F40A74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5331913"/>
                <a:ext cx="12025312" cy="391646"/>
              </a:xfrm>
              <a:prstGeom prst="rect">
                <a:avLst/>
              </a:prstGeom>
              <a:blipFill>
                <a:blip r:embed="rId7"/>
                <a:stretch>
                  <a:fillRect l="-405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073D4D4-961F-3CBC-6C20-DBEA08DE7364}"/>
                  </a:ext>
                </a:extLst>
              </p:cNvPr>
              <p:cNvSpPr txBox="1"/>
              <p:nvPr/>
            </p:nvSpPr>
            <p:spPr>
              <a:xfrm>
                <a:off x="471488" y="5678931"/>
                <a:ext cx="200890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</m:t>
                      </m:r>
                      <m:sSub>
                        <m:sSub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𝑖𝑗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073D4D4-961F-3CBC-6C20-DBEA08DE7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5678931"/>
                <a:ext cx="2008909" cy="391646"/>
              </a:xfrm>
              <a:prstGeom prst="rect">
                <a:avLst/>
              </a:prstGeom>
              <a:blipFill>
                <a:blip r:embed="rId8"/>
                <a:stretch>
                  <a:fillRect t="-10938" r="-1515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6D41AF5-97B5-D30E-F6DB-0CB9D349E0E9}"/>
                  </a:ext>
                </a:extLst>
              </p:cNvPr>
              <p:cNvSpPr txBox="1"/>
              <p:nvPr/>
            </p:nvSpPr>
            <p:spPr>
              <a:xfrm>
                <a:off x="471487" y="6008225"/>
                <a:ext cx="10515167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벡터 내적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𝑎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𝑏</m:t>
                    </m:r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</m:d>
                      </m:e>
                    </m:d>
                    <m:d>
                      <m:dPr>
                        <m:begChr m:val="|"/>
                        <m:endChr m:val="|"/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</m:d>
                      </m:e>
                    </m:d>
                    <m:func>
                      <m:funcPr>
                        <m:ctrlPr>
                          <a:rPr lang="en-US" altLang="ko-KR" sz="180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800" i="0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두 벡터의 유사도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(Similarity)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측정한다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6D41AF5-97B5-D30E-F6DB-0CB9D349E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6008225"/>
                <a:ext cx="10515167" cy="404983"/>
              </a:xfrm>
              <a:prstGeom prst="rect">
                <a:avLst/>
              </a:prstGeom>
              <a:blipFill>
                <a:blip r:embed="rId9"/>
                <a:stretch>
                  <a:fillRect l="-464" t="-6061" b="-181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FD59796-3EA5-8F4C-BB6B-1ECFEA5BB405}"/>
                  </a:ext>
                </a:extLst>
              </p:cNvPr>
              <p:cNvSpPr txBox="1"/>
              <p:nvPr/>
            </p:nvSpPr>
            <p:spPr>
              <a:xfrm>
                <a:off x="471486" y="6313140"/>
                <a:ext cx="8763000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얼마나 정렬되어 있는지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방향이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비슷한지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나타낸다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FD59796-3EA5-8F4C-BB6B-1ECFEA5BB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6313140"/>
                <a:ext cx="8763000" cy="391646"/>
              </a:xfrm>
              <a:prstGeom prst="rect">
                <a:avLst/>
              </a:prstGeom>
              <a:blipFill>
                <a:blip r:embed="rId10"/>
                <a:stretch>
                  <a:fillRect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B367624-2088-0898-1156-E56D14CF9912}"/>
              </a:ext>
            </a:extLst>
          </p:cNvPr>
          <p:cNvSpPr txBox="1"/>
          <p:nvPr/>
        </p:nvSpPr>
        <p:spPr>
          <a:xfrm>
            <a:off x="5704826" y="1923189"/>
            <a:ext cx="62501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비유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V =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도서관에 있는 모든 책의 내용 그 자체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K =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모든 책의 제목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키워드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Q =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나의 리포트 주제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고양이와 관련된 역사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23056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524B8-E1DA-8309-913E-839E50F1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C76559-1884-B22B-BA62-B1954D201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B877FD5-A466-6D86-2906-7A8BCB69A2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F0C97-CD19-BFD1-1844-B65BADBAC1A8}"/>
              </a:ext>
            </a:extLst>
          </p:cNvPr>
          <p:cNvSpPr txBox="1"/>
          <p:nvPr/>
        </p:nvSpPr>
        <p:spPr>
          <a:xfrm>
            <a:off x="471490" y="242888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유사도 계산 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774E2B-5165-EB5F-4A5D-39C569FF5B9B}"/>
                  </a:ext>
                </a:extLst>
              </p:cNvPr>
              <p:cNvSpPr txBox="1"/>
              <p:nvPr/>
            </p:nvSpPr>
            <p:spPr>
              <a:xfrm>
                <a:off x="619992" y="2918470"/>
                <a:ext cx="1818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𝑆𝑐𝑜𝑟𝑒𝑠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sSup>
                        <m:sSup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𝐾</m:t>
                          </m:r>
                        </m:e>
                        <m:sup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774E2B-5165-EB5F-4A5D-39C569FF5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2" y="2918470"/>
                <a:ext cx="1818409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CF2E962-37A8-2F04-5828-0B7C388FE3A6}"/>
              </a:ext>
            </a:extLst>
          </p:cNvPr>
          <p:cNvSpPr txBox="1"/>
          <p:nvPr/>
        </p:nvSpPr>
        <p:spPr>
          <a:xfrm>
            <a:off x="471490" y="3408051"/>
            <a:ext cx="10466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모든 </a:t>
            </a:r>
            <a:r>
              <a:rPr lang="en-US" altLang="ko-KR" b="1" dirty="0"/>
              <a:t>Q</a:t>
            </a:r>
            <a:r>
              <a:rPr lang="ko-KR" altLang="en-US" b="1" dirty="0"/>
              <a:t>와 모든 </a:t>
            </a:r>
            <a:r>
              <a:rPr lang="en-US" altLang="ko-KR" b="1" dirty="0"/>
              <a:t>K</a:t>
            </a:r>
            <a:r>
              <a:rPr lang="ko-KR" altLang="en-US" b="1" dirty="0"/>
              <a:t>를 한 번에 비교</a:t>
            </a:r>
            <a:r>
              <a:rPr lang="ko-KR" altLang="en-US" dirty="0"/>
              <a:t>하는 매우 효율적인 방법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12684-420B-30BA-D2F1-DA94C0E0E902}"/>
              </a:ext>
            </a:extLst>
          </p:cNvPr>
          <p:cNvSpPr txBox="1"/>
          <p:nvPr/>
        </p:nvSpPr>
        <p:spPr>
          <a:xfrm>
            <a:off x="471488" y="3740882"/>
            <a:ext cx="108857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세로 </a:t>
            </a:r>
            <a:r>
              <a:rPr lang="ko-KR" altLang="en-US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백터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전치를 통해 가로가 된 가로백터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곱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=&gt; 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원소 조합에 대한 연산 가능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96A01AB-E01E-EA3D-DC67-66AE38A726B7}"/>
                  </a:ext>
                </a:extLst>
              </p:cNvPr>
              <p:cNvSpPr txBox="1"/>
              <p:nvPr/>
            </p:nvSpPr>
            <p:spPr>
              <a:xfrm>
                <a:off x="619992" y="4191390"/>
                <a:ext cx="200890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</m:t>
                      </m:r>
                      <m:sSub>
                        <m:sSub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𝑖𝑗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96A01AB-E01E-EA3D-DC67-66AE38A72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2" y="4191390"/>
                <a:ext cx="2008909" cy="391646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46921AA0-2497-8D26-E1F7-DC893187DE6A}"/>
              </a:ext>
            </a:extLst>
          </p:cNvPr>
          <p:cNvSpPr txBox="1"/>
          <p:nvPr/>
        </p:nvSpPr>
        <p:spPr>
          <a:xfrm>
            <a:off x="2849058" y="425837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내적을 해야 얼마나 유사한지 측정할 수 있다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F11581-8E3D-4759-E911-2690712F6F43}"/>
                  </a:ext>
                </a:extLst>
              </p:cNvPr>
              <p:cNvSpPr txBox="1"/>
              <p:nvPr/>
            </p:nvSpPr>
            <p:spPr>
              <a:xfrm>
                <a:off x="619992" y="4751348"/>
                <a:ext cx="9531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accent1"/>
                    </a:solidFill>
                    <a:effectLst/>
                    <a:ea typeface="+mn-ea"/>
                    <a:cs typeface="+mn-cs"/>
                  </a:rPr>
                  <a:t> 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내 주제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고양이와 관련된 역사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r>
                  <a:rPr lang="en-US" altLang="ko-KR" sz="1800" kern="1200" dirty="0">
                    <a:solidFill>
                      <a:schemeClr val="accent1"/>
                    </a:solidFill>
                    <a:effectLst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</m:t>
                    </m:r>
                  </m:oMath>
                </a14:m>
                <a:r>
                  <a:rPr lang="ko-KR" alt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책 제목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고양이의 역사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 =&gt;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높은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점수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(90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점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endParaRPr lang="ko-KR" alt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F11581-8E3D-4759-E911-2690712F6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2" y="4751348"/>
                <a:ext cx="9531926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F211EBF-BAEB-ACE5-E4A1-1AE0ECE1886E}"/>
                  </a:ext>
                </a:extLst>
              </p:cNvPr>
              <p:cNvSpPr txBox="1"/>
              <p:nvPr/>
            </p:nvSpPr>
            <p:spPr>
              <a:xfrm>
                <a:off x="619992" y="5192295"/>
                <a:ext cx="9531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accent1"/>
                    </a:solidFill>
                    <a:effectLst/>
                    <a:ea typeface="+mn-ea"/>
                    <a:cs typeface="+mn-cs"/>
                  </a:rPr>
                  <a:t> 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내 주제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고양이와 관련된 역사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r>
                  <a:rPr lang="en-US" altLang="ko-KR" sz="1800" kern="1200" dirty="0">
                    <a:solidFill>
                      <a:schemeClr val="accent1"/>
                    </a:solidFill>
                    <a:effectLst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</m:t>
                    </m:r>
                  </m:oMath>
                </a14:m>
                <a:r>
                  <a:rPr lang="ko-KR" alt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책 제목 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군주론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 =&gt;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낮은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 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점수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(15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점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endParaRPr lang="ko-KR" alt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F211EBF-BAEB-ACE5-E4A1-1AE0ECE18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92" y="5192295"/>
                <a:ext cx="9531926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1509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63023-BC6E-9C72-D5E2-314E91352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9982F-1F47-906E-5746-9EB962BF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3B15E27-A1BC-AFCA-338E-EBFEEC069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6C4C98-B59B-6FA4-508E-CFB9CE9C0E34}"/>
              </a:ext>
            </a:extLst>
          </p:cNvPr>
          <p:cNvSpPr txBox="1"/>
          <p:nvPr/>
        </p:nvSpPr>
        <p:spPr>
          <a:xfrm>
            <a:off x="471486" y="2251854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</a:t>
            </a:r>
            <a:r>
              <a:rPr lang="ko-KR" altLang="en-US" b="1" dirty="0"/>
              <a:t>단계</a:t>
            </a:r>
            <a:r>
              <a:rPr lang="en-US" altLang="ko-KR" b="1" dirty="0"/>
              <a:t>: </a:t>
            </a:r>
            <a:r>
              <a:rPr lang="ko-KR" altLang="en-US" b="1" dirty="0"/>
              <a:t>가중치 계산 </a:t>
            </a:r>
            <a:r>
              <a:rPr lang="en-US" altLang="ko-KR" b="1" dirty="0"/>
              <a:t>with</a:t>
            </a:r>
            <a:r>
              <a:rPr lang="ko-KR" altLang="en-US" b="1" dirty="0"/>
              <a:t> </a:t>
            </a:r>
            <a:r>
              <a:rPr lang="en-US" altLang="ko-KR" b="1" dirty="0" err="1"/>
              <a:t>Softmax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42C4BB-BEE4-8C54-2A0A-10C0A09DF9AB}"/>
              </a:ext>
            </a:extLst>
          </p:cNvPr>
          <p:cNvSpPr txBox="1"/>
          <p:nvPr/>
        </p:nvSpPr>
        <p:spPr>
          <a:xfrm>
            <a:off x="471486" y="3521384"/>
            <a:ext cx="865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연산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D6D9EF7-7764-DDA8-D552-38D46DDFAF1D}"/>
                  </a:ext>
                </a:extLst>
              </p:cNvPr>
              <p:cNvSpPr txBox="1"/>
              <p:nvPr/>
            </p:nvSpPr>
            <p:spPr>
              <a:xfrm>
                <a:off x="471486" y="2592900"/>
                <a:ext cx="2431473" cy="8082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𝐴</m:t>
                      </m:r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1800" i="0" kern="1200" dirty="0" err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softmax</m:t>
                      </m:r>
                      <m:d>
                        <m:dPr>
                          <m:ctrlP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𝑆𝑐𝑜𝑟𝑒𝑠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80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ko-KR" sz="1800" i="1" kern="1200" dirty="0" err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1800" i="1" kern="1200" dirty="0" err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altLang="ko-KR" sz="1800" i="1" kern="1200" dirty="0" err="1"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D6D9EF7-7764-DDA8-D552-38D46DDFA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2592900"/>
                <a:ext cx="2431473" cy="80823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4B00AD-DD6C-B99D-4A32-1D2F58F678D3}"/>
                  </a:ext>
                </a:extLst>
              </p:cNvPr>
              <p:cNvSpPr txBox="1"/>
              <p:nvPr/>
            </p:nvSpPr>
            <p:spPr>
              <a:xfrm>
                <a:off x="1160749" y="3492580"/>
                <a:ext cx="11259851" cy="7047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스케일링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𝑆𝑐𝑜𝑟𝑒𝑠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행렬의 모든 요소를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나</a:t>
                </a:r>
                <a:r>
                  <a:rPr lang="ko-KR" altLang="en-US" dirty="0"/>
                  <a:t>눈다</a:t>
                </a:r>
                <a:r>
                  <a:rPr lang="en-US" altLang="ko-KR" dirty="0"/>
                  <a:t>. 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 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내적 값이 너무 커져서 </a:t>
                </a:r>
                <a:r>
                  <a:rPr lang="en-US" altLang="ko-KR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Softmax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기울기가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되는 것을 방지하기 위한 안정화 장치이다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4B00AD-DD6C-B99D-4A32-1D2F58F6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749" y="3492580"/>
                <a:ext cx="11259851" cy="704745"/>
              </a:xfrm>
              <a:prstGeom prst="rect">
                <a:avLst/>
              </a:prstGeom>
              <a:blipFill>
                <a:blip r:embed="rId7"/>
                <a:stretch>
                  <a:fillRect l="-433" b="-12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0857597-9020-BD00-D17B-EEC0334D5918}"/>
                  </a:ext>
                </a:extLst>
              </p:cNvPr>
              <p:cNvSpPr txBox="1"/>
              <p:nvPr/>
            </p:nvSpPr>
            <p:spPr>
              <a:xfrm>
                <a:off x="1160749" y="5613433"/>
                <a:ext cx="1053941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Softmax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스케일링된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𝑆𝑐𝑜𝑟𝑒𝑠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행렬의 각 행에 대해 </a:t>
                </a:r>
                <a:r>
                  <a:rPr lang="en-US" altLang="ko-KR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Softmax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적용한다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0857597-9020-BD00-D17B-EEC0334D5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749" y="5613433"/>
                <a:ext cx="10539415" cy="369332"/>
              </a:xfrm>
              <a:prstGeom prst="rect">
                <a:avLst/>
              </a:prstGeom>
              <a:blipFill>
                <a:blip r:embed="rId8"/>
                <a:stretch>
                  <a:fillRect l="-463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86074B4-C88F-1294-9669-6649E6115140}"/>
              </a:ext>
            </a:extLst>
          </p:cNvPr>
          <p:cNvSpPr txBox="1"/>
          <p:nvPr/>
        </p:nvSpPr>
        <p:spPr>
          <a:xfrm>
            <a:off x="1160749" y="4351381"/>
            <a:ext cx="1027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점수</a:t>
            </a:r>
            <a:r>
              <a:rPr lang="en-US" altLang="ko-KR" dirty="0"/>
              <a:t>(90)</a:t>
            </a:r>
            <a:r>
              <a:rPr lang="ko-KR" altLang="en-US" dirty="0"/>
              <a:t>가 너무 크면</a:t>
            </a:r>
            <a:r>
              <a:rPr lang="en-US" altLang="ko-KR" dirty="0"/>
              <a:t>, </a:t>
            </a:r>
            <a:r>
              <a:rPr lang="en-US" altLang="ko-KR" dirty="0" err="1"/>
              <a:t>Softmax</a:t>
            </a:r>
            <a:r>
              <a:rPr lang="ko-KR" altLang="en-US" dirty="0"/>
              <a:t>가 </a:t>
            </a:r>
            <a:r>
              <a:rPr lang="en-US" altLang="ko-KR" dirty="0"/>
              <a:t>"</a:t>
            </a:r>
            <a:r>
              <a:rPr lang="ko-KR" altLang="en-US" dirty="0"/>
              <a:t>이 책 </a:t>
            </a:r>
            <a:r>
              <a:rPr lang="en-US" altLang="ko-KR" dirty="0"/>
              <a:t>100%, </a:t>
            </a:r>
            <a:r>
              <a:rPr lang="ko-KR" altLang="en-US" dirty="0"/>
              <a:t>나머지 </a:t>
            </a:r>
            <a:r>
              <a:rPr lang="en-US" altLang="ko-KR" dirty="0"/>
              <a:t>0%"</a:t>
            </a:r>
            <a:r>
              <a:rPr lang="ko-KR" altLang="en-US" dirty="0"/>
              <a:t>처럼 너무 극단적인 결과가 나온다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AE11D6-17C5-E1D3-401F-9B4343901C9C}"/>
                  </a:ext>
                </a:extLst>
              </p:cNvPr>
              <p:cNvSpPr txBox="1"/>
              <p:nvPr/>
            </p:nvSpPr>
            <p:spPr>
              <a:xfrm>
                <a:off x="1160749" y="4720713"/>
                <a:ext cx="10664106" cy="42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800" i="1" kern="1200" dirty="0" err="1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키 벡터의 차원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라는 값으로 점수들을 나눠서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점수 차이를 진정시키는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안정화 장치</a:t>
                </a:r>
                <a:endParaRPr lang="en-US" altLang="ko-KR" sz="18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AE11D6-17C5-E1D3-401F-9B4343901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749" y="4720713"/>
                <a:ext cx="10664106" cy="427746"/>
              </a:xfrm>
              <a:prstGeom prst="rect">
                <a:avLst/>
              </a:prstGeom>
              <a:blipFill>
                <a:blip r:embed="rId9"/>
                <a:stretch>
                  <a:fillRect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956DA5-A3EF-1CB2-2E76-14DDC91C5AED}"/>
                  </a:ext>
                </a:extLst>
              </p:cNvPr>
              <p:cNvSpPr txBox="1"/>
              <p:nvPr/>
            </p:nvSpPr>
            <p:spPr>
              <a:xfrm>
                <a:off x="1336962" y="5134400"/>
                <a:ext cx="62085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accent1"/>
                    </a:solidFill>
                  </a:rPr>
                  <a:t>(</a:t>
                </a:r>
                <a:r>
                  <a:rPr lang="ko-KR" altLang="en-US" dirty="0">
                    <a:solidFill>
                      <a:schemeClr val="accent1"/>
                    </a:solidFill>
                  </a:rPr>
                  <a:t>예</a:t>
                </a:r>
                <a:r>
                  <a:rPr lang="en-US" altLang="ko-KR" dirty="0">
                    <a:solidFill>
                      <a:schemeClr val="accent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90 →9.0</m:t>
                    </m:r>
                  </m:oMath>
                </a14:m>
                <a:r>
                  <a:rPr lang="en-US" altLang="ko-KR" dirty="0">
                    <a:solidFill>
                      <a:schemeClr val="accent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15 →1.5</m:t>
                    </m:r>
                  </m:oMath>
                </a14:m>
                <a:r>
                  <a:rPr lang="en-US" altLang="ko-KR" dirty="0">
                    <a:solidFill>
                      <a:schemeClr val="accent1"/>
                    </a:solidFill>
                  </a:rPr>
                  <a:t>)</a:t>
                </a:r>
                <a:endParaRPr lang="en-US" altLang="ko-KR" sz="1800" kern="1200" dirty="0">
                  <a:solidFill>
                    <a:schemeClr val="accent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956DA5-A3EF-1CB2-2E76-14DDC91C5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962" y="5134400"/>
                <a:ext cx="6208568" cy="369332"/>
              </a:xfrm>
              <a:prstGeom prst="rect">
                <a:avLst/>
              </a:prstGeom>
              <a:blipFill>
                <a:blip r:embed="rId10"/>
                <a:stretch>
                  <a:fillRect l="-785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6F29FA-0EAC-323D-5C11-278043D0795C}"/>
                  </a:ext>
                </a:extLst>
              </p:cNvPr>
              <p:cNvSpPr txBox="1"/>
              <p:nvPr/>
            </p:nvSpPr>
            <p:spPr>
              <a:xfrm>
                <a:off x="1336962" y="6027120"/>
                <a:ext cx="62085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accent1"/>
                    </a:solidFill>
                  </a:rPr>
                  <a:t>(9.0, 1.5)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</m:oMath>
                </a14:m>
                <a:r>
                  <a:rPr lang="en-US" altLang="ko-KR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ko-KR" sz="1800" b="1" kern="1200" dirty="0">
                    <a:solidFill>
                      <a:schemeClr val="accent1"/>
                    </a:solidFill>
                    <a:effectLst/>
                    <a:latin typeface="+mn-lt"/>
                    <a:ea typeface="+mn-ea"/>
                    <a:cs typeface="+mn-cs"/>
                  </a:rPr>
                  <a:t>(85%, 15%)</a:t>
                </a:r>
                <a:endParaRPr lang="en-US" altLang="ko-KR" sz="1800" kern="1200" dirty="0">
                  <a:solidFill>
                    <a:schemeClr val="accent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6F29FA-0EAC-323D-5C11-278043D07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962" y="6027120"/>
                <a:ext cx="6208568" cy="369332"/>
              </a:xfrm>
              <a:prstGeom prst="rect">
                <a:avLst/>
              </a:prstGeom>
              <a:blipFill>
                <a:blip r:embed="rId11"/>
                <a:stretch>
                  <a:fillRect l="-785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DD0B0538-D999-8818-1182-14238C823411}"/>
              </a:ext>
            </a:extLst>
          </p:cNvPr>
          <p:cNvSpPr txBox="1"/>
          <p:nvPr/>
        </p:nvSpPr>
        <p:spPr>
          <a:xfrm>
            <a:off x="471486" y="6340976"/>
            <a:ext cx="11550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고양이의 역사 책에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85%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집중하고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군주론 책에는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15%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만 집중하라는 명확한 집중도 레시피가 만들어 진다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238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2564B-5178-A56D-4FD0-49B60B2D5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8CA139-C4F8-6FFD-1F97-00E12AC29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B7FCDB2-C6C7-D13A-1ABA-5E34EB473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B54914-2696-2AAD-19B6-91FB6CD9759E}"/>
              </a:ext>
            </a:extLst>
          </p:cNvPr>
          <p:cNvSpPr txBox="1"/>
          <p:nvPr/>
        </p:nvSpPr>
        <p:spPr>
          <a:xfrm>
            <a:off x="471486" y="2251854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</a:t>
            </a:r>
            <a:r>
              <a:rPr lang="ko-KR" altLang="en-US" b="1" dirty="0"/>
              <a:t>단계</a:t>
            </a:r>
            <a:r>
              <a:rPr lang="en-US" altLang="ko-KR" b="1" dirty="0"/>
              <a:t>: </a:t>
            </a:r>
            <a:r>
              <a:rPr lang="ko-KR" altLang="en-US" b="1" dirty="0"/>
              <a:t>가중치 계산 </a:t>
            </a:r>
            <a:r>
              <a:rPr lang="en-US" altLang="ko-KR" b="1" dirty="0"/>
              <a:t>with</a:t>
            </a:r>
            <a:r>
              <a:rPr lang="ko-KR" altLang="en-US" b="1" dirty="0"/>
              <a:t> </a:t>
            </a:r>
            <a:r>
              <a:rPr lang="en-US" altLang="ko-KR" b="1" dirty="0" err="1"/>
              <a:t>Softmax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D08A62-BA46-1BF0-345F-C2B357CEFDAE}"/>
                  </a:ext>
                </a:extLst>
              </p:cNvPr>
              <p:cNvSpPr txBox="1"/>
              <p:nvPr/>
            </p:nvSpPr>
            <p:spPr>
              <a:xfrm>
                <a:off x="471486" y="2715351"/>
                <a:ext cx="6130636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b="1" dirty="0"/>
                  <a:t>결과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dirty="0"/>
                  <a:t> (Attention Weight </a:t>
                </a:r>
                <a:r>
                  <a:rPr lang="ko-KR" altLang="en-US" dirty="0"/>
                  <a:t>행렬</a:t>
                </a:r>
                <a:r>
                  <a:rPr lang="en-US" altLang="ko-KR" dirty="0"/>
                  <a:t>)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dirty="0"/>
                  <a:t>).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D08A62-BA46-1BF0-345F-C2B357CEF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2715351"/>
                <a:ext cx="6130636" cy="390748"/>
              </a:xfrm>
              <a:prstGeom prst="rect">
                <a:avLst/>
              </a:prstGeom>
              <a:blipFill>
                <a:blip r:embed="rId3"/>
                <a:stretch>
                  <a:fillRect l="-795" t="-9231" b="-153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FE68B11-5C24-6018-1281-3DB9A76270D8}"/>
                  </a:ext>
                </a:extLst>
              </p:cNvPr>
              <p:cNvSpPr txBox="1"/>
              <p:nvPr/>
            </p:nvSpPr>
            <p:spPr>
              <a:xfrm>
                <a:off x="471486" y="3084683"/>
                <a:ext cx="12025312" cy="668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 err="1"/>
                  <a:t>Softmax</a:t>
                </a:r>
                <a:r>
                  <a:rPr lang="ko-KR" altLang="en-US" dirty="0"/>
                  <a:t>는 각 행의 값</a:t>
                </a:r>
                <a:r>
                  <a:rPr lang="en-US" altLang="ko-KR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ko-KR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/>
                  <a:t>가 모든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ko-KR" i="1" dirty="0" err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와 갖는 유사도 점수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을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과 </a:t>
                </a:r>
                <a:r>
                  <a:rPr lang="en-US" altLang="ko-KR" dirty="0"/>
                  <a:t>1 </a:t>
                </a:r>
                <a:r>
                  <a:rPr lang="ko-KR" altLang="en-US" dirty="0"/>
                  <a:t>사이의 값으로 </a:t>
                </a:r>
                <a:r>
                  <a:rPr lang="ko-KR" altLang="en-US" dirty="0" err="1"/>
                  <a:t>정규화하며</a:t>
                </a:r>
                <a:r>
                  <a:rPr lang="en-US" altLang="ko-KR" dirty="0"/>
                  <a:t>, </a:t>
                </a:r>
              </a:p>
              <a:p>
                <a:r>
                  <a:rPr lang="ko-KR" altLang="en-US" b="1" dirty="0"/>
                  <a:t>각 행의 합이 </a:t>
                </a:r>
                <a:r>
                  <a:rPr lang="en-US" altLang="ko-KR" b="1" dirty="0"/>
                  <a:t>1</a:t>
                </a:r>
                <a:r>
                  <a:rPr lang="ko-KR" altLang="en-US" dirty="0"/>
                  <a:t>이 되도록 만든다는 것을 우리는 이미 알고있다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FE68B11-5C24-6018-1281-3DB9A7627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3084683"/>
                <a:ext cx="12025312" cy="668645"/>
              </a:xfrm>
              <a:prstGeom prst="rect">
                <a:avLst/>
              </a:prstGeom>
              <a:blipFill>
                <a:blip r:embed="rId4"/>
                <a:stretch>
                  <a:fillRect l="-405" t="-5455" b="-127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613DE46-B4E9-E3B7-787E-C81730F209C2}"/>
                  </a:ext>
                </a:extLst>
              </p:cNvPr>
              <p:cNvSpPr txBox="1"/>
              <p:nvPr/>
            </p:nvSpPr>
            <p:spPr>
              <a:xfrm>
                <a:off x="471485" y="3760995"/>
                <a:ext cx="12025312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ko-KR" altLang="en-US" dirty="0"/>
                  <a:t>는 </a:t>
                </a:r>
                <a:r>
                  <a:rPr lang="en-US" altLang="ko-KR" dirty="0" err="1"/>
                  <a:t>i</a:t>
                </a:r>
                <a:r>
                  <a:rPr lang="ko-KR" altLang="en-US" dirty="0"/>
                  <a:t>번째 쿼리가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dirty="0"/>
                  <a:t>번째 </a:t>
                </a:r>
                <a:r>
                  <a:rPr lang="ko-KR" altLang="en-US" dirty="0" err="1"/>
                  <a:t>밸류에</a:t>
                </a:r>
                <a:r>
                  <a:rPr lang="ko-KR" altLang="en-US" dirty="0"/>
                  <a:t> </a:t>
                </a:r>
                <a:r>
                  <a:rPr lang="ko-KR" altLang="en-US" b="1" dirty="0"/>
                  <a:t>얼마나 집중해야 하는지</a:t>
                </a:r>
                <a:r>
                  <a:rPr lang="ko-KR" altLang="en-US" dirty="0"/>
                  <a:t>를 나타내는 </a:t>
                </a:r>
                <a:r>
                  <a:rPr lang="ko-KR" altLang="en-US" b="1" dirty="0"/>
                  <a:t>확률적 가중치</a:t>
                </a:r>
                <a:r>
                  <a:rPr lang="ko-KR" altLang="en-US" dirty="0"/>
                  <a:t>가 된다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613DE46-B4E9-E3B7-787E-C81730F20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5" y="3760995"/>
                <a:ext cx="12025312" cy="391646"/>
              </a:xfrm>
              <a:prstGeom prst="rect">
                <a:avLst/>
              </a:prstGeom>
              <a:blipFill>
                <a:blip r:embed="rId5"/>
                <a:stretch>
                  <a:fillRect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3971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896A7-323C-39EB-413D-68C9E4BE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EB7F78-DB74-50C1-0BB7-EFD15F83A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08BFBE0-74C2-114A-8307-15BA8DA1C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30FA89-1E30-3B96-3BAA-3743EA2E0ED9}"/>
              </a:ext>
            </a:extLst>
          </p:cNvPr>
          <p:cNvSpPr txBox="1"/>
          <p:nvPr/>
        </p:nvSpPr>
        <p:spPr>
          <a:xfrm>
            <a:off x="471486" y="2251854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3</a:t>
            </a:r>
            <a:r>
              <a:rPr lang="ko-KR" altLang="en-US" b="1" dirty="0"/>
              <a:t>단계</a:t>
            </a:r>
            <a:r>
              <a:rPr lang="en-US" altLang="ko-KR" b="1" dirty="0"/>
              <a:t>: </a:t>
            </a:r>
            <a:r>
              <a:rPr lang="ko-KR" altLang="en-US" b="1" dirty="0"/>
              <a:t>가중치 계산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B6A188-9118-B696-92FC-03B1D154E19A}"/>
                  </a:ext>
                </a:extLst>
              </p:cNvPr>
              <p:cNvSpPr txBox="1"/>
              <p:nvPr/>
            </p:nvSpPr>
            <p:spPr>
              <a:xfrm>
                <a:off x="471486" y="3059668"/>
                <a:ext cx="9496859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b="1" dirty="0"/>
                  <a:t>연산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ko-KR" dirty="0"/>
                  <a:t>) </a:t>
                </a:r>
                <a:r>
                  <a:rPr lang="ko-KR" altLang="en-US" dirty="0"/>
                  <a:t>행렬과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altLang="ko-KR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i="1" dirty="0" err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altLang="ko-KR" dirty="0"/>
                  <a:t>) </a:t>
                </a:r>
                <a:r>
                  <a:rPr lang="ko-KR" altLang="en-US" dirty="0"/>
                  <a:t>행렬의 곱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B6A188-9118-B696-92FC-03B1D154E1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3059668"/>
                <a:ext cx="9496859" cy="390748"/>
              </a:xfrm>
              <a:prstGeom prst="rect">
                <a:avLst/>
              </a:prstGeom>
              <a:blipFill>
                <a:blip r:embed="rId3"/>
                <a:stretch>
                  <a:fillRect l="-513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96A613-0B50-5CA7-E897-857A9793F257}"/>
                  </a:ext>
                </a:extLst>
              </p:cNvPr>
              <p:cNvSpPr txBox="1"/>
              <p:nvPr/>
            </p:nvSpPr>
            <p:spPr>
              <a:xfrm>
                <a:off x="471486" y="2592900"/>
                <a:ext cx="24314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ko-KR" dirty="0"/>
                        <m:t>Output</m:t>
                      </m:r>
                      <m:r>
                        <m:rPr>
                          <m:nor/>
                        </m:rPr>
                        <a:rPr lang="en-US" altLang="ko-KR" dirty="0"/>
                        <m:t> = </m:t>
                      </m:r>
                      <m:r>
                        <m:rPr>
                          <m:nor/>
                        </m:rPr>
                        <a:rPr lang="en-US" altLang="ko-KR" dirty="0"/>
                        <m:t>A</m:t>
                      </m:r>
                      <m:r>
                        <m:rPr>
                          <m:nor/>
                        </m:rPr>
                        <a:rPr lang="en-US" altLang="ko-KR" dirty="0"/>
                        <m:t> </m:t>
                      </m:r>
                      <m:r>
                        <m:rPr>
                          <m:nor/>
                        </m:rPr>
                        <a:rPr lang="en-US" altLang="ko-KR" dirty="0"/>
                        <m:t>V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96A613-0B50-5CA7-E897-857A9793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2592900"/>
                <a:ext cx="2431473" cy="369332"/>
              </a:xfrm>
              <a:prstGeom prst="rect">
                <a:avLst/>
              </a:prstGeom>
              <a:blipFill>
                <a:blip r:embed="rId4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A7DE1E9-5C8C-179D-058A-D0589F827BC7}"/>
              </a:ext>
            </a:extLst>
          </p:cNvPr>
          <p:cNvSpPr txBox="1"/>
          <p:nvPr/>
        </p:nvSpPr>
        <p:spPr>
          <a:xfrm>
            <a:off x="471486" y="351956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단계에서 만든 집중도 레시피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ko-KR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Sofrmax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출력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42ED0C-BA6E-51C2-28DD-D209A126A4DE}"/>
              </a:ext>
            </a:extLst>
          </p:cNvPr>
          <p:cNvSpPr txBox="1"/>
          <p:nvPr/>
        </p:nvSpPr>
        <p:spPr>
          <a:xfrm>
            <a:off x="471486" y="388889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책의 내용물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01C34D-1F2F-92CA-EF56-894CB13A8A71}"/>
              </a:ext>
            </a:extLst>
          </p:cNvPr>
          <p:cNvSpPr txBox="1"/>
          <p:nvPr/>
        </p:nvSpPr>
        <p:spPr>
          <a:xfrm>
            <a:off x="471486" y="4361962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둘을 곱하므로 가중평균을 만든다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4D1F4C-4795-D687-DBA6-ABA23A2DC290}"/>
                  </a:ext>
                </a:extLst>
              </p:cNvPr>
              <p:cNvSpPr txBox="1"/>
              <p:nvPr/>
            </p:nvSpPr>
            <p:spPr>
              <a:xfrm>
                <a:off x="377536" y="4887674"/>
                <a:ext cx="2344882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𝑂𝑢𝑡𝑝𝑢</m:t>
                      </m:r>
                      <m:sSub>
                        <m:sSubPr>
                          <m:ctrlP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i="1" kern="1200" dirty="0" err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800" i="1" kern="1200" dirty="0" err="1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4D1F4C-4795-D687-DBA6-ABA23A2DC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36" y="4887674"/>
                <a:ext cx="2344882" cy="763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F5AF643D-4DF4-B107-7DC2-7560D6C9DF89}"/>
              </a:ext>
            </a:extLst>
          </p:cNvPr>
          <p:cNvSpPr txBox="1"/>
          <p:nvPr/>
        </p:nvSpPr>
        <p:spPr>
          <a:xfrm>
            <a:off x="471486" y="5738320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고양이의 역사 내용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85% + </a:t>
            </a:r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군주론 </a:t>
            </a:r>
            <a:r>
              <a:rPr lang="en-US" altLang="ko-KR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15%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7AC0BC-BBE9-BBAA-F787-0922AD1FCCFB}"/>
              </a:ext>
            </a:extLst>
          </p:cNvPr>
          <p:cNvSpPr txBox="1"/>
          <p:nvPr/>
        </p:nvSpPr>
        <p:spPr>
          <a:xfrm>
            <a:off x="471485" y="6195204"/>
            <a:ext cx="115923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이는 고양이라는 단어의 의미를 군주론 관점까지 고려하여 풍부하게 재해석한 결과물이 나온다</a:t>
            </a:r>
            <a:endParaRPr lang="en-US" altLang="ko-KR" sz="1800" kern="1200" dirty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3246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F7366-BC19-5B5F-BD24-19FB342D4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451748-20B9-FAE5-1FDB-F59864EFD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15F88F0-6895-8D84-66FF-E0DCC0D43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026C52-2D72-2C26-0E10-C645B84B5CC6}"/>
                  </a:ext>
                </a:extLst>
              </p:cNvPr>
              <p:cNvSpPr txBox="1"/>
              <p:nvPr/>
            </p:nvSpPr>
            <p:spPr>
              <a:xfrm>
                <a:off x="471486" y="2382405"/>
                <a:ext cx="62484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결과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𝑂𝑢𝑡𝑝𝑢𝑡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𝑁</m:t>
                        </m:r>
                      </m:e>
                      <m:sub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sub>
                    </m:sSub>
                    <m:r>
                      <a:rPr lang="en-US" altLang="ko-KR" sz="180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026C52-2D72-2C26-0E10-C645B84B5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2382405"/>
                <a:ext cx="6248400" cy="390748"/>
              </a:xfrm>
              <a:prstGeom prst="rect">
                <a:avLst/>
              </a:prstGeom>
              <a:blipFill>
                <a:blip r:embed="rId3"/>
                <a:stretch>
                  <a:fillRect l="-780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A7E1A0E-5B23-5923-3B8C-A1C5FE16D948}"/>
              </a:ext>
            </a:extLst>
          </p:cNvPr>
          <p:cNvSpPr txBox="1"/>
          <p:nvPr/>
        </p:nvSpPr>
        <p:spPr>
          <a:xfrm>
            <a:off x="471487" y="2908117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</a:t>
            </a:r>
            <a:r>
              <a:rPr lang="ko-KR" altLang="en-US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어텐션의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최종 결과물이다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525B7-ADB2-09AF-BAEF-D4C7B9A5C654}"/>
                  </a:ext>
                </a:extLst>
              </p:cNvPr>
              <p:cNvSpPr txBox="1"/>
              <p:nvPr/>
            </p:nvSpPr>
            <p:spPr>
              <a:xfrm>
                <a:off x="471486" y="3277449"/>
                <a:ext cx="1229244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𝑂𝑢𝑡𝑝𝑢𝑡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𝑖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번째 행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𝑂𝑢𝑡𝑝𝑢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𝑉</m:t>
                    </m:r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행렬의 모든 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𝑣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밸류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벡터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들의 가중 평균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(Weighted Average)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으로 계산된다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525B7-ADB2-09AF-BAEF-D4C7B9A5C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3277449"/>
                <a:ext cx="12292447" cy="391646"/>
              </a:xfrm>
              <a:prstGeom prst="rect">
                <a:avLst/>
              </a:prstGeom>
              <a:blipFill>
                <a:blip r:embed="rId4"/>
                <a:stretch>
                  <a:fillRect l="-99" t="-10938" b="-17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F73D95-CF16-2A96-01B0-9889594944E8}"/>
                  </a:ext>
                </a:extLst>
              </p:cNvPr>
              <p:cNvSpPr txBox="1"/>
              <p:nvPr/>
            </p:nvSpPr>
            <p:spPr>
              <a:xfrm>
                <a:off x="2098965" y="3803161"/>
                <a:ext cx="6386944" cy="9025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𝑂𝑢𝑡𝑝𝑢</m:t>
                      </m:r>
                      <m:sSub>
                        <m:sSubPr>
                          <m:ctrlP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en-US" altLang="ko-KR" sz="180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𝑗</m:t>
                          </m:r>
                          <m:r>
                            <a:rPr lang="en-US" altLang="ko-KR" sz="180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1800" i="1" kern="1200" dirty="0" err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F73D95-CF16-2A96-01B0-988959494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965" y="3803161"/>
                <a:ext cx="6386944" cy="9025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0C8ED-8779-1B37-8CA6-259D293A15E7}"/>
                  </a:ext>
                </a:extLst>
              </p:cNvPr>
              <p:cNvSpPr txBox="1"/>
              <p:nvPr/>
            </p:nvSpPr>
            <p:spPr>
              <a:xfrm>
                <a:off x="268288" y="4764409"/>
                <a:ext cx="10725294" cy="668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즉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𝑖</m:t>
                    </m:r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번째 쿼리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 대한 응답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𝑂𝑢𝑡𝑝𝑢</m:t>
                    </m:r>
                    <m:sSub>
                      <m:sSubPr>
                        <m:ctrlP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은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와의 관련도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</m:e>
                      <m:sub>
                        <m:r>
                          <a:rPr lang="en-US" altLang="ko-KR" sz="1800" i="1" kern="1200" dirty="0" err="1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높은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밸류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𝑣</m:t>
                        </m:r>
                      </m:e>
                      <m:sub>
                        <m:r>
                          <a:rPr lang="en-US" altLang="ko-KR" sz="1800" i="1" kern="1200" dirty="0" err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많이 가져오고 관련도가 낮은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밸류는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적게 가져와 모두 합친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정보의 종합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벡터이다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0C8ED-8779-1B37-8CA6-259D293A1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88" y="4764409"/>
                <a:ext cx="10725294" cy="668645"/>
              </a:xfrm>
              <a:prstGeom prst="rect">
                <a:avLst/>
              </a:prstGeom>
              <a:blipFill>
                <a:blip r:embed="rId6"/>
                <a:stretch>
                  <a:fillRect l="-455" t="-6422" b="-137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4845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64D15-8DCA-DBE8-942C-3AE6C817C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0089F2-2EC7-1CCB-863A-7635A64C9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2428665-69CA-ED5C-0A27-8C143D2C4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DA7A22-CD5C-BF6B-77DB-8519E096DF2D}"/>
              </a:ext>
            </a:extLst>
          </p:cNvPr>
          <p:cNvSpPr txBox="1"/>
          <p:nvPr/>
        </p:nvSpPr>
        <p:spPr>
          <a:xfrm>
            <a:off x="471488" y="235417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1B5805-D7D1-6B58-310F-D44813493675}"/>
                  </a:ext>
                </a:extLst>
              </p:cNvPr>
              <p:cNvSpPr txBox="1"/>
              <p:nvPr/>
            </p:nvSpPr>
            <p:spPr>
              <a:xfrm>
                <a:off x="471487" y="2910725"/>
                <a:ext cx="10646785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 Q(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내 질문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K(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키워드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얼마나 </a:t>
                </a:r>
                <a:r>
                  <a:rPr lang="ko-KR" altLang="en-US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비슷한지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점수를 매기고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(1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단계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80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sSup>
                      <m:sSupPr>
                        <m:ctrlP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𝐾</m:t>
                        </m:r>
                      </m:e>
                      <m:sup>
                        <m:r>
                          <a:rPr lang="en-US" altLang="ko-KR" sz="180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점수를 집중할 비율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(%)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변환한 뒤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단계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en-US" altLang="ko-KR" sz="18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Softmax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비율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(A)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대로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실제 내용물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들을 섞어서 새로운 종합 정보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(Output)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만드는 과정</a:t>
                </a:r>
              </a:p>
              <a:p>
                <a:endParaRPr lang="en-US" altLang="ko-KR" sz="18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1B5805-D7D1-6B58-310F-D44813493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2910725"/>
                <a:ext cx="10646785" cy="1200329"/>
              </a:xfrm>
              <a:prstGeom prst="rect">
                <a:avLst/>
              </a:prstGeom>
              <a:blipFill>
                <a:blip r:embed="rId3"/>
                <a:stretch>
                  <a:fillRect l="-458" t="-25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7624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22A69-12B3-E83B-CB10-B8C1496D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79A3D4-7E04-0964-E5BF-520D49A84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sz="3600" dirty="0"/>
              <a:t>1. </a:t>
            </a:r>
            <a:r>
              <a:rPr lang="en-US" altLang="ko-KR" dirty="0"/>
              <a:t>Attention</a:t>
            </a:r>
            <a:r>
              <a:rPr lang="ko-KR" altLang="en-US" sz="3600" dirty="0"/>
              <a:t>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48D1282-3E65-29AE-F861-B2D97C081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 lvl="0">
              <a:defRPr/>
            </a:pPr>
            <a:r>
              <a:rPr lang="en-US" altLang="ko-KR" dirty="0"/>
              <a:t>Attention?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43DBC2-B2E5-5DD7-BD8C-3DF599929637}"/>
              </a:ext>
            </a:extLst>
          </p:cNvPr>
          <p:cNvSpPr txBox="1"/>
          <p:nvPr/>
        </p:nvSpPr>
        <p:spPr>
          <a:xfrm>
            <a:off x="471488" y="2847252"/>
            <a:ext cx="101982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어텐션은</a:t>
            </a:r>
            <a:r>
              <a:rPr lang="ko-KR" altLang="en-US" dirty="0"/>
              <a:t> 내적</a:t>
            </a:r>
            <a:r>
              <a:rPr lang="en-US" altLang="ko-KR" dirty="0"/>
              <a:t>(Dot Product)</a:t>
            </a:r>
            <a:r>
              <a:rPr lang="ko-KR" altLang="en-US" dirty="0"/>
              <a:t>을 통해 유사도를 측정하고</a:t>
            </a:r>
            <a:r>
              <a:rPr lang="en-US" altLang="ko-KR" dirty="0"/>
              <a:t>, </a:t>
            </a:r>
            <a:r>
              <a:rPr lang="ko-KR" altLang="en-US" dirty="0"/>
              <a:t>이 유사도를 가중치 삼아 행렬 곱을 통해 가중합을 계산하는</a:t>
            </a:r>
            <a:r>
              <a:rPr lang="en-US" altLang="ko-KR" dirty="0"/>
              <a:t>, </a:t>
            </a:r>
            <a:r>
              <a:rPr lang="ko-KR" altLang="en-US" dirty="0"/>
              <a:t>미분 가능한 정보 추출 메커니즘이다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모든 과정이 행렬 연산으로 구성되어 </a:t>
            </a:r>
            <a:r>
              <a:rPr lang="en-US" altLang="ko-KR" dirty="0"/>
              <a:t>GPU</a:t>
            </a:r>
            <a:r>
              <a:rPr lang="ko-KR" altLang="en-US" dirty="0"/>
              <a:t>에서 매우 효율적으로 병렬 처리될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D996A4-BA2B-7D19-8D0A-E83F1627C53A}"/>
              </a:ext>
            </a:extLst>
          </p:cNvPr>
          <p:cNvSpPr txBox="1"/>
          <p:nvPr/>
        </p:nvSpPr>
        <p:spPr>
          <a:xfrm>
            <a:off x="471488" y="235417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</a:t>
            </a:r>
            <a:endParaRPr lang="en-US" altLang="ko-KR" sz="18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6E99E6-D588-AC7A-1325-69752893B77A}"/>
              </a:ext>
            </a:extLst>
          </p:cNvPr>
          <p:cNvSpPr txBox="1"/>
          <p:nvPr/>
        </p:nvSpPr>
        <p:spPr>
          <a:xfrm>
            <a:off x="471488" y="4030671"/>
            <a:ext cx="12330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정보의 병목 현상</a:t>
            </a:r>
            <a:r>
              <a:rPr lang="en-US" altLang="ko-KR" dirty="0"/>
              <a:t>(</a:t>
            </a:r>
            <a:r>
              <a:rPr lang="ko-KR" altLang="en-US" dirty="0"/>
              <a:t>치매</a:t>
            </a:r>
            <a:r>
              <a:rPr lang="en-US" altLang="ko-KR" dirty="0"/>
              <a:t>)</a:t>
            </a:r>
            <a:r>
              <a:rPr lang="ko-KR" altLang="en-US" dirty="0"/>
              <a:t>을 해결하고 </a:t>
            </a:r>
            <a:r>
              <a:rPr lang="ko-KR" altLang="en-US" b="1" dirty="0"/>
              <a:t>장기 의존성</a:t>
            </a:r>
            <a:r>
              <a:rPr lang="en-US" altLang="ko-KR" b="1" dirty="0"/>
              <a:t>(Long-Term Dependency)</a:t>
            </a:r>
            <a:r>
              <a:rPr lang="ko-KR" altLang="en-US" dirty="0"/>
              <a:t> 문제를 극복하기 위해서 존재한다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FFA3-5667-1460-9116-941DE97419A4}"/>
              </a:ext>
            </a:extLst>
          </p:cNvPr>
          <p:cNvSpPr txBox="1"/>
          <p:nvPr/>
        </p:nvSpPr>
        <p:spPr>
          <a:xfrm>
            <a:off x="471488" y="4400003"/>
            <a:ext cx="12330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트랜스포머 등장 이후의 </a:t>
            </a:r>
            <a:r>
              <a:rPr lang="ko-KR" altLang="en-US" dirty="0" err="1"/>
              <a:t>아키텍쳐에서</a:t>
            </a:r>
            <a:r>
              <a:rPr lang="ko-KR" altLang="en-US" dirty="0"/>
              <a:t> 주로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4C5A8-4CF3-90B2-14AE-C068B58EF939}"/>
              </a:ext>
            </a:extLst>
          </p:cNvPr>
          <p:cNvSpPr txBox="1"/>
          <p:nvPr/>
        </p:nvSpPr>
        <p:spPr>
          <a:xfrm>
            <a:off x="471488" y="5044240"/>
            <a:ext cx="12330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다음 시간에</a:t>
            </a:r>
            <a:r>
              <a:rPr lang="en-US" altLang="ko-KR" dirty="0"/>
              <a:t>, </a:t>
            </a:r>
            <a:r>
              <a:rPr lang="ko-KR" altLang="en-US" dirty="0"/>
              <a:t>이 </a:t>
            </a:r>
            <a:r>
              <a:rPr lang="ko-KR" altLang="en-US" dirty="0" err="1"/>
              <a:t>어텐션의</a:t>
            </a:r>
            <a:r>
              <a:rPr lang="ko-KR" altLang="en-US" dirty="0"/>
              <a:t> 발전형인 </a:t>
            </a:r>
            <a:r>
              <a:rPr lang="en-US" altLang="ko-KR" dirty="0"/>
              <a:t>Self Attention, MHA, CLS</a:t>
            </a:r>
            <a:r>
              <a:rPr lang="ko-KR" altLang="en-US" dirty="0"/>
              <a:t> 토큰 등을 알아볼 것이다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1FAA51-4550-6850-5C6B-8ACFB8F4489A}"/>
              </a:ext>
            </a:extLst>
          </p:cNvPr>
          <p:cNvSpPr txBox="1"/>
          <p:nvPr/>
        </p:nvSpPr>
        <p:spPr>
          <a:xfrm>
            <a:off x="433821" y="6016580"/>
            <a:ext cx="12330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또한</a:t>
            </a:r>
            <a:r>
              <a:rPr lang="en-US" altLang="ko-KR" sz="1400" dirty="0"/>
              <a:t>, </a:t>
            </a:r>
            <a:r>
              <a:rPr lang="ko-KR" altLang="en-US" sz="1400" dirty="0"/>
              <a:t>실사용 시 </a:t>
            </a:r>
            <a:r>
              <a:rPr lang="en-US" altLang="ko-KR" sz="1400" dirty="0"/>
              <a:t>SDPA, </a:t>
            </a:r>
            <a:r>
              <a:rPr lang="en-US" altLang="ko-KR" sz="1400" dirty="0" err="1"/>
              <a:t>earge</a:t>
            </a:r>
            <a:r>
              <a:rPr lang="en-US" altLang="ko-KR" sz="1400" dirty="0"/>
              <a:t> </a:t>
            </a:r>
            <a:r>
              <a:rPr lang="ko-KR" altLang="en-US" sz="1400" dirty="0"/>
              <a:t>가 있는데</a:t>
            </a:r>
            <a:r>
              <a:rPr lang="en-US" altLang="ko-KR" sz="1400" dirty="0"/>
              <a:t>, </a:t>
            </a:r>
            <a:r>
              <a:rPr lang="ko-KR" altLang="en-US" sz="1400" dirty="0"/>
              <a:t>이 내용은 전부 트랜스포머 하면서 알아볼 것이다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6053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611D-5C5F-CB2B-506E-E3E11F2F1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E6C612-D107-23E7-D9A5-68B153481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04DC704-E62B-AF0A-843F-C0ED236896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E98609-19F0-5CA4-C54A-1E7D2D17C089}"/>
              </a:ext>
            </a:extLst>
          </p:cNvPr>
          <p:cNvSpPr txBox="1"/>
          <p:nvPr/>
        </p:nvSpPr>
        <p:spPr>
          <a:xfrm>
            <a:off x="582386" y="2565304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b="1" dirty="0"/>
              <a:t>데이터의 효율적인 압축 표현</a:t>
            </a:r>
            <a:r>
              <a:rPr lang="en-US" altLang="ko-KR" b="1" dirty="0"/>
              <a:t>(Representation) </a:t>
            </a:r>
            <a:r>
              <a:rPr lang="ko-KR" altLang="en-US" b="1" dirty="0"/>
              <a:t>학습을 위한 비지도 학습이다</a:t>
            </a:r>
            <a:endParaRPr lang="en-US" altLang="ko-KR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D06848-11CC-CF19-FC81-5B1132161F55}"/>
              </a:ext>
            </a:extLst>
          </p:cNvPr>
          <p:cNvSpPr txBox="1"/>
          <p:nvPr/>
        </p:nvSpPr>
        <p:spPr>
          <a:xfrm>
            <a:off x="582386" y="2900170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dirty="0"/>
              <a:t>대칭적인 </a:t>
            </a:r>
            <a:r>
              <a:rPr lang="en-US" altLang="ko-KR" dirty="0"/>
              <a:t>U</a:t>
            </a:r>
            <a:r>
              <a:rPr lang="ko-KR" altLang="en-US" dirty="0"/>
              <a:t>자형 구조와 </a:t>
            </a:r>
            <a:r>
              <a:rPr lang="ko-KR" altLang="en-US" dirty="0" err="1"/>
              <a:t>스킵</a:t>
            </a:r>
            <a:r>
              <a:rPr lang="ko-KR" altLang="en-US" dirty="0"/>
              <a:t> 연결</a:t>
            </a:r>
            <a:r>
              <a:rPr lang="en-US" altLang="ko-KR" dirty="0"/>
              <a:t>(Skip Connections)</a:t>
            </a:r>
            <a:r>
              <a:rPr lang="ko-KR" altLang="en-US" dirty="0"/>
              <a:t>을 핵심</a:t>
            </a:r>
            <a:endParaRPr lang="en-US" altLang="ko-KR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CE6EBA-9C44-72F9-BDAE-68CE830B4CAE}"/>
              </a:ext>
            </a:extLst>
          </p:cNvPr>
          <p:cNvSpPr txBox="1"/>
          <p:nvPr/>
        </p:nvSpPr>
        <p:spPr>
          <a:xfrm>
            <a:off x="582386" y="3519265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인코더 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수축 경로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115087-0EEE-51D8-68E6-FA0D5E581944}"/>
              </a:ext>
            </a:extLst>
          </p:cNvPr>
          <p:cNvSpPr txBox="1"/>
          <p:nvPr/>
        </p:nvSpPr>
        <p:spPr>
          <a:xfrm>
            <a:off x="582386" y="4346923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디코더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확장 경로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548FBA-12CB-A708-7414-CA922FD9B904}"/>
              </a:ext>
            </a:extLst>
          </p:cNvPr>
          <p:cNvSpPr txBox="1"/>
          <p:nvPr/>
        </p:nvSpPr>
        <p:spPr>
          <a:xfrm>
            <a:off x="471488" y="5504700"/>
            <a:ext cx="10833100" cy="284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스킵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연결 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인코더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디코더를</a:t>
            </a:r>
            <a:r>
              <a:rPr lang="ko-KR" altLang="en-US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연결</a:t>
            </a:r>
            <a:r>
              <a:rPr lang="en-US" altLang="ko-KR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51B584-1C39-AF8C-48F9-5D80601652C6}"/>
              </a:ext>
            </a:extLst>
          </p:cNvPr>
          <p:cNvSpPr txBox="1"/>
          <p:nvPr/>
        </p:nvSpPr>
        <p:spPr>
          <a:xfrm>
            <a:off x="582386" y="5969906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https://dl.acm.org/doi/10.5555/1756006.1953039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B0BC13-6067-6C0C-0022-88916D1433FD}"/>
                  </a:ext>
                </a:extLst>
              </p:cNvPr>
              <p:cNvSpPr txBox="1"/>
              <p:nvPr/>
            </p:nvSpPr>
            <p:spPr>
              <a:xfrm>
                <a:off x="994064" y="3886374"/>
                <a:ext cx="1206384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입력 데이터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원본보다 훨씬 저차원인 잠재 벡터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압축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B0BC13-6067-6C0C-0022-88916D143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064" y="3886374"/>
                <a:ext cx="12063846" cy="369332"/>
              </a:xfrm>
              <a:prstGeom prst="rect">
                <a:avLst/>
              </a:prstGeom>
              <a:blipFill>
                <a:blip r:embed="rId3"/>
                <a:stretch>
                  <a:fillRect l="-40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92CC3C-315A-1E69-4A07-AC126D90165A}"/>
                  </a:ext>
                </a:extLst>
              </p:cNvPr>
              <p:cNvSpPr txBox="1"/>
              <p:nvPr/>
            </p:nvSpPr>
            <p:spPr>
              <a:xfrm>
                <a:off x="994064" y="4714032"/>
                <a:ext cx="1103168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압축된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로부터 원본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최대한 유사한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acc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복원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92CC3C-315A-1E69-4A07-AC126D901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064" y="4714032"/>
                <a:ext cx="11031682" cy="369332"/>
              </a:xfrm>
              <a:prstGeom prst="rect">
                <a:avLst/>
              </a:prstGeom>
              <a:blipFill>
                <a:blip r:embed="rId4"/>
                <a:stretch>
                  <a:fillRect l="-442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5621784-FB77-2A5E-96C7-0CBAB96465BD}"/>
              </a:ext>
            </a:extLst>
          </p:cNvPr>
          <p:cNvSpPr txBox="1"/>
          <p:nvPr/>
        </p:nvSpPr>
        <p:spPr>
          <a:xfrm>
            <a:off x="582386" y="6304499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https://arxiv.org/abs/2102.08012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738362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5EA94-E6B6-EC30-DD67-C5154DA6D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16FB9A-00D2-2504-4E5F-C7643A95F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D0301A2-C82F-B28A-1427-3EE6CF6F1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CACDE4-9A8A-58DA-F74A-6691BE63BCD8}"/>
                  </a:ext>
                </a:extLst>
              </p:cNvPr>
              <p:cNvSpPr txBox="1"/>
              <p:nvPr/>
            </p:nvSpPr>
            <p:spPr>
              <a:xfrm>
                <a:off x="564571" y="2368171"/>
                <a:ext cx="11308773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핵심은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병목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(Bottleneck)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완벽히 복원할 수 있으려면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가장 중요하고 본질적인 특징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(essence)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만을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담고 있게 된다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CACDE4-9A8A-58DA-F74A-6691BE63B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71" y="2368171"/>
                <a:ext cx="11308773" cy="646331"/>
              </a:xfrm>
              <a:prstGeom prst="rect">
                <a:avLst/>
              </a:prstGeom>
              <a:blipFill>
                <a:blip r:embed="rId3"/>
                <a:stretch>
                  <a:fillRect l="-485" t="-4673" b="-130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C28A9B3-2655-A957-41EE-8CD31A0B99E1}"/>
              </a:ext>
            </a:extLst>
          </p:cNvPr>
          <p:cNvSpPr txBox="1"/>
          <p:nvPr/>
        </p:nvSpPr>
        <p:spPr>
          <a:xfrm>
            <a:off x="564570" y="3464383"/>
            <a:ext cx="102193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=&gt; 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단순 압축을 넘어 데이터의 기저에 깔린 </a:t>
            </a:r>
            <a:r>
              <a:rPr lang="ko-KR" altLang="en-US" sz="18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매니폴드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(manifold)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학습하게 </a:t>
            </a:r>
            <a:r>
              <a:rPr lang="ko-KR" altLang="en-US" sz="18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되는거다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01389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99D49-8276-A60C-35CC-EDBD34D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8DD2BB-FDE8-C008-B644-343F8D87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032CE86-9E16-05AD-555B-6B60168FCF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Manifold?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EF169E-4EA5-6F6F-C53A-B45CF6F185B0}"/>
              </a:ext>
            </a:extLst>
          </p:cNvPr>
          <p:cNvSpPr txBox="1"/>
          <p:nvPr/>
        </p:nvSpPr>
        <p:spPr>
          <a:xfrm>
            <a:off x="471487" y="2427007"/>
            <a:ext cx="11633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한마디로 </a:t>
            </a:r>
            <a:r>
              <a:rPr lang="ko-KR" altLang="en-US" dirty="0" err="1"/>
              <a:t>매니폴드는</a:t>
            </a:r>
            <a:r>
              <a:rPr lang="ko-KR" altLang="en-US" dirty="0"/>
              <a:t> </a:t>
            </a:r>
            <a:r>
              <a:rPr lang="en-US" altLang="ko-KR" b="1" dirty="0"/>
              <a:t>"</a:t>
            </a:r>
            <a:r>
              <a:rPr lang="ko-KR" altLang="en-US" b="1" dirty="0"/>
              <a:t>데이터가 실제로 살아가는 숨겨진 </a:t>
            </a:r>
            <a:r>
              <a:rPr lang="ko-KR" altLang="en-US" b="1" dirty="0" err="1"/>
              <a:t>저차원</a:t>
            </a:r>
            <a:r>
              <a:rPr lang="ko-KR" altLang="en-US" b="1" dirty="0"/>
              <a:t> 공간</a:t>
            </a:r>
            <a:r>
              <a:rPr lang="en-US" altLang="ko-KR" b="1" dirty="0"/>
              <a:t>"</a:t>
            </a:r>
            <a:r>
              <a:rPr lang="ko-KR" altLang="en-US" dirty="0"/>
              <a:t> 또는 데이터의 본질적인 규칙</a:t>
            </a:r>
            <a:r>
              <a:rPr lang="en-US" altLang="ko-KR" dirty="0"/>
              <a:t>(Rule)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2B28D7-A075-3216-F6FF-C4531E0AE8DE}"/>
              </a:ext>
            </a:extLst>
          </p:cNvPr>
          <p:cNvSpPr txBox="1"/>
          <p:nvPr/>
        </p:nvSpPr>
        <p:spPr>
          <a:xfrm>
            <a:off x="1330036" y="305966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3D </a:t>
            </a:r>
            <a:r>
              <a:rPr lang="ko-KR" altLang="en-US" dirty="0"/>
              <a:t>공간 속 </a:t>
            </a:r>
            <a:r>
              <a:rPr lang="en-US" altLang="ko-KR" dirty="0"/>
              <a:t>A4 </a:t>
            </a:r>
            <a:r>
              <a:rPr lang="ko-KR" altLang="en-US" dirty="0"/>
              <a:t>용지를 구겨 만든 공이 있다 했을 때</a:t>
            </a:r>
            <a:r>
              <a:rPr lang="en-US" altLang="ko-KR" dirty="0"/>
              <a:t>,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F1356E-8E58-EAFE-054A-BEF907180B36}"/>
              </a:ext>
            </a:extLst>
          </p:cNvPr>
          <p:cNvSpPr txBox="1"/>
          <p:nvPr/>
        </p:nvSpPr>
        <p:spPr>
          <a:xfrm>
            <a:off x="1330036" y="3523219"/>
            <a:ext cx="61306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구겨진 종이 표면이 바로 </a:t>
            </a:r>
            <a:r>
              <a:rPr lang="en-US" altLang="ko-KR" b="1" dirty="0"/>
              <a:t>2D </a:t>
            </a:r>
            <a:r>
              <a:rPr lang="ko-KR" altLang="en-US" b="1" dirty="0" err="1"/>
              <a:t>매니폴드이</a:t>
            </a:r>
            <a:r>
              <a:rPr lang="ko-KR" altLang="en-US" dirty="0" err="1"/>
              <a:t>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4FCC6C-FADD-7827-0246-5A1AC88CC2AB}"/>
              </a:ext>
            </a:extLst>
          </p:cNvPr>
          <p:cNvSpPr txBox="1"/>
          <p:nvPr/>
        </p:nvSpPr>
        <p:spPr>
          <a:xfrm>
            <a:off x="1330036" y="4018131"/>
            <a:ext cx="90331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데이터</a:t>
            </a:r>
            <a:r>
              <a:rPr lang="en-US" altLang="ko-KR" b="1" dirty="0"/>
              <a:t>:</a:t>
            </a:r>
            <a:r>
              <a:rPr lang="ko-KR" altLang="en-US" dirty="0"/>
              <a:t> 우리가 가진 데이터는 이 구겨진 종이</a:t>
            </a:r>
            <a:r>
              <a:rPr lang="en-US" altLang="ko-KR" dirty="0"/>
              <a:t> </a:t>
            </a:r>
            <a:r>
              <a:rPr lang="ko-KR" altLang="en-US" dirty="0"/>
              <a:t>위에만 찍힌 점들이다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FFF62C-921B-5FBB-B07D-F37276613516}"/>
              </a:ext>
            </a:extLst>
          </p:cNvPr>
          <p:cNvSpPr txBox="1"/>
          <p:nvPr/>
        </p:nvSpPr>
        <p:spPr>
          <a:xfrm>
            <a:off x="471487" y="4664462"/>
            <a:ext cx="100168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이게 뭔 말이냐 </a:t>
            </a:r>
            <a:r>
              <a:rPr lang="en-US" altLang="ko-KR" dirty="0"/>
              <a:t>3</a:t>
            </a:r>
            <a:r>
              <a:rPr lang="ko-KR" altLang="en-US" dirty="0"/>
              <a:t>차원 </a:t>
            </a:r>
            <a:r>
              <a:rPr lang="ko-KR" altLang="en-US" dirty="0" err="1"/>
              <a:t>동간의</a:t>
            </a:r>
            <a:r>
              <a:rPr lang="ko-KR" altLang="en-US" dirty="0"/>
              <a:t> 데이터는 </a:t>
            </a:r>
            <a:r>
              <a:rPr lang="en-US" altLang="ko-KR" dirty="0"/>
              <a:t>3</a:t>
            </a:r>
            <a:r>
              <a:rPr lang="ko-KR" altLang="en-US" dirty="0"/>
              <a:t>개의 값을 가진다</a:t>
            </a:r>
            <a:r>
              <a:rPr lang="en-US" altLang="ko-KR" dirty="0"/>
              <a:t>(H, W, C)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데이터는 </a:t>
            </a:r>
            <a:r>
              <a:rPr lang="en-US" altLang="ko-KR" dirty="0"/>
              <a:t>3D </a:t>
            </a:r>
            <a:r>
              <a:rPr lang="ko-KR" altLang="en-US" dirty="0"/>
              <a:t>공간에 흩어져 있는 것처럼 보이지만</a:t>
            </a:r>
            <a:r>
              <a:rPr lang="en-US" altLang="ko-KR" dirty="0"/>
              <a:t>(</a:t>
            </a:r>
            <a:r>
              <a:rPr lang="ko-KR" altLang="en-US" dirty="0"/>
              <a:t>고차원</a:t>
            </a:r>
            <a:r>
              <a:rPr lang="en-US" altLang="ko-KR" dirty="0"/>
              <a:t>), </a:t>
            </a:r>
            <a:r>
              <a:rPr lang="ko-KR" altLang="en-US" dirty="0"/>
              <a:t>실제로는 </a:t>
            </a:r>
            <a:r>
              <a:rPr lang="en-US" altLang="ko-KR" dirty="0"/>
              <a:t>2D </a:t>
            </a:r>
            <a:r>
              <a:rPr lang="ko-KR" altLang="en-US" dirty="0"/>
              <a:t>종이 표면</a:t>
            </a:r>
            <a:r>
              <a:rPr lang="en-US" altLang="ko-KR" dirty="0"/>
              <a:t>(</a:t>
            </a:r>
            <a:r>
              <a:rPr lang="ko-KR" altLang="en-US" dirty="0" err="1"/>
              <a:t>저차원</a:t>
            </a:r>
            <a:r>
              <a:rPr lang="ko-KR" altLang="en-US" dirty="0"/>
              <a:t> </a:t>
            </a:r>
            <a:r>
              <a:rPr lang="ko-KR" altLang="en-US" dirty="0" err="1"/>
              <a:t>매니폴드</a:t>
            </a:r>
            <a:r>
              <a:rPr lang="en-US" altLang="ko-KR" dirty="0"/>
              <a:t>)</a:t>
            </a:r>
            <a:r>
              <a:rPr lang="ko-KR" altLang="en-US" dirty="0"/>
              <a:t>이라는 </a:t>
            </a:r>
            <a:r>
              <a:rPr lang="en-US" altLang="ko-KR" dirty="0"/>
              <a:t>'</a:t>
            </a:r>
            <a:r>
              <a:rPr lang="ko-KR" altLang="en-US" dirty="0"/>
              <a:t>규칙</a:t>
            </a:r>
            <a:r>
              <a:rPr lang="en-US" altLang="ko-KR" dirty="0"/>
              <a:t>'</a:t>
            </a:r>
            <a:r>
              <a:rPr lang="ko-KR" altLang="en-US" dirty="0"/>
              <a:t>을 따르고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387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AD55-BB58-E417-B8E1-400860258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FF41E-D285-7C80-FD27-C6B28D63B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91881262-4C10-3593-B688-F8BFF3024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Manifold In </a:t>
            </a:r>
            <a:r>
              <a:rPr lang="en-US" altLang="ko-KR" dirty="0" err="1"/>
              <a:t>AutoEncoder</a:t>
            </a:r>
            <a:r>
              <a:rPr lang="en-US" altLang="ko-K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5157096-6CC0-325B-D5D0-A802D68E2418}"/>
                  </a:ext>
                </a:extLst>
              </p:cNvPr>
              <p:cNvSpPr txBox="1"/>
              <p:nvPr/>
            </p:nvSpPr>
            <p:spPr>
              <a:xfrm>
                <a:off x="468890" y="2413474"/>
                <a:ext cx="8759537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입력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'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구겨진 종이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'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위의 한 점의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3D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좌표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(x, y, z)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MNIST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이미지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784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 픽셀 값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b="1" dirty="0"/>
                  <a:t>인코더 </a:t>
                </a:r>
                <a:r>
                  <a:rPr lang="en-US" altLang="ko-KR" b="1" dirty="0"/>
                  <a:t>(Encoder):</a:t>
                </a:r>
                <a:r>
                  <a:rPr lang="ko-KR" altLang="en-US" dirty="0"/>
                  <a:t> 이 </a:t>
                </a:r>
                <a:r>
                  <a:rPr lang="en-US" altLang="ko-KR" dirty="0"/>
                  <a:t>3D </a:t>
                </a:r>
                <a:r>
                  <a:rPr lang="ko-KR" altLang="en-US" dirty="0"/>
                  <a:t>좌표를 보고</a:t>
                </a:r>
                <a:r>
                  <a:rPr lang="en-US" altLang="ko-KR" dirty="0"/>
                  <a:t>, '</a:t>
                </a:r>
                <a:r>
                  <a:rPr lang="ko-KR" altLang="en-US" dirty="0"/>
                  <a:t>구겨진 종이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를 쫙 펴서 이 점이 원래 종이의 어디에 있었는지 </a:t>
                </a:r>
                <a:r>
                  <a:rPr lang="en-US" altLang="ko-KR" dirty="0"/>
                  <a:t>2D </a:t>
                </a:r>
                <a:r>
                  <a:rPr lang="ko-KR" altLang="en-US" dirty="0"/>
                  <a:t>좌표 </a:t>
                </a:r>
                <a:r>
                  <a:rPr lang="en-US" altLang="ko-KR" dirty="0"/>
                  <a:t>(u, v)</a:t>
                </a:r>
                <a:r>
                  <a:rPr lang="ko-KR" altLang="en-US" dirty="0"/>
                  <a:t>를 찾아낸다</a:t>
                </a:r>
                <a:r>
                  <a:rPr lang="en-US" altLang="ko-KR" dirty="0"/>
                  <a:t>.</a:t>
                </a:r>
              </a:p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잠재 벡터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):</a:t>
                </a:r>
                <a:r>
                  <a:rPr lang="ko-KR" altLang="en-US" dirty="0"/>
                  <a:t> 인코더가 찾아낸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핵심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2D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좌표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(u, v)</a:t>
                </a:r>
                <a:r>
                  <a:rPr lang="en-US" altLang="ko-KR" dirty="0"/>
                  <a:t>. 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이것이 바로 데이터의 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'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본질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(essence)＇</a:t>
                </a:r>
                <a:r>
                  <a:rPr lang="ko-KR" altLang="en-US" dirty="0"/>
                  <a:t>이</a:t>
                </a:r>
                <a:r>
                  <a:rPr lang="ko-KR" altLang="en-US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b="1" dirty="0" err="1"/>
                  <a:t>디코더</a:t>
                </a:r>
                <a:r>
                  <a:rPr lang="ko-KR" altLang="en-US" b="1" dirty="0"/>
                  <a:t> </a:t>
                </a:r>
                <a:r>
                  <a:rPr lang="en-US" altLang="ko-KR" b="1" dirty="0"/>
                  <a:t>(Decoder):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2D </a:t>
                </a:r>
                <a:r>
                  <a:rPr lang="ko-KR" altLang="en-US" dirty="0"/>
                  <a:t>좌표 </a:t>
                </a:r>
                <a:r>
                  <a:rPr lang="en-US" altLang="ko-KR" dirty="0"/>
                  <a:t>(u, v)</a:t>
                </a:r>
                <a:r>
                  <a:rPr lang="ko-KR" altLang="en-US" dirty="0"/>
                  <a:t>를 받고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종이를 </a:t>
                </a:r>
                <a:r>
                  <a:rPr lang="ko-KR" altLang="en-US" b="1" dirty="0"/>
                  <a:t>원래대로 다시 구겨서</a:t>
                </a:r>
                <a:r>
                  <a:rPr lang="ko-KR" altLang="en-US" dirty="0"/>
                  <a:t> 이 점의 </a:t>
                </a:r>
                <a:r>
                  <a:rPr lang="en-US" altLang="ko-KR" dirty="0"/>
                  <a:t>3D </a:t>
                </a:r>
                <a:r>
                  <a:rPr lang="ko-KR" altLang="en-US" dirty="0"/>
                  <a:t>좌표 </a:t>
                </a:r>
                <a:r>
                  <a:rPr lang="en-US" altLang="ko-KR" dirty="0"/>
                  <a:t>(x, y, z)</a:t>
                </a:r>
                <a:r>
                  <a:rPr lang="ko-KR" altLang="en-US" dirty="0"/>
                  <a:t>를 복원한다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5157096-6CC0-325B-D5D0-A802D68E2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890" y="2413474"/>
                <a:ext cx="8759537" cy="2308324"/>
              </a:xfrm>
              <a:prstGeom prst="rect">
                <a:avLst/>
              </a:prstGeom>
              <a:blipFill>
                <a:blip r:embed="rId3"/>
                <a:stretch>
                  <a:fillRect l="-626" t="-1583" r="-626" b="-31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FCBB266-54D6-D60B-F2FB-F960D34C0E08}"/>
              </a:ext>
            </a:extLst>
          </p:cNvPr>
          <p:cNvSpPr txBox="1"/>
          <p:nvPr/>
        </p:nvSpPr>
        <p:spPr>
          <a:xfrm>
            <a:off x="602673" y="5354715"/>
            <a:ext cx="61306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데이터가 어떤 </a:t>
            </a:r>
            <a:r>
              <a:rPr lang="en-US" altLang="ko-KR" b="1" dirty="0"/>
              <a:t>'</a:t>
            </a:r>
            <a:r>
              <a:rPr lang="ko-KR" altLang="en-US" b="1" dirty="0"/>
              <a:t>규칙</a:t>
            </a:r>
            <a:r>
              <a:rPr lang="en-US" altLang="ko-KR" b="1" dirty="0"/>
              <a:t>'(</a:t>
            </a:r>
            <a:r>
              <a:rPr lang="ko-KR" altLang="en-US" b="1" dirty="0" err="1"/>
              <a:t>매니폴드</a:t>
            </a:r>
            <a:r>
              <a:rPr lang="en-US" altLang="ko-KR" b="1" dirty="0"/>
              <a:t>)</a:t>
            </a:r>
            <a:r>
              <a:rPr lang="ko-KR" altLang="en-US" b="1" dirty="0"/>
              <a:t>을 </a:t>
            </a:r>
            <a:r>
              <a:rPr lang="ko-KR" altLang="en-US" b="1" dirty="0" err="1"/>
              <a:t>따르는지</a:t>
            </a:r>
            <a:r>
              <a:rPr lang="ko-KR" altLang="en-US" dirty="0"/>
              <a:t> 학습</a:t>
            </a:r>
            <a:endParaRPr lang="en-US" altLang="ko-KR" dirty="0"/>
          </a:p>
          <a:p>
            <a:r>
              <a:rPr lang="ko-KR" altLang="en-US" dirty="0"/>
              <a:t>핵심 규칙</a:t>
            </a:r>
            <a:r>
              <a:rPr lang="en-US" altLang="ko-KR" dirty="0"/>
              <a:t>'</a:t>
            </a:r>
            <a:r>
              <a:rPr lang="ko-KR" altLang="en-US" dirty="0"/>
              <a:t>을 학습하고</a:t>
            </a:r>
            <a:r>
              <a:rPr lang="en-US" altLang="ko-KR" dirty="0"/>
              <a:t>, </a:t>
            </a:r>
            <a:r>
              <a:rPr lang="ko-KR" altLang="en-US" dirty="0"/>
              <a:t>그것을 잠재 벡터 </a:t>
            </a:r>
            <a:r>
              <a:rPr lang="en-US" altLang="ko-KR" b="1" dirty="0"/>
              <a:t>z</a:t>
            </a:r>
            <a:r>
              <a:rPr lang="ko-KR" altLang="en-US" dirty="0"/>
              <a:t>에 담아내는 것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07886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0C6D2-C2C3-A53C-0D7C-AE5FC03E5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021EEC-4F2D-3C61-F24B-138E8D227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8BF9799A-470A-007A-BBCB-F53B80AF6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156CDC2-45AD-ADD4-1F0F-619CE4656EAA}"/>
                  </a:ext>
                </a:extLst>
              </p:cNvPr>
              <p:cNvSpPr txBox="1"/>
              <p:nvPr/>
            </p:nvSpPr>
            <p:spPr>
              <a:xfrm>
                <a:off x="471488" y="2348532"/>
                <a:ext cx="9337530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입력 벡터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Flatten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된 이미지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156CDC2-45AD-ADD4-1F0F-619CE4656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348532"/>
                <a:ext cx="9337530" cy="374270"/>
              </a:xfrm>
              <a:prstGeom prst="rect">
                <a:avLst/>
              </a:prstGeom>
              <a:blipFill>
                <a:blip r:embed="rId3"/>
                <a:stretch>
                  <a:fillRect l="-522" t="-8065" b="-225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61A2FE-CAA7-A2A7-65F3-6351AB555B7C}"/>
                  </a:ext>
                </a:extLst>
              </p:cNvPr>
              <p:cNvSpPr txBox="1"/>
              <p:nvPr/>
            </p:nvSpPr>
            <p:spPr>
              <a:xfrm>
                <a:off x="471488" y="2910725"/>
                <a:ext cx="10688348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잠재 표현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(latent vector),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위치한 공간을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잠재 공간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(Latent Space)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이라 부른다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61A2FE-CAA7-A2A7-65F3-6351AB555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910725"/>
                <a:ext cx="10688348" cy="374270"/>
              </a:xfrm>
              <a:prstGeom prst="rect">
                <a:avLst/>
              </a:prstGeom>
              <a:blipFill>
                <a:blip r:embed="rId4"/>
                <a:stretch>
                  <a:fillRect l="-456" t="-8065" b="-225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8D226F-34AA-669E-4A5A-46471649DFA8}"/>
                  </a:ext>
                </a:extLst>
              </p:cNvPr>
              <p:cNvSpPr txBox="1"/>
              <p:nvPr/>
            </p:nvSpPr>
            <p:spPr>
              <a:xfrm>
                <a:off x="471487" y="3749917"/>
                <a:ext cx="11256385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병목 제약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(Bottleneck Constraint):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핵심은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𝑘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≪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(undercomplete)</a:t>
                </a:r>
                <a:r>
                  <a:rPr lang="ko-KR" altLang="en-US" dirty="0"/>
                  <a:t>이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pPr marL="285750" indent="-285750">
                  <a:buFontTx/>
                  <a:buChar char="-"/>
                </a:pP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모델이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단순히 복사하는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항등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함수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acc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배우는 것을 방지하고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</a:p>
              <a:p>
                <a:pPr marL="285750" indent="-285750">
                  <a:buFontTx/>
                  <a:buChar char="-"/>
                </a:pP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유의미한 정보만 압축하도록 강제한다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8D226F-34AA-669E-4A5A-46471649D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3749917"/>
                <a:ext cx="11256385" cy="923330"/>
              </a:xfrm>
              <a:prstGeom prst="rect">
                <a:avLst/>
              </a:prstGeom>
              <a:blipFill>
                <a:blip r:embed="rId5"/>
                <a:stretch>
                  <a:fillRect l="-541" t="-5921" b="-111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375DC68-5836-9A9B-6FF2-908DC484B0D2}"/>
                  </a:ext>
                </a:extLst>
              </p:cNvPr>
              <p:cNvSpPr txBox="1"/>
              <p:nvPr/>
            </p:nvSpPr>
            <p:spPr>
              <a:xfrm>
                <a:off x="471486" y="4689486"/>
                <a:ext cx="8118331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acc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재구성 출력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375DC68-5836-9A9B-6FF2-908DC484B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6" y="4689486"/>
                <a:ext cx="8118331" cy="374270"/>
              </a:xfrm>
              <a:prstGeom prst="rect">
                <a:avLst/>
              </a:prstGeom>
              <a:blipFill>
                <a:blip r:embed="rId6"/>
                <a:stretch>
                  <a:fillRect l="-601" t="-8065" b="-225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4BA9DC9-BF3F-5B7B-8AD6-C30AC6818ACA}"/>
                  </a:ext>
                </a:extLst>
              </p:cNvPr>
              <p:cNvSpPr txBox="1"/>
              <p:nvPr/>
            </p:nvSpPr>
            <p:spPr>
              <a:xfrm>
                <a:off x="471489" y="5181850"/>
                <a:ext cx="10688347" cy="441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m:rPr>
                        <m:lit/>
                      </m:rP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{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𝐞</m:t>
                        </m:r>
                      </m:sub>
                      <m:sup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𝐥</m:t>
                            </m:r>
                          </m:e>
                        </m:d>
                      </m:sup>
                    </m:sSubSup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𝐛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𝐞</m:t>
                        </m:r>
                      </m:sub>
                      <m:sup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𝐥</m:t>
                            </m:r>
                          </m:e>
                        </m:d>
                      </m:sup>
                    </m:sSubSup>
                    <m:r>
                      <m:rPr>
                        <m:lit/>
                      </m:rP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}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m:rPr>
                        <m:lit/>
                      </m:rP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{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𝐝</m:t>
                        </m:r>
                      </m:sub>
                      <m:sup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𝐦</m:t>
                            </m:r>
                          </m:e>
                        </m:d>
                      </m:sup>
                    </m:sSubSup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𝐛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𝐝</m:t>
                        </m:r>
                      </m:sub>
                      <m:sup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𝐦</m:t>
                            </m:r>
                          </m:e>
                        </m:d>
                      </m:sup>
                    </m:sSubSup>
                    <m:r>
                      <m:rPr>
                        <m:lit/>
                      </m:rP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}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인코더와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디코더의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학습 가능한 파라미터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가중치 및 편향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4BA9DC9-BF3F-5B7B-8AD6-C30AC6818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9" y="5181850"/>
                <a:ext cx="10688347" cy="441916"/>
              </a:xfrm>
              <a:prstGeom prst="rect">
                <a:avLst/>
              </a:prstGeom>
              <a:blipFill>
                <a:blip r:embed="rId7"/>
                <a:stretch>
                  <a:fillRect l="-456" b="-150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4526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FD1E6-4DA9-620A-205E-2C252E2C1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3C7F2A-A9E8-3BEF-0A88-8A346D69A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435589EA-9E6E-24FE-4950-6FB9DC9C1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7C6C08-6753-AD19-386A-97F43D22CC05}"/>
                  </a:ext>
                </a:extLst>
              </p:cNvPr>
              <p:cNvSpPr txBox="1"/>
              <p:nvPr/>
            </p:nvSpPr>
            <p:spPr>
              <a:xfrm>
                <a:off x="827809" y="2891966"/>
                <a:ext cx="14166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𝐗</m:t>
                      </m:r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∈</m:t>
                      </m:r>
                      <m:sSup>
                        <m:sSup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p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𝐶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×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𝐻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×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𝑊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7C6C08-6753-AD19-386A-97F43D22C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809" y="2891966"/>
                <a:ext cx="1416627" cy="369332"/>
              </a:xfrm>
              <a:prstGeom prst="rect">
                <a:avLst/>
              </a:prstGeom>
              <a:blipFill>
                <a:blip r:embed="rId3"/>
                <a:stretch>
                  <a:fillRect t="-8197" r="-6466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7C01E1-123B-A25D-974B-E2C9D5462F70}"/>
                  </a:ext>
                </a:extLst>
              </p:cNvPr>
              <p:cNvSpPr txBox="1"/>
              <p:nvPr/>
            </p:nvSpPr>
            <p:spPr>
              <a:xfrm>
                <a:off x="2407877" y="2858174"/>
                <a:ext cx="1285008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altLang="ko-KR" sz="1800" b="0" i="0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flatten</m:t>
                      </m:r>
                      <m:r>
                        <m:rPr>
                          <m:nor/>
                        </m:rPr>
                        <a:rPr lang="en-US" altLang="ko-KR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−−&gt;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7C01E1-123B-A25D-974B-E2C9D5462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877" y="2858174"/>
                <a:ext cx="1285008" cy="403124"/>
              </a:xfrm>
              <a:prstGeom prst="rect">
                <a:avLst/>
              </a:prstGeom>
              <a:blipFill>
                <a:blip r:embed="rId4"/>
                <a:stretch>
                  <a:fillRect t="-1515" r="-26066" b="-227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F3FDCA-053A-F0F1-10CE-EED410D82DE1}"/>
                  </a:ext>
                </a:extLst>
              </p:cNvPr>
              <p:cNvSpPr txBox="1"/>
              <p:nvPr/>
            </p:nvSpPr>
            <p:spPr>
              <a:xfrm>
                <a:off x="3856326" y="2875070"/>
                <a:ext cx="3501736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𝐱</m:t>
                      </m:r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ko-KR" sz="1800" b="0" i="0" kern="1200" dirty="0" err="1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vec</m:t>
                      </m:r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𝐗</m:t>
                          </m:r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∈</m:t>
                      </m:r>
                      <m:sSup>
                        <m:sSup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p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sup>
                      </m:sSup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, 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𝑑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𝐶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⋅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𝐻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⋅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𝑊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F3FDCA-053A-F0F1-10CE-EED410D82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6326" y="2875070"/>
                <a:ext cx="3501736" cy="403124"/>
              </a:xfrm>
              <a:prstGeom prst="rect">
                <a:avLst/>
              </a:prstGeom>
              <a:blipFill>
                <a:blip r:embed="rId5"/>
                <a:stretch>
                  <a:fillRect t="-1515" r="-1916" b="-227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A67C851-D5A7-3DFE-ECA0-247A0E3781BC}"/>
                  </a:ext>
                </a:extLst>
              </p:cNvPr>
              <p:cNvSpPr txBox="1"/>
              <p:nvPr/>
            </p:nvSpPr>
            <p:spPr>
              <a:xfrm>
                <a:off x="717622" y="3392031"/>
                <a:ext cx="6130636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MNIST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28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×28×1→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𝟟𝟠𝟜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A67C851-D5A7-3DFE-ECA0-247A0E378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22" y="3392031"/>
                <a:ext cx="6130636" cy="375552"/>
              </a:xfrm>
              <a:prstGeom prst="rect">
                <a:avLst/>
              </a:prstGeom>
              <a:blipFill>
                <a:blip r:embed="rId6"/>
                <a:stretch>
                  <a:fillRect l="-896" t="-6452" b="-241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0A7FECDB-1198-3A32-63FD-D28FF4759761}"/>
              </a:ext>
            </a:extLst>
          </p:cNvPr>
          <p:cNvSpPr txBox="1"/>
          <p:nvPr/>
        </p:nvSpPr>
        <p:spPr>
          <a:xfrm>
            <a:off x="471488" y="4744133"/>
            <a:ext cx="7422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공간적 위계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(spatial hierarchy)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지역성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(locality) 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정보가 소실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B199BF-CB17-2786-A24A-3E7505B300F5}"/>
              </a:ext>
            </a:extLst>
          </p:cNvPr>
          <p:cNvSpPr txBox="1"/>
          <p:nvPr/>
        </p:nvSpPr>
        <p:spPr>
          <a:xfrm>
            <a:off x="471488" y="429359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이미지를 </a:t>
            </a:r>
            <a:r>
              <a:rPr lang="en-US" altLang="ko-KR" dirty="0"/>
              <a:t>1</a:t>
            </a:r>
            <a:r>
              <a:rPr lang="ko-KR" altLang="en-US" dirty="0"/>
              <a:t>자로 길게 편다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9CFB88-7C92-B055-52B1-0FA6608778FF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인코더 입력 전 데이터 </a:t>
            </a:r>
            <a:r>
              <a:rPr lang="ko-KR" altLang="en-US" dirty="0" err="1"/>
              <a:t>전처리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860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23512-8A77-7F05-0233-B22D0AC46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CE80A2-2FC2-B6A6-9EB5-8A0EC9E82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819CB7B-4C67-0DC5-1434-6CA7E35D78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A1971B-D0A7-B93C-7770-01B1C4458B09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Encoder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48E76D-7B54-1B2C-32C8-5D89394A6A4F}"/>
              </a:ext>
            </a:extLst>
          </p:cNvPr>
          <p:cNvSpPr txBox="1"/>
          <p:nvPr/>
        </p:nvSpPr>
        <p:spPr>
          <a:xfrm>
            <a:off x="471488" y="297070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개의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Dense 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레이어가 들어가게 된다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1E1164F7-D1C7-0094-F14D-602B7CD98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42249" y="2970706"/>
            <a:ext cx="3160521" cy="16690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81B247-C051-5B1D-8FD9-3F9A0CEFE291}"/>
                  </a:ext>
                </a:extLst>
              </p:cNvPr>
              <p:cNvSpPr txBox="1"/>
              <p:nvPr/>
            </p:nvSpPr>
            <p:spPr>
              <a:xfrm>
                <a:off x="723900" y="4951953"/>
                <a:ext cx="11946082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</m:t>
                        </m:r>
                      </m:sub>
                    </m:sSub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ℓ</m:t>
                            </m:r>
                          </m:sub>
                        </m:s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×</m:t>
                        </m:r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ℓ−</m:t>
                            </m:r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𝟙</m:t>
                            </m:r>
                          </m:sub>
                        </m:sSub>
                      </m:sup>
                    </m:sSup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</m:t>
                        </m:r>
                      </m:sub>
                    </m:sSub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sSub>
                      <m:sSub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𝑑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ℓ−1</m:t>
                        </m:r>
                      </m:sub>
                    </m:sSub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→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차원 감소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81B247-C051-5B1D-8FD9-3F9A0CEFE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4951953"/>
                <a:ext cx="11946082" cy="374270"/>
              </a:xfrm>
              <a:prstGeom prst="rect">
                <a:avLst/>
              </a:prstGeom>
              <a:blipFill>
                <a:blip r:embed="rId5"/>
                <a:stretch>
                  <a:fillRect l="-459" t="-8065" b="-225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CA20DAB-BAB7-6651-F8D6-667679B49C67}"/>
                  </a:ext>
                </a:extLst>
              </p:cNvPr>
              <p:cNvSpPr txBox="1"/>
              <p:nvPr/>
            </p:nvSpPr>
            <p:spPr>
              <a:xfrm>
                <a:off x="723899" y="5483530"/>
                <a:ext cx="108862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𝜎</m:t>
                        </m:r>
                      </m:e>
                      <m:sub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</m:t>
                        </m:r>
                      </m:sub>
                    </m:sSub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: </a:t>
                </a:r>
                <a:r>
                  <a:rPr lang="en-US" altLang="ko-KR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ReLU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Tanh, Sigmoid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등의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비선형 활성화 함수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CA20DAB-BAB7-6651-F8D6-667679B49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899" y="5483530"/>
                <a:ext cx="10886209" cy="369332"/>
              </a:xfrm>
              <a:prstGeom prst="rect">
                <a:avLst/>
              </a:prstGeom>
              <a:blipFill>
                <a:blip r:embed="rId6"/>
                <a:stretch>
                  <a:fillRect l="-50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9832CF-3DFC-12D1-B99A-4BC3A939CF8C}"/>
                  </a:ext>
                </a:extLst>
              </p:cNvPr>
              <p:cNvSpPr txBox="1"/>
              <p:nvPr/>
            </p:nvSpPr>
            <p:spPr>
              <a:xfrm>
                <a:off x="723899" y="5879311"/>
                <a:ext cx="1124642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 마지막 레이어는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연속적인 값의 범위를 가질 수 있도록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활성화 함수가 없거나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선형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Tanh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사용하기도 </a:t>
                </a:r>
                <a:r>
                  <a:rPr lang="ko-KR" altLang="en-US" dirty="0"/>
                  <a:t>한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9832CF-3DFC-12D1-B99A-4BC3A939C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899" y="5879311"/>
                <a:ext cx="11246428" cy="646331"/>
              </a:xfrm>
              <a:prstGeom prst="rect">
                <a:avLst/>
              </a:prstGeom>
              <a:blipFill>
                <a:blip r:embed="rId7"/>
                <a:stretch>
                  <a:fillRect l="-488" t="-4717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1362405-41B3-F3EC-9986-5FD1944F6535}"/>
                  </a:ext>
                </a:extLst>
              </p:cNvPr>
              <p:cNvSpPr txBox="1"/>
              <p:nvPr/>
            </p:nvSpPr>
            <p:spPr>
              <a:xfrm>
                <a:off x="2312267" y="2371198"/>
                <a:ext cx="967696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𝐳</m:t>
                    </m:r>
                  </m:oMath>
                </a14:m>
                <a:r>
                  <a:rPr lang="ko-KR" altLang="en-US" dirty="0"/>
                  <a:t>는 입력 데이터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ko-KR" altLang="en-US" dirty="0"/>
                  <a:t>가 여러 개의 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압축 레이어</a:t>
                </a:r>
                <a:r>
                  <a:rPr lang="en-US" altLang="ko-KR" dirty="0"/>
                  <a:t>(Dense)'</a:t>
                </a:r>
                <a:r>
                  <a:rPr lang="ko-KR" altLang="en-US" dirty="0"/>
                  <a:t>를 통과하며 만들어진 </a:t>
                </a:r>
                <a:r>
                  <a:rPr lang="ko-KR" altLang="en-US" b="1" dirty="0"/>
                  <a:t>최종 요약 벡터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1362405-41B3-F3EC-9986-5FD1944F6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67" y="2371198"/>
                <a:ext cx="9676966" cy="369332"/>
              </a:xfrm>
              <a:prstGeom prst="rect">
                <a:avLst/>
              </a:prstGeom>
              <a:blipFill>
                <a:blip r:embed="rId8"/>
                <a:stretch>
                  <a:fillRect t="-9836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839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CEED3-4411-D077-D3BC-7DA3C6292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46EF59-A943-C0CC-FE67-C895CB6CE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28FE3E8-069A-D676-19F8-5F05BDB6B6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34C51A-C8DF-FD29-7D6A-CA5A57115759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Encoder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F24B0-2DE7-B1B4-D134-A68A7F062478}"/>
              </a:ext>
            </a:extLst>
          </p:cNvPr>
          <p:cNvSpPr txBox="1"/>
          <p:nvPr/>
        </p:nvSpPr>
        <p:spPr>
          <a:xfrm>
            <a:off x="471488" y="297070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Dense Layer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어떻게 차원을 축소하나요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D576DB-A10C-9941-FBB8-7ED74D24B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892" y="2022475"/>
            <a:ext cx="5157787" cy="40241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934F86-4052-098F-44C0-E0302D20780A}"/>
              </a:ext>
            </a:extLst>
          </p:cNvPr>
          <p:cNvSpPr txBox="1"/>
          <p:nvPr/>
        </p:nvSpPr>
        <p:spPr>
          <a:xfrm>
            <a:off x="471488" y="362877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 레이어의 노드를 줄여버리면 된답니다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996D75-ED5E-04F0-B6F1-987C2CD53567}"/>
              </a:ext>
            </a:extLst>
          </p:cNvPr>
          <p:cNvSpPr txBox="1"/>
          <p:nvPr/>
        </p:nvSpPr>
        <p:spPr>
          <a:xfrm>
            <a:off x="471488" y="4563194"/>
            <a:ext cx="49941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Epoch</a:t>
            </a:r>
            <a:r>
              <a:rPr lang="ko-KR" altLang="en-US" dirty="0"/>
              <a:t>가 진행되면서 좁은 길</a:t>
            </a:r>
            <a:r>
              <a:rPr lang="en-US" altLang="ko-KR" dirty="0"/>
              <a:t>'</a:t>
            </a:r>
            <a:r>
              <a:rPr lang="ko-KR" altLang="en-US" dirty="0"/>
              <a:t>을 통과하기 위해 </a:t>
            </a:r>
            <a:endParaRPr lang="en-US" altLang="ko-KR" dirty="0"/>
          </a:p>
          <a:p>
            <a:r>
              <a:rPr lang="ko-KR" altLang="en-US" b="1" dirty="0"/>
              <a:t>스스로 가장 효율적인 형태</a:t>
            </a:r>
            <a:r>
              <a:rPr lang="en-US" altLang="ko-KR" b="1" dirty="0"/>
              <a:t>(</a:t>
            </a:r>
            <a:r>
              <a:rPr lang="ko-KR" altLang="en-US" b="1" dirty="0"/>
              <a:t>핵심 요약</a:t>
            </a:r>
            <a:r>
              <a:rPr lang="en-US" altLang="ko-KR" b="1" dirty="0"/>
              <a:t>)</a:t>
            </a:r>
            <a:r>
              <a:rPr lang="ko-KR" altLang="en-US" b="1" dirty="0"/>
              <a:t>로 변할 수밖에 없다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6BCEE8-0E37-F019-1A4F-4D0D153810F4}"/>
                  </a:ext>
                </a:extLst>
              </p:cNvPr>
              <p:cNvSpPr txBox="1"/>
              <p:nvPr/>
            </p:nvSpPr>
            <p:spPr>
              <a:xfrm>
                <a:off x="394854" y="5953620"/>
                <a:ext cx="920634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𝐳</m:t>
                    </m:r>
                  </m:oMath>
                </a14:m>
                <a:r>
                  <a:rPr lang="ko-KR" altLang="en-US" dirty="0"/>
                  <a:t>는 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복사본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이 아닌 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가장 유의미한 정보</a:t>
                </a:r>
                <a:r>
                  <a:rPr lang="en-US" altLang="ko-KR" dirty="0"/>
                  <a:t>'</a:t>
                </a:r>
                <a:r>
                  <a:rPr lang="ko-KR" altLang="en-US" dirty="0"/>
                  <a:t>를 담도록 강제된다</a:t>
                </a:r>
                <a:r>
                  <a:rPr lang="en-US" altLang="ko-KR" dirty="0"/>
                  <a:t>. </a:t>
                </a:r>
              </a:p>
              <a:p>
                <a:r>
                  <a:rPr lang="en-US" altLang="ko-KR" dirty="0"/>
                  <a:t>"</a:t>
                </a:r>
                <a:r>
                  <a:rPr lang="ko-KR" altLang="en-US" dirty="0" err="1"/>
                  <a:t>어떻게든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32</a:t>
                </a:r>
                <a:r>
                  <a:rPr lang="ko-KR" altLang="en-US" dirty="0"/>
                  <a:t>개 숫자 안에 원본의 핵심을 담아 </a:t>
                </a:r>
                <a:r>
                  <a:rPr lang="ko-KR" altLang="en-US" dirty="0" err="1"/>
                  <a:t>디코더에게</a:t>
                </a:r>
                <a:r>
                  <a:rPr lang="ko-KR" altLang="en-US" dirty="0"/>
                  <a:t> 전달해야 하기 </a:t>
                </a:r>
                <a:r>
                  <a:rPr lang="ko-KR" altLang="en-US" dirty="0" err="1"/>
                  <a:t>떄문이다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6BCEE8-0E37-F019-1A4F-4D0D15381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54" y="5953620"/>
                <a:ext cx="9206346" cy="646331"/>
              </a:xfrm>
              <a:prstGeom prst="rect">
                <a:avLst/>
              </a:prstGeom>
              <a:blipFill>
                <a:blip r:embed="rId4"/>
                <a:stretch>
                  <a:fillRect l="-596" t="-5660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340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61ED7-5961-48BE-C88D-3F830A8CD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8A5604-A1F6-A86F-D79C-5E9793B26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2E67B5F-5D00-8F72-E14C-08CD18FDA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28EEED-4AA0-093F-EFFF-498E4C3BBB05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Encoder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E9F446-944E-10A9-4E7F-4D2AB05CCA85}"/>
                  </a:ext>
                </a:extLst>
              </p:cNvPr>
              <p:cNvSpPr txBox="1"/>
              <p:nvPr/>
            </p:nvSpPr>
            <p:spPr>
              <a:xfrm>
                <a:off x="471488" y="2970706"/>
                <a:ext cx="61306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b="1" dirty="0"/>
                  <a:t>비선형성</a:t>
                </a:r>
                <a:r>
                  <a:rPr lang="en-US" altLang="ko-KR" b="1" dirty="0"/>
                  <a:t>(</a:t>
                </a:r>
                <a14:m>
                  <m:oMath xmlns:m="http://schemas.openxmlformats.org/officeDocument/2006/math">
                    <m:r>
                      <a:rPr lang="en-US" altLang="ko-KR" b="1" i="1" dirty="0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US" altLang="ko-KR" b="1" dirty="0"/>
                  <a:t>)</a:t>
                </a:r>
                <a:r>
                  <a:rPr lang="ko-KR" altLang="en-US" b="1" dirty="0"/>
                  <a:t>이 왜 필수적인가</a:t>
                </a:r>
                <a:r>
                  <a:rPr lang="en-US" altLang="ko-KR" b="1" dirty="0"/>
                  <a:t>?</a:t>
                </a:r>
                <a:endParaRPr lang="en-US" altLang="ko-KR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E9F446-944E-10A9-4E7F-4D2AB05CCA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970706"/>
                <a:ext cx="6130636" cy="369332"/>
              </a:xfrm>
              <a:prstGeom prst="rect">
                <a:avLst/>
              </a:prstGeom>
              <a:blipFill>
                <a:blip r:embed="rId3"/>
                <a:stretch>
                  <a:fillRect l="-795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052FD-8E83-A402-67D4-242DD74F519D}"/>
                  </a:ext>
                </a:extLst>
              </p:cNvPr>
              <p:cNvSpPr txBox="1"/>
              <p:nvPr/>
            </p:nvSpPr>
            <p:spPr>
              <a:xfrm>
                <a:off x="471488" y="3461190"/>
                <a:ext cx="10515599" cy="651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만약 모든 활성화 함수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𝜎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선형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즉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𝜎</m:t>
                    </m:r>
                    <m:d>
                      <m:d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</m:d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𝑐𝑥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이라면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L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레이어로 구성된 인코더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e>
                      <m:sub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d>
                    <m:r>
                      <a:rPr lang="ko-KR" altLang="en-US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전체는</m:t>
                    </m:r>
                    <m:sSub>
                      <m:sSub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𝐋</m:t>
                        </m:r>
                      </m:sub>
                    </m:sSub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⋯</m:t>
                    </m:r>
                    <m:sSub>
                      <m:sSub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𝟏</m:t>
                        </m:r>
                      </m:sub>
                    </m:sSub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sSup>
                      <m:s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𝐛</m:t>
                        </m:r>
                      </m:e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형태의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단일 선형 변환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으로 축약된다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E052FD-8E83-A402-67D4-242DD74F5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3461190"/>
                <a:ext cx="10515599" cy="651525"/>
              </a:xfrm>
              <a:prstGeom prst="rect">
                <a:avLst/>
              </a:prstGeom>
              <a:blipFill>
                <a:blip r:embed="rId4"/>
                <a:stretch>
                  <a:fillRect l="-464" t="-4673" b="-140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8AD0EC-C9B7-7A19-4770-54FB507B37E9}"/>
                  </a:ext>
                </a:extLst>
              </p:cNvPr>
              <p:cNvSpPr txBox="1"/>
              <p:nvPr/>
            </p:nvSpPr>
            <p:spPr>
              <a:xfrm>
                <a:off x="471487" y="4364530"/>
                <a:ext cx="22024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𝑓</m:t>
                          </m:r>
                        </m:e>
                        <m:sub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𝐱</m:t>
                          </m:r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𝐖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𝐄</m:t>
                          </m:r>
                        </m:sub>
                      </m:sSub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𝐱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𝐛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𝐄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8AD0EC-C9B7-7A19-4770-54FB507B3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4364530"/>
                <a:ext cx="2202439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B7D122-5A00-4AE7-D905-4597F0320D26}"/>
                  </a:ext>
                </a:extLst>
              </p:cNvPr>
              <p:cNvSpPr txBox="1"/>
              <p:nvPr/>
            </p:nvSpPr>
            <p:spPr>
              <a:xfrm>
                <a:off x="2673926" y="4377918"/>
                <a:ext cx="2147022" cy="394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𝜙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𝐳</m:t>
                          </m:r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𝐖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𝐃</m:t>
                          </m:r>
                        </m:sub>
                      </m:sSub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𝐳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𝐛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𝐃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B7D122-5A00-4AE7-D905-4597F0320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926" y="4377918"/>
                <a:ext cx="2147022" cy="394082"/>
              </a:xfrm>
              <a:prstGeom prst="rect">
                <a:avLst/>
              </a:prstGeom>
              <a:blipFill>
                <a:blip r:embed="rId6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937564-7502-9FAC-850E-8798BD3BBD6F}"/>
                  </a:ext>
                </a:extLst>
              </p:cNvPr>
              <p:cNvSpPr txBox="1"/>
              <p:nvPr/>
            </p:nvSpPr>
            <p:spPr>
              <a:xfrm>
                <a:off x="376238" y="4772000"/>
                <a:ext cx="7901854" cy="413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𝐱</m:t>
                          </m:r>
                        </m:e>
                      </m:acc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𝜙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𝐱</m:t>
                              </m:r>
                            </m:e>
                          </m:d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𝐖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𝐃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𝐄</m:t>
                              </m:r>
                            </m:sub>
                          </m:s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𝐱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𝐄</m:t>
                              </m:r>
                            </m:sub>
                          </m:sSub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𝐛</m:t>
                          </m:r>
                        </m:e>
                        <m: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𝐃</m:t>
                          </m:r>
                        </m:sub>
                      </m:sSub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𝐃</m:t>
                              </m:r>
                              <m:sSub>
                                <m:sSubPr>
                                  <m:ctrlP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𝐖</m:t>
                                  </m:r>
                                </m:e>
                                <m:sub>
                                  <m: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𝐄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𝐱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d>
                        <m:d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𝐃</m:t>
                              </m:r>
                              <m:sSub>
                                <m:sSubPr>
                                  <m:ctrlP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𝐛</m:t>
                                  </m:r>
                                </m:e>
                                <m:sub>
                                  <m:r>
                                    <a:rPr lang="en-US" altLang="ko-KR" sz="1800" b="0" i="1" kern="1200" dirty="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𝐄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𝐃</m:t>
                              </m:r>
                            </m:sub>
                          </m:sSub>
                        </m:e>
                      </m:d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𝐖</m:t>
                          </m:r>
                        </m:e>
                        <m:sup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𝐱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𝐛</m:t>
                          </m:r>
                        </m:e>
                        <m:sup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937564-7502-9FAC-850E-8798BD3BB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238" y="4772000"/>
                <a:ext cx="7901854" cy="413831"/>
              </a:xfrm>
              <a:prstGeom prst="rect">
                <a:avLst/>
              </a:prstGeom>
              <a:blipFill>
                <a:blip r:embed="rId7"/>
                <a:stretch>
                  <a:fillRect b="-73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E3302384-D011-D340-DFE7-B65F9F03AB97}"/>
              </a:ext>
            </a:extLst>
          </p:cNvPr>
          <p:cNvSpPr txBox="1"/>
          <p:nvPr/>
        </p:nvSpPr>
        <p:spPr>
          <a:xfrm>
            <a:off x="376238" y="5185831"/>
            <a:ext cx="115525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이는 손실 함수로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MSE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사용할 경우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가장 잘 표현하는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차원의 초평면을 찾는 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PCA(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주성분 분석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동일해 진다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비선형 활성화 함수는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AE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PCA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넘어 </a:t>
            </a:r>
            <a:endParaRPr lang="en-US" altLang="ko-KR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훨씬 더 복잡하고 강력한 비선형 </a:t>
            </a:r>
            <a:r>
              <a:rPr lang="ko-KR" altLang="en-US" sz="18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매니폴드를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학습할 수 있게 하는 핵심이다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A26C5-BB0E-4C74-31C6-20485441D768}"/>
              </a:ext>
            </a:extLst>
          </p:cNvPr>
          <p:cNvSpPr txBox="1"/>
          <p:nvPr/>
        </p:nvSpPr>
        <p:spPr>
          <a:xfrm>
            <a:off x="3273570" y="4049201"/>
            <a:ext cx="865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</a:t>
            </a:r>
            <a:r>
              <a:rPr lang="ko-KR" altLang="en-US" dirty="0"/>
              <a:t>개의 레이어를 쌓아도 </a:t>
            </a:r>
            <a:r>
              <a:rPr lang="ko-KR" altLang="en-US" b="1" dirty="0"/>
              <a:t>결국 </a:t>
            </a:r>
            <a:r>
              <a:rPr lang="en-US" altLang="ko-KR" b="1" dirty="0"/>
              <a:t>1</a:t>
            </a:r>
            <a:r>
              <a:rPr lang="ko-KR" altLang="en-US" b="1" dirty="0"/>
              <a:t>개의 레이어를 쓴 것과 똑같아 진다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073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A54FB-4AF7-3D88-926F-4E197531C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7EEBC4-5022-8393-9C80-9B610228D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E70C4D1-2FDE-E916-69C8-907DFC7DED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A82C1-FC12-1B46-7A39-3CAB97EBAD8D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Decoder</a:t>
            </a:r>
            <a:endParaRPr lang="ko-KR" altLang="en-US" dirty="0"/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F62C4284-7AC2-318E-3F96-B629DDC37D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50561" y="2481680"/>
            <a:ext cx="2676525" cy="1295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CA793C5-56C3-B675-AEA5-2C014D124ECB}"/>
                  </a:ext>
                </a:extLst>
              </p:cNvPr>
              <p:cNvSpPr txBox="1"/>
              <p:nvPr/>
            </p:nvSpPr>
            <p:spPr>
              <a:xfrm>
                <a:off x="452077" y="3893782"/>
                <a:ext cx="1014802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대칭 구조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(Mirrored Structure):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일반적으로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인코더의 구조를 역순으로 뒤집은 형태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𝑑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→256 →32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였으면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32</m:t>
                    </m:r>
                    <m:r>
                      <a:rPr lang="ko-KR" altLang="en-US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→256</m:t>
                    </m:r>
                    <m:r>
                      <a:rPr lang="ko-KR" altLang="en-US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→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가진다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CA793C5-56C3-B675-AEA5-2C014D124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77" y="3893782"/>
                <a:ext cx="10148021" cy="646331"/>
              </a:xfrm>
              <a:prstGeom prst="rect">
                <a:avLst/>
              </a:prstGeom>
              <a:blipFill>
                <a:blip r:embed="rId5"/>
                <a:stretch>
                  <a:fillRect l="-480" t="-5660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90D786-1AE0-5354-8DCE-A03B726FCD42}"/>
                  </a:ext>
                </a:extLst>
              </p:cNvPr>
              <p:cNvSpPr txBox="1"/>
              <p:nvPr/>
            </p:nvSpPr>
            <p:spPr>
              <a:xfrm>
                <a:off x="452077" y="4620713"/>
                <a:ext cx="10418185" cy="944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가중치 공유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(Tied Weights):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때때로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디코더의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가중치를 인코더 가중치의 전치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(transpose)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설정하는 제약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ℓ</m:t>
                        </m:r>
                      </m:sub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′</m:t>
                        </m:r>
                      </m:sup>
                    </m:sSubSup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sSubSup>
                      <m:sSubSup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𝐋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−ℓ+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𝟏</m:t>
                        </m:r>
                      </m:sub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𝐓</m:t>
                        </m:r>
                      </m:sup>
                    </m:sSubSup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주기도 </a:t>
                </a:r>
                <a:r>
                  <a:rPr lang="ko-KR" altLang="en-US" dirty="0"/>
                  <a:t>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파라미터 수를 절반으로 줄여 과적합을 방지하는 데 도움이 </a:t>
                </a:r>
                <a:r>
                  <a:rPr lang="ko-KR" altLang="en-US" dirty="0"/>
                  <a:t>된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90D786-1AE0-5354-8DCE-A03B726FC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77" y="4620713"/>
                <a:ext cx="10418185" cy="944939"/>
              </a:xfrm>
              <a:prstGeom prst="rect">
                <a:avLst/>
              </a:prstGeom>
              <a:blipFill>
                <a:blip r:embed="rId6"/>
                <a:stretch>
                  <a:fillRect l="-468" t="-3871" b="-90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D7EEF19-C787-DB2A-1AD4-AA0FB45EF829}"/>
              </a:ext>
            </a:extLst>
          </p:cNvPr>
          <p:cNvSpPr txBox="1"/>
          <p:nvPr/>
        </p:nvSpPr>
        <p:spPr>
          <a:xfrm>
            <a:off x="5295900" y="2497964"/>
            <a:ext cx="6896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 </a:t>
            </a:r>
            <a:r>
              <a:rPr lang="en-US" altLang="ko-KR" dirty="0"/>
              <a:t>32</a:t>
            </a:r>
            <a:r>
              <a:rPr lang="ko-KR" altLang="en-US" dirty="0"/>
              <a:t>개 숫자를 어떻게 </a:t>
            </a:r>
            <a:r>
              <a:rPr lang="en-US" altLang="ko-KR" dirty="0"/>
              <a:t>256</a:t>
            </a:r>
            <a:r>
              <a:rPr lang="ko-KR" altLang="en-US" dirty="0"/>
              <a:t>개로 펼칠지</a:t>
            </a:r>
            <a:r>
              <a:rPr lang="en-US" altLang="ko-KR" dirty="0"/>
              <a:t>"</a:t>
            </a:r>
            <a:r>
              <a:rPr lang="ko-KR" altLang="en-US" dirty="0"/>
              <a:t>에 대한 복원 노하우이며</a:t>
            </a:r>
            <a:r>
              <a:rPr lang="en-US" altLang="ko-KR" dirty="0"/>
              <a:t>, </a:t>
            </a:r>
            <a:r>
              <a:rPr lang="ko-KR" altLang="en-US" dirty="0"/>
              <a:t>이 역시 학습을 통해 얻어진다</a:t>
            </a:r>
          </a:p>
        </p:txBody>
      </p:sp>
    </p:spTree>
    <p:extLst>
      <p:ext uri="{BB962C8B-B14F-4D97-AF65-F5344CB8AC3E}">
        <p14:creationId xmlns:p14="http://schemas.microsoft.com/office/powerpoint/2010/main" val="2708184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923E2-D3F0-A33D-F60C-7C3811DD7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1229DF-0187-EC6E-69A0-EC016F6B1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094D3937-29BB-2C1B-01D9-3DAB6C614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70A8C3-91AF-8723-1158-53EEC705B424}"/>
                  </a:ext>
                </a:extLst>
              </p:cNvPr>
              <p:cNvSpPr txBox="1"/>
              <p:nvPr/>
            </p:nvSpPr>
            <p:spPr>
              <a:xfrm>
                <a:off x="836974" y="3971282"/>
                <a:ext cx="1212922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𝜎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800" b="0" i="0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out</m:t>
                        </m:r>
                      </m:sub>
                    </m:sSub>
                    <m:r>
                      <a:rPr lang="en-US" altLang="ko-KR" sz="1800" b="0" i="0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출력 활성화 함수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입력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스케일에 따라 결정된다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같아야 비교할 수 있다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70A8C3-91AF-8723-1158-53EEC705B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974" y="3971282"/>
                <a:ext cx="12129221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2E1AD8-6282-00F4-A3FD-DED6786E56AB}"/>
                  </a:ext>
                </a:extLst>
              </p:cNvPr>
              <p:cNvSpPr txBox="1"/>
              <p:nvPr/>
            </p:nvSpPr>
            <p:spPr>
              <a:xfrm>
                <a:off x="1281690" y="4340614"/>
                <a:ext cx="63003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정규화된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이미지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→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Sigmoid</a:t>
                </a:r>
                <a:endParaRPr lang="ko-KR" altLang="en-US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2E1AD8-6282-00F4-A3FD-DED6786E5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690" y="4340614"/>
                <a:ext cx="6300354" cy="369332"/>
              </a:xfrm>
              <a:prstGeom prst="rect">
                <a:avLst/>
              </a:prstGeom>
              <a:blipFill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DD9F9D-C340-E990-1EA6-D0ABAD554C58}"/>
                  </a:ext>
                </a:extLst>
              </p:cNvPr>
              <p:cNvSpPr txBox="1"/>
              <p:nvPr/>
            </p:nvSpPr>
            <p:spPr>
              <a:xfrm>
                <a:off x="1281690" y="4705063"/>
                <a:ext cx="660861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−1,1</m:t>
                        </m:r>
                      </m:e>
                    </m:d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Tanh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정규화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→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Tanh</a:t>
                </a:r>
                <a:endParaRPr lang="ko-KR" altLang="en-US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DD9F9D-C340-E990-1EA6-D0ABAD554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690" y="4705063"/>
                <a:ext cx="6608617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AF952-5EAF-126A-B7C8-9074B432019E}"/>
                  </a:ext>
                </a:extLst>
              </p:cNvPr>
              <p:cNvSpPr txBox="1"/>
              <p:nvPr/>
            </p:nvSpPr>
            <p:spPr>
              <a:xfrm>
                <a:off x="1286742" y="5074395"/>
                <a:ext cx="63315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𝑅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일반적인 실수 데이터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→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선형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활성화 없음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endParaRPr lang="ko-KR" altLang="en-US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AF952-5EAF-126A-B7C8-9074B4320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6742" y="5074395"/>
                <a:ext cx="6331526" cy="369332"/>
              </a:xfrm>
              <a:prstGeom prst="rect">
                <a:avLst/>
              </a:prstGeom>
              <a:blipFill>
                <a:blip r:embed="rId6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A55E192-7C61-37C6-669E-42AAF647FB41}"/>
              </a:ext>
            </a:extLst>
          </p:cNvPr>
          <p:cNvSpPr txBox="1"/>
          <p:nvPr/>
        </p:nvSpPr>
        <p:spPr>
          <a:xfrm>
            <a:off x="471488" y="2364978"/>
            <a:ext cx="613063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2. Decoder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0AB272-DC21-B17E-7FBD-E7C384933CAF}"/>
              </a:ext>
            </a:extLst>
          </p:cNvPr>
          <p:cNvSpPr txBox="1"/>
          <p:nvPr/>
        </p:nvSpPr>
        <p:spPr>
          <a:xfrm>
            <a:off x="836974" y="3171240"/>
            <a:ext cx="121292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차원 </a:t>
            </a:r>
            <a:r>
              <a:rPr lang="ko-KR" altLang="en-US" dirty="0" err="1"/>
              <a:t>백터를</a:t>
            </a:r>
            <a:r>
              <a:rPr lang="ko-KR" altLang="en-US" dirty="0"/>
              <a:t> </a:t>
            </a:r>
            <a:r>
              <a:rPr lang="en-US" altLang="ko-KR" dirty="0"/>
              <a:t>2D </a:t>
            </a:r>
            <a:r>
              <a:rPr lang="ko-KR" altLang="en-US" dirty="0"/>
              <a:t>이미지로 복원 한 후</a:t>
            </a:r>
            <a:r>
              <a:rPr lang="en-US" altLang="ko-KR" dirty="0"/>
              <a:t>,</a:t>
            </a:r>
            <a:endParaRPr lang="en-US" altLang="ko-KR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D48B4-C38F-DEB4-6D97-A069CD11EAC7}"/>
              </a:ext>
            </a:extLst>
          </p:cNvPr>
          <p:cNvSpPr txBox="1"/>
          <p:nvPr/>
        </p:nvSpPr>
        <p:spPr>
          <a:xfrm>
            <a:off x="6454631" y="4338172"/>
            <a:ext cx="2254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 err="1"/>
              <a:t>정규화된</a:t>
            </a:r>
            <a:r>
              <a:rPr lang="ko-KR" altLang="en-US" dirty="0"/>
              <a:t> 흑백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5A6BA1-3E69-0D35-9798-D7DEA938675E}"/>
              </a:ext>
            </a:extLst>
          </p:cNvPr>
          <p:cNvSpPr txBox="1"/>
          <p:nvPr/>
        </p:nvSpPr>
        <p:spPr>
          <a:xfrm>
            <a:off x="7373793" y="5079278"/>
            <a:ext cx="1852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-5.4, 102.1)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0962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FDE6-4990-6012-0637-A1DAD07B6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C437F7-941C-0876-483A-A30243C85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DA1A170-385A-5318-2D49-258ECC57B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pic>
        <p:nvPicPr>
          <p:cNvPr id="4" name="그래픽 3">
            <a:extLst>
              <a:ext uri="{FF2B5EF4-FFF2-40B4-BE49-F238E27FC236}">
                <a16:creationId xmlns:a16="http://schemas.microsoft.com/office/drawing/2014/main" id="{97EFE42C-77D2-7E3E-5D1B-21221EA461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6988" y="2230438"/>
            <a:ext cx="4486275" cy="11811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8A87F7-CABC-5259-3CEB-9CFCE40AF8B3}"/>
                  </a:ext>
                </a:extLst>
              </p:cNvPr>
              <p:cNvSpPr txBox="1"/>
              <p:nvPr/>
            </p:nvSpPr>
            <p:spPr>
              <a:xfrm>
                <a:off x="370606" y="3478807"/>
                <a:ext cx="11759047" cy="9678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MSE (L2 Loss):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재구성 오차가 </a:t>
                </a:r>
                <a:r>
                  <a:rPr lang="ko-KR" altLang="en-US" sz="18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가우시안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분포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(Gaussian distribution)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따른다고 가정하는 것과 같다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즉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𝑝</m:t>
                    </m:r>
                    <m:d>
                      <m:d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𝐳</m:t>
                        </m:r>
                      </m:e>
                    </m:d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𝒩</m:t>
                    </m:r>
                    <m:d>
                      <m:d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  <m:e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𝜙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𝐳</m:t>
                            </m:r>
                          </m:e>
                        </m:d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sSup>
                          <m:sSup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𝐈</m:t>
                        </m:r>
                      </m:e>
                    </m:d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가정하고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Likelihood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최대화하는 것과 같다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실수 값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(real-valued)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데이터에 적합하다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8A87F7-CABC-5259-3CEB-9CFCE40AF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06" y="3478807"/>
                <a:ext cx="11759047" cy="967829"/>
              </a:xfrm>
              <a:prstGeom prst="rect">
                <a:avLst/>
              </a:prstGeom>
              <a:blipFill>
                <a:blip r:embed="rId5"/>
                <a:stretch>
                  <a:fillRect l="-570" t="-6329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99875A4-5B6B-65EF-9149-87996E62C8D7}"/>
              </a:ext>
            </a:extLst>
          </p:cNvPr>
          <p:cNvSpPr txBox="1"/>
          <p:nvPr/>
        </p:nvSpPr>
        <p:spPr>
          <a:xfrm>
            <a:off x="5643995" y="2544019"/>
            <a:ext cx="635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사실상 </a:t>
            </a:r>
            <a:r>
              <a:rPr lang="ko-KR" altLang="en-US" dirty="0" err="1"/>
              <a:t>틀린그림</a:t>
            </a:r>
            <a:r>
              <a:rPr lang="ko-KR" altLang="en-US" dirty="0"/>
              <a:t> 찾기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7F1FCA-68C5-9A69-6BCA-685B35264B92}"/>
              </a:ext>
            </a:extLst>
          </p:cNvPr>
          <p:cNvSpPr txBox="1"/>
          <p:nvPr/>
        </p:nvSpPr>
        <p:spPr>
          <a:xfrm>
            <a:off x="506988" y="4513905"/>
            <a:ext cx="61306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784</a:t>
            </a:r>
            <a:r>
              <a:rPr lang="ko-KR" altLang="en-US" dirty="0"/>
              <a:t>개 모든 픽셀을 </a:t>
            </a:r>
            <a:r>
              <a:rPr lang="en-US" altLang="ko-KR" dirty="0"/>
              <a:t>1:1</a:t>
            </a:r>
            <a:r>
              <a:rPr lang="ko-KR" altLang="en-US" dirty="0"/>
              <a:t>로 비교해서 </a:t>
            </a:r>
            <a:r>
              <a:rPr lang="en-US" altLang="ko-KR" dirty="0"/>
              <a:t>(</a:t>
            </a:r>
            <a:r>
              <a:rPr lang="ko-KR" altLang="en-US" dirty="0"/>
              <a:t>원본 픽셀 </a:t>
            </a:r>
            <a:r>
              <a:rPr lang="en-US" altLang="ko-KR" dirty="0"/>
              <a:t>- </a:t>
            </a:r>
            <a:r>
              <a:rPr lang="ko-KR" altLang="en-US" dirty="0"/>
              <a:t>복원 픽셀</a:t>
            </a:r>
            <a:r>
              <a:rPr lang="en-US" altLang="ko-KR" dirty="0"/>
              <a:t>)²</a:t>
            </a:r>
            <a:r>
              <a:rPr lang="ko-KR" altLang="en-US" dirty="0"/>
              <a:t>의 </a:t>
            </a:r>
            <a:r>
              <a:rPr lang="ko-KR" altLang="en-US" b="1" dirty="0"/>
              <a:t>평균 오류를 낸다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0E86EA-E923-9735-1770-383660F8BC0C}"/>
              </a:ext>
            </a:extLst>
          </p:cNvPr>
          <p:cNvSpPr txBox="1"/>
          <p:nvPr/>
        </p:nvSpPr>
        <p:spPr>
          <a:xfrm>
            <a:off x="506988" y="5386787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일반적인 실수 값 데이터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소리</a:t>
            </a:r>
            <a:r>
              <a:rPr lang="en-US" altLang="ko-KR" dirty="0"/>
              <a:t>, </a:t>
            </a:r>
            <a:r>
              <a:rPr lang="ko-KR" altLang="en-US" dirty="0"/>
              <a:t>주가</a:t>
            </a:r>
            <a:r>
              <a:rPr lang="en-US" altLang="ko-KR" dirty="0"/>
              <a:t>)</a:t>
            </a:r>
            <a:r>
              <a:rPr lang="ko-KR" altLang="en-US" dirty="0"/>
              <a:t>에 적합</a:t>
            </a:r>
          </a:p>
        </p:txBody>
      </p:sp>
    </p:spTree>
    <p:extLst>
      <p:ext uri="{BB962C8B-B14F-4D97-AF65-F5344CB8AC3E}">
        <p14:creationId xmlns:p14="http://schemas.microsoft.com/office/powerpoint/2010/main" val="1312475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8512-C59C-E10A-BC4A-4F1F8FEE0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408C96-D0A5-40EC-41D7-12A0CAA1E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0F5F46F-B7DF-27D9-5668-742848415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69A6BCA-8951-BDE6-40EC-C5270B82A0D7}"/>
                  </a:ext>
                </a:extLst>
              </p:cNvPr>
              <p:cNvSpPr txBox="1"/>
              <p:nvPr/>
            </p:nvSpPr>
            <p:spPr>
              <a:xfrm>
                <a:off x="370606" y="2432557"/>
                <a:ext cx="11627429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BCE (Cross-Entropy):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입력 데이터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각 픽셀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  <m:sub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베르누이 분포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(Bernoulli distribution)(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즉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0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또는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따른다고 가정하는 것과 같다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픽셀 값이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[0, 1]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범위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확률로 해석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인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이진화된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이미지나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Sigmoid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출력에 적합하다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69A6BCA-8951-BDE6-40EC-C5270B82A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06" y="2432557"/>
                <a:ext cx="11627429" cy="923330"/>
              </a:xfrm>
              <a:prstGeom prst="rect">
                <a:avLst/>
              </a:prstGeom>
              <a:blipFill>
                <a:blip r:embed="rId3"/>
                <a:stretch>
                  <a:fillRect l="-472" t="-3289" r="-315" b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3325152-E0B3-EF13-A6AF-77E9004E0730}"/>
                  </a:ext>
                </a:extLst>
              </p:cNvPr>
              <p:cNvSpPr txBox="1"/>
              <p:nvPr/>
            </p:nvSpPr>
            <p:spPr>
              <a:xfrm>
                <a:off x="268288" y="4756666"/>
                <a:ext cx="12444845" cy="10608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목적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ko-KR" sz="1800" b="0" i="1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ko-KR" sz="1800" b="0" i="0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min</m:t>
                            </m:r>
                          </m:e>
                          <m:lim>
                            <m:r>
                              <a:rPr lang="en-US" altLang="ko-KR" sz="1800" b="0" i="1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𝜃</m:t>
                            </m:r>
                            <m:r>
                              <a:rPr lang="en-US" altLang="ko-KR" sz="1800" b="0" i="1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,</m:t>
                            </m:r>
                            <m:r>
                              <a:rPr lang="en-US" altLang="ko-KR" sz="1800" b="0" i="1" kern="1200" dirty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𝜙</m:t>
                            </m:r>
                          </m:lim>
                        </m:limLow>
                      </m:fName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e>
                    </m:func>
                    <m:d>
                      <m:d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𝜙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𝜃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dPr>
                              <m:e>
                                <m:r>
                                  <a:rPr lang="en-US" altLang="ko-KR" sz="1800" b="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𝐱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-US" altLang="ko-KR" sz="18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𝐱</m:t>
                        </m:r>
                      </m:e>
                    </m:acc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≈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되도록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최적화 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𝐱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핵심 정보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압축된 표현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성공적으로 보유해야 함을 의미한다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3325152-E0B3-EF13-A6AF-77E9004E0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88" y="4756666"/>
                <a:ext cx="12444845" cy="1060868"/>
              </a:xfrm>
              <a:prstGeom prst="rect">
                <a:avLst/>
              </a:prstGeom>
              <a:blipFill>
                <a:blip r:embed="rId4"/>
                <a:stretch>
                  <a:fillRect l="-392" b="-80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A984B9A-A2F4-A03A-CB42-0AA614C5D172}"/>
              </a:ext>
            </a:extLst>
          </p:cNvPr>
          <p:cNvSpPr txBox="1"/>
          <p:nvPr/>
        </p:nvSpPr>
        <p:spPr>
          <a:xfrm>
            <a:off x="370605" y="3502114"/>
            <a:ext cx="107684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픽셀 값이 </a:t>
            </a:r>
            <a:r>
              <a:rPr lang="en-US" altLang="ko-KR" dirty="0"/>
              <a:t>0 </a:t>
            </a:r>
            <a:r>
              <a:rPr lang="ko-KR" altLang="en-US" dirty="0"/>
              <a:t>아니면 </a:t>
            </a:r>
            <a:r>
              <a:rPr lang="en-US" altLang="ko-KR" dirty="0"/>
              <a:t>1</a:t>
            </a:r>
            <a:r>
              <a:rPr lang="ko-KR" altLang="en-US" dirty="0"/>
              <a:t>에 가까운 </a:t>
            </a:r>
            <a:r>
              <a:rPr lang="en-US" altLang="ko-KR" dirty="0"/>
              <a:t>'</a:t>
            </a:r>
            <a:r>
              <a:rPr lang="ko-KR" altLang="en-US" dirty="0"/>
              <a:t>확률</a:t>
            </a:r>
            <a:r>
              <a:rPr lang="en-US" altLang="ko-KR" dirty="0"/>
              <a:t>'</a:t>
            </a:r>
            <a:r>
              <a:rPr lang="ko-KR" altLang="en-US" dirty="0"/>
              <a:t>일 때 사용한다</a:t>
            </a:r>
            <a:r>
              <a:rPr lang="en-US" altLang="ko-KR" dirty="0"/>
              <a:t>. 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흑백 이미지</a:t>
            </a:r>
            <a:r>
              <a:rPr lang="en-US" altLang="ko-KR" dirty="0"/>
              <a:t>) "</a:t>
            </a:r>
            <a:r>
              <a:rPr lang="ko-KR" altLang="en-US" dirty="0"/>
              <a:t>이 픽셀이 </a:t>
            </a:r>
            <a:r>
              <a:rPr lang="en-US" altLang="ko-KR" dirty="0"/>
              <a:t>'</a:t>
            </a:r>
            <a:r>
              <a:rPr lang="ko-KR" altLang="en-US" dirty="0"/>
              <a:t>흰색일 확률</a:t>
            </a:r>
            <a:r>
              <a:rPr lang="en-US" altLang="ko-KR" dirty="0"/>
              <a:t>'</a:t>
            </a:r>
            <a:r>
              <a:rPr lang="ko-KR" altLang="en-US" dirty="0"/>
              <a:t>이 </a:t>
            </a:r>
            <a:r>
              <a:rPr lang="en-US" altLang="ko-KR" dirty="0"/>
              <a:t>0.9</a:t>
            </a:r>
            <a:r>
              <a:rPr lang="ko-KR" altLang="en-US" dirty="0"/>
              <a:t>라고 예측했는데</a:t>
            </a:r>
            <a:r>
              <a:rPr lang="en-US" altLang="ko-KR" dirty="0"/>
              <a:t>, </a:t>
            </a:r>
            <a:r>
              <a:rPr lang="ko-KR" altLang="en-US" dirty="0"/>
              <a:t>정답</a:t>
            </a:r>
            <a:r>
              <a:rPr lang="en-US" altLang="ko-KR" dirty="0"/>
              <a:t>(</a:t>
            </a:r>
            <a:r>
              <a:rPr lang="ko-KR" altLang="en-US" dirty="0"/>
              <a:t>원본</a:t>
            </a:r>
            <a:r>
              <a:rPr lang="en-US" altLang="ko-KR" dirty="0"/>
              <a:t>)</a:t>
            </a:r>
            <a:r>
              <a:rPr lang="ko-KR" altLang="en-US" dirty="0"/>
              <a:t>이 </a:t>
            </a:r>
            <a:r>
              <a:rPr lang="en-US" altLang="ko-KR" dirty="0"/>
              <a:t>1(</a:t>
            </a:r>
            <a:r>
              <a:rPr lang="ko-KR" altLang="en-US" dirty="0"/>
              <a:t>흰색</a:t>
            </a:r>
            <a:r>
              <a:rPr lang="en-US" altLang="ko-KR" dirty="0"/>
              <a:t>)</a:t>
            </a:r>
            <a:r>
              <a:rPr lang="ko-KR" altLang="en-US" dirty="0"/>
              <a:t>이네</a:t>
            </a:r>
            <a:r>
              <a:rPr lang="en-US" altLang="ko-KR" dirty="0"/>
              <a:t>? </a:t>
            </a:r>
            <a:r>
              <a:rPr lang="ko-KR" altLang="en-US" dirty="0" err="1"/>
              <a:t>잘했어</a:t>
            </a:r>
            <a:r>
              <a:rPr lang="en-US" altLang="ko-KR" dirty="0"/>
              <a:t>."</a:t>
            </a:r>
            <a:r>
              <a:rPr lang="ko-KR" altLang="en-US" dirty="0"/>
              <a:t>라고 점수를 준다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97D15F-7B58-98A3-5F76-1AF5E7CDB92D}"/>
              </a:ext>
            </a:extLst>
          </p:cNvPr>
          <p:cNvSpPr txBox="1"/>
          <p:nvPr/>
        </p:nvSpPr>
        <p:spPr>
          <a:xfrm>
            <a:off x="471488" y="4228994"/>
            <a:ext cx="635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Sigmoid</a:t>
            </a:r>
            <a:r>
              <a:rPr lang="ko-KR" altLang="en-US" dirty="0"/>
              <a:t>를 사용한 </a:t>
            </a:r>
            <a:r>
              <a:rPr lang="en-US" altLang="ko-KR" dirty="0"/>
              <a:t>[0, 1] </a:t>
            </a:r>
            <a:r>
              <a:rPr lang="ko-KR" altLang="en-US" dirty="0"/>
              <a:t>범위의 이미지에 적합</a:t>
            </a:r>
          </a:p>
        </p:txBody>
      </p:sp>
    </p:spTree>
    <p:extLst>
      <p:ext uri="{BB962C8B-B14F-4D97-AF65-F5344CB8AC3E}">
        <p14:creationId xmlns:p14="http://schemas.microsoft.com/office/powerpoint/2010/main" val="323510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6A5C0-2A9E-140A-6514-CC1A00A1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CE7D40-A177-ECBE-2ABF-67AA2C9E6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4C764559-5798-DBAE-A70D-17EDC6FF1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5C10D-0BB7-440F-3635-228AB7FD4AE1}"/>
              </a:ext>
            </a:extLst>
          </p:cNvPr>
          <p:cNvSpPr txBox="1"/>
          <p:nvPr/>
        </p:nvSpPr>
        <p:spPr>
          <a:xfrm>
            <a:off x="471488" y="2403280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 err="1"/>
              <a:t>역전파</a:t>
            </a:r>
            <a:endParaRPr lang="ko-KR" altLang="en-US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2AB9E01-7C05-52A8-8AC8-B48BA98DAD4C}"/>
                  </a:ext>
                </a:extLst>
              </p:cNvPr>
              <p:cNvSpPr txBox="1"/>
              <p:nvPr/>
            </p:nvSpPr>
            <p:spPr>
              <a:xfrm>
                <a:off x="471488" y="2772612"/>
                <a:ext cx="1124902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손실 함수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ℒ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최소화하기 위해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ℒ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와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모든 파라미터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가중치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편향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로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편미분하여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그래디언트를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계산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2AB9E01-7C05-52A8-8AC8-B48BA98DA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772612"/>
                <a:ext cx="11249024" cy="369332"/>
              </a:xfrm>
              <a:prstGeom prst="rect">
                <a:avLst/>
              </a:prstGeom>
              <a:blipFill>
                <a:blip r:embed="rId3"/>
                <a:stretch>
                  <a:fillRect l="-433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6AB305F-5A30-B98B-4F38-AA6E96BA2C1B}"/>
                  </a:ext>
                </a:extLst>
              </p:cNvPr>
              <p:cNvSpPr txBox="1"/>
              <p:nvPr/>
            </p:nvSpPr>
            <p:spPr>
              <a:xfrm>
                <a:off x="471488" y="3580001"/>
                <a:ext cx="6130636" cy="499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출력 → </a:t>
                </a:r>
                <a:r>
                  <a:rPr lang="ko-KR" altLang="en-US" sz="1800" b="1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acc>
                          <m:accPr>
                            <m:chr m:val="̂"/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𝐱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손실의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계산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6AB305F-5A30-B98B-4F38-AA6E96BA2C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3580001"/>
                <a:ext cx="6130636" cy="499560"/>
              </a:xfrm>
              <a:prstGeom prst="rect">
                <a:avLst/>
              </a:prstGeom>
              <a:blipFill>
                <a:blip r:embed="rId4"/>
                <a:stretch>
                  <a:fillRect l="-795" b="-48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AD19A7E-9E61-7D85-6BD2-85B764BB7E4D}"/>
                  </a:ext>
                </a:extLst>
              </p:cNvPr>
              <p:cNvSpPr txBox="1"/>
              <p:nvPr/>
            </p:nvSpPr>
            <p:spPr>
              <a:xfrm>
                <a:off x="471488" y="4099636"/>
                <a:ext cx="1085460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이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디코더의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마지막 레이어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𝐌</m:t>
                        </m:r>
                      </m:sub>
                      <m:sup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부터 역으로 전파되며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디코더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가중치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업데이트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AD19A7E-9E61-7D85-6BD2-85B764BB7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4099636"/>
                <a:ext cx="10854603" cy="369332"/>
              </a:xfrm>
              <a:prstGeom prst="rect">
                <a:avLst/>
              </a:prstGeom>
              <a:blipFill>
                <a:blip r:embed="rId5"/>
                <a:stretch>
                  <a:fillRect l="-449" t="-11667" b="-2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44E50D-6070-7554-D3EE-D63297C43400}"/>
                  </a:ext>
                </a:extLst>
              </p:cNvPr>
              <p:cNvSpPr txBox="1"/>
              <p:nvPr/>
            </p:nvSpPr>
            <p:spPr>
              <a:xfrm>
                <a:off x="585354" y="4643879"/>
                <a:ext cx="1790701" cy="6815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altLang="ko-KR" sz="1800" b="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ℒ</m:t>
                          </m:r>
                        </m:num>
                        <m:den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𝐌</m:t>
                              </m:r>
                            </m:sub>
                            <m:sup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′</m:t>
                              </m:r>
                            </m:sup>
                          </m:sSubSup>
                        </m:den>
                      </m:f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ℒ</m:t>
                          </m:r>
                        </m:num>
                        <m:den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𝐱</m:t>
                              </m:r>
                            </m:e>
                          </m:acc>
                        </m:den>
                      </m:f>
                      <m:f>
                        <m:f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𝐱</m:t>
                              </m:r>
                            </m:e>
                          </m:acc>
                        </m:num>
                        <m:den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𝐖</m:t>
                              </m:r>
                            </m:e>
                            <m:sub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𝐌</m:t>
                              </m:r>
                            </m:sub>
                            <m:sup>
                              <m:r>
                                <a:rPr lang="en-US" altLang="ko-KR" sz="1800" b="0" i="1" kern="1200" dirty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′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44E50D-6070-7554-D3EE-D63297C43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354" y="4643879"/>
                <a:ext cx="1790701" cy="6815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43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E8917-CBBC-E951-AC54-C4AD17E41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5F5697-D425-1DB9-ADEC-7AD8BA0AF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25B4FBF-9679-694E-9726-13A68F8F5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42CD9-7D12-B8A1-ADDA-1FA1C512AE6D}"/>
              </a:ext>
            </a:extLst>
          </p:cNvPr>
          <p:cNvSpPr txBox="1"/>
          <p:nvPr/>
        </p:nvSpPr>
        <p:spPr>
          <a:xfrm>
            <a:off x="471488" y="2403280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 err="1"/>
              <a:t>역전파</a:t>
            </a:r>
            <a:endParaRPr lang="ko-KR" altLang="en-US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649D2E-B0DF-CB8A-24F9-9971F335A2E9}"/>
                  </a:ext>
                </a:extLst>
              </p:cNvPr>
              <p:cNvSpPr txBox="1"/>
              <p:nvPr/>
            </p:nvSpPr>
            <p:spPr>
              <a:xfrm>
                <a:off x="471488" y="2782669"/>
                <a:ext cx="9850148" cy="499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까지 도달합니다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14:m>
                  <m:oMath xmlns:m="http://schemas.openxmlformats.org/officeDocument/2006/math">
                    <m:r>
                      <a:rPr lang="en-US" altLang="ko-KR" sz="1800" b="0" i="0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f>
                      <m:f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𝐳</m:t>
                        </m:r>
                      </m:den>
                    </m:f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649D2E-B0DF-CB8A-24F9-9971F335A2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8" y="2782669"/>
                <a:ext cx="9850148" cy="499560"/>
              </a:xfrm>
              <a:prstGeom prst="rect">
                <a:avLst/>
              </a:prstGeom>
              <a:blipFill>
                <a:blip r:embed="rId3"/>
                <a:stretch>
                  <a:fillRect l="-495" b="-48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0061B7-1481-0E28-0581-986F274B416A}"/>
                  </a:ext>
                </a:extLst>
              </p:cNvPr>
              <p:cNvSpPr txBox="1"/>
              <p:nvPr/>
            </p:nvSpPr>
            <p:spPr>
              <a:xfrm>
                <a:off x="471487" y="3499492"/>
                <a:ext cx="10813040" cy="8093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𝐳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 도달한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이제 인코더를 역으로 통과하며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인코더 가중치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업데이트 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𝐖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𝐋</m:t>
                            </m:r>
                          </m:sub>
                        </m:sSub>
                      </m:den>
                    </m:f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𝐳</m:t>
                        </m:r>
                      </m:den>
                    </m:f>
                    <m:f>
                      <m:f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𝐳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𝐖</m:t>
                            </m:r>
                          </m:e>
                          <m:sub>
                            <m:r>
                              <a:rPr lang="en-US" altLang="ko-KR" sz="1800" b="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𝐋</m:t>
                            </m:r>
                          </m:sub>
                        </m:sSub>
                      </m:den>
                    </m:f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0061B7-1481-0E28-0581-986F274B4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" y="3499492"/>
                <a:ext cx="10813040" cy="809389"/>
              </a:xfrm>
              <a:prstGeom prst="rect">
                <a:avLst/>
              </a:prstGeom>
              <a:blipFill>
                <a:blip r:embed="rId4"/>
                <a:stretch>
                  <a:fillRect l="-451" t="-3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7B19BC-A67C-1131-D001-4421195137F0}"/>
                  </a:ext>
                </a:extLst>
              </p:cNvPr>
              <p:cNvSpPr txBox="1"/>
              <p:nvPr/>
            </p:nvSpPr>
            <p:spPr>
              <a:xfrm>
                <a:off x="490394" y="4848227"/>
                <a:ext cx="6130636" cy="16140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SGD/Adam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과 같은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옵티마이저는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이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그래디언트를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사용하여 파라미터를 갱신한다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en-US" altLang="ko-KR" sz="1800" b="0" i="1" kern="1200" dirty="0"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𝜃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←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𝜃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r>
                        <a:rPr lang="en-US" altLang="ko-KR" sz="1800" b="0" i="1" kern="1200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𝜂</m:t>
                      </m:r>
                      <m:f>
                        <m:fPr>
                          <m:ctrlP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ℒ</m:t>
                          </m:r>
                        </m:num>
                        <m:den>
                          <m:r>
                            <a:rPr lang="en-US" altLang="ko-KR" sz="1800" b="0" i="1" kern="120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𝜕𝜃</m:t>
                          </m:r>
                        </m:den>
                      </m:f>
                    </m:oMath>
                  </m:oMathPara>
                </a14:m>
                <a:endParaRPr lang="en-US" altLang="ko-KR" sz="1800" b="0" i="1" kern="1200" dirty="0"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←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𝜙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lang="en-US" altLang="ko-KR" sz="1800" b="0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𝜂</m:t>
                    </m:r>
                    <m:f>
                      <m:fPr>
                        <m:ctrlP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</m:t>
                        </m:r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ℒ</m:t>
                        </m:r>
                      </m:num>
                      <m:den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𝜕𝜙</m:t>
                        </m:r>
                      </m:den>
                    </m:f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여기서 </a:t>
                </a:r>
                <a14:m>
                  <m:oMath xmlns:m="http://schemas.openxmlformats.org/officeDocument/2006/math">
                    <m:r>
                      <a:rPr lang="en-US" altLang="ko-KR" sz="1800" b="0" i="1" kern="1200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𝜂</m:t>
                    </m:r>
                  </m:oMath>
                </a14:m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학습률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7B19BC-A67C-1131-D001-442119513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394" y="4848227"/>
                <a:ext cx="6130636" cy="1614096"/>
              </a:xfrm>
              <a:prstGeom prst="rect">
                <a:avLst/>
              </a:prstGeom>
              <a:blipFill>
                <a:blip r:embed="rId5"/>
                <a:stretch>
                  <a:fillRect l="-795" t="-1887" b="-15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8278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D91A6-27B7-8137-2518-A781F847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58E6BE-C312-EDC1-18D2-AA4300135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C35EDCDF-5A7C-7A9D-75D7-CA5E07A02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2447896-E19A-415D-E231-1A8544F75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0159" y="1492036"/>
            <a:ext cx="5368513" cy="521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49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89AE0-2C8A-D66B-1991-1091AB05A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C4D607-B0D4-B414-8DB8-A10C6A288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E5C3840-6683-6B3B-E206-B3B1D357C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3A552E-7C65-E69F-841C-516F036ECD91}"/>
              </a:ext>
            </a:extLst>
          </p:cNvPr>
          <p:cNvSpPr txBox="1"/>
          <p:nvPr/>
        </p:nvSpPr>
        <p:spPr>
          <a:xfrm>
            <a:off x="471488" y="248588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예제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MNIST Dense AE (784 → 32 → 784)</a:t>
            </a:r>
            <a:endParaRPr lang="en-US" altLang="ko-KR" sz="18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65DE46-7F01-5194-FCAE-356BDB24FD92}"/>
              </a:ext>
            </a:extLst>
          </p:cNvPr>
          <p:cNvSpPr txBox="1"/>
          <p:nvPr/>
        </p:nvSpPr>
        <p:spPr>
          <a:xfrm>
            <a:off x="471488" y="2930787"/>
            <a:ext cx="65181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https://huggingface.co/gihakkk/AutoEncoder/tree/main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36398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B6F05-7260-E939-EA11-2FD98A787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58B1F-F19A-5E07-9A1F-02601D8A4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D65A8DA-224A-9A4D-851C-431184651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6E18A2-4025-11F0-CE1F-77E2466CFEA9}"/>
              </a:ext>
            </a:extLst>
          </p:cNvPr>
          <p:cNvSpPr txBox="1"/>
          <p:nvPr/>
        </p:nvSpPr>
        <p:spPr>
          <a:xfrm>
            <a:off x="471488" y="2505670"/>
            <a:ext cx="61306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아니 근데 그래서 결국 이미지인데 위치정보 소실되면 </a:t>
            </a:r>
            <a:r>
              <a:rPr lang="ko-KR" altLang="en-US" dirty="0" err="1"/>
              <a:t>안되는거</a:t>
            </a:r>
            <a:r>
              <a:rPr lang="ko-KR" altLang="en-US" dirty="0"/>
              <a:t> 아닌가요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32984D-81F1-39A0-814A-7046225D5D5C}"/>
              </a:ext>
            </a:extLst>
          </p:cNvPr>
          <p:cNvSpPr txBox="1"/>
          <p:nvPr/>
        </p:nvSpPr>
        <p:spPr>
          <a:xfrm>
            <a:off x="471488" y="351956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맞아요 그래서 </a:t>
            </a: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r>
              <a:rPr lang="ko-KR" altLang="en-US" dirty="0"/>
              <a:t>가 있습니다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FC3B-20EE-06BF-04B0-7E17D7E8B437}"/>
              </a:ext>
            </a:extLst>
          </p:cNvPr>
          <p:cNvSpPr txBox="1"/>
          <p:nvPr/>
        </p:nvSpPr>
        <p:spPr>
          <a:xfrm>
            <a:off x="471488" y="5859379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https://arxiv.org/abs/1611.09119</a:t>
            </a:r>
          </a:p>
        </p:txBody>
      </p:sp>
    </p:spTree>
    <p:extLst>
      <p:ext uri="{BB962C8B-B14F-4D97-AF65-F5344CB8AC3E}">
        <p14:creationId xmlns:p14="http://schemas.microsoft.com/office/powerpoint/2010/main" val="294954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D3800-E1FE-B251-577A-2F5138A0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FC2E3-219B-B064-4C33-DC01D6BA2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66C34B0-82E7-CAC9-2F7C-00C7B8B60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325F5A5-EFE8-F5D6-1A50-8F6E688FE4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339488"/>
              </p:ext>
            </p:extLst>
          </p:nvPr>
        </p:nvGraphicFramePr>
        <p:xfrm>
          <a:off x="542636" y="2368357"/>
          <a:ext cx="8127999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5382">
                  <a:extLst>
                    <a:ext uri="{9D8B030D-6E8A-4147-A177-3AD203B41FA5}">
                      <a16:colId xmlns:a16="http://schemas.microsoft.com/office/drawing/2014/main" val="1686921696"/>
                    </a:ext>
                  </a:extLst>
                </a:gridCol>
                <a:gridCol w="3248891">
                  <a:extLst>
                    <a:ext uri="{9D8B030D-6E8A-4147-A177-3AD203B41FA5}">
                      <a16:colId xmlns:a16="http://schemas.microsoft.com/office/drawing/2014/main" val="2210838106"/>
                    </a:ext>
                  </a:extLst>
                </a:gridCol>
                <a:gridCol w="3613726">
                  <a:extLst>
                    <a:ext uri="{9D8B030D-6E8A-4147-A177-3AD203B41FA5}">
                      <a16:colId xmlns:a16="http://schemas.microsoft.com/office/drawing/2014/main" val="14902759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Dense AE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CNN AE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402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1D </a:t>
                      </a:r>
                      <a:r>
                        <a:rPr lang="ko-KR" altLang="en-US" dirty="0"/>
                        <a:t>벡터 </a:t>
                      </a:r>
                      <a:r>
                        <a:rPr lang="en-US" altLang="ko-KR" dirty="0"/>
                        <a:t>[B,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D]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4D </a:t>
                      </a:r>
                      <a:r>
                        <a:rPr lang="ko-KR" altLang="en-US" dirty="0" err="1"/>
                        <a:t>텐서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[B, C , H, W]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756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공간 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소실</a:t>
                      </a:r>
                      <a:r>
                        <a:rPr lang="en-US" altLang="ko-KR" dirty="0"/>
                        <a:t>(Flatten)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유지 및 활용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7853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압축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뉴런 수 감소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차원 수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공간 해상도</a:t>
                      </a:r>
                      <a:r>
                        <a:rPr lang="en-US" altLang="ko-KR" dirty="0"/>
                        <a:t>(H, W)</a:t>
                      </a:r>
                      <a:r>
                        <a:rPr lang="ko-KR" altLang="en-US" dirty="0"/>
                        <a:t>감소 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+ </a:t>
                      </a:r>
                      <a:r>
                        <a:rPr lang="ko-KR" altLang="en-US" dirty="0"/>
                        <a:t>채널 증가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특징 추출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28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많음</a:t>
                      </a:r>
                      <a:r>
                        <a:rPr lang="en-US" altLang="ko-KR" dirty="0"/>
                        <a:t>(Fully-Connected)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적음</a:t>
                      </a:r>
                      <a:r>
                        <a:rPr lang="en-US" altLang="ko-KR" dirty="0"/>
                        <a:t>(Parameter Sharing)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25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핵심연산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행렬 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합성 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11228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E8A743-DC7C-7525-97EF-2C668775AB1E}"/>
                  </a:ext>
                </a:extLst>
              </p:cNvPr>
              <p:cNvSpPr txBox="1"/>
              <p:nvPr/>
            </p:nvSpPr>
            <p:spPr>
              <a:xfrm>
                <a:off x="384463" y="5000556"/>
                <a:ext cx="1156508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 </a:t>
                </a:r>
                <a:r>
                  <a:rPr lang="ko-KR" altLang="en-US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파라미터 공유 </a:t>
                </a:r>
                <a:r>
                  <a:rPr lang="en-US" altLang="ko-KR" sz="18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(Parameter Sharing) :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하나의 필터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kern="1200" dirty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𝐖</m:t>
                        </m:r>
                      </m:e>
                      <m:sub>
                        <m:r>
                          <a:rPr lang="en-US" altLang="ko-KR" sz="1800" b="0" i="1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𝐤</m:t>
                        </m:r>
                      </m:sub>
                    </m:sSub>
                  </m:oMath>
                </a14:m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가 이미지의 모든 위치를 순회하며 동일한 특징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예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수직선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감지한다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이로 인해 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Dense AE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보다 파라미터 수가 훨씬 적어 효율적이고 </a:t>
                </a:r>
                <a:r>
                  <a:rPr lang="ko-KR" altLang="en-US" sz="1800" b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과적합</a:t>
                </a:r>
                <a:r>
                  <a:rPr lang="ko-KR" altLang="en-US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위험이 낮다</a:t>
                </a:r>
                <a:r>
                  <a:rPr lang="en-US" altLang="ko-KR" sz="18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E8A743-DC7C-7525-97EF-2C668775A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63" y="5000556"/>
                <a:ext cx="11565081" cy="646331"/>
              </a:xfrm>
              <a:prstGeom prst="rect">
                <a:avLst/>
              </a:prstGeom>
              <a:blipFill>
                <a:blip r:embed="rId3"/>
                <a:stretch>
                  <a:fillRect l="-422" t="-4717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88A6B45-043E-9292-AD54-C27501CDD510}"/>
              </a:ext>
            </a:extLst>
          </p:cNvPr>
          <p:cNvSpPr txBox="1"/>
          <p:nvPr/>
        </p:nvSpPr>
        <p:spPr>
          <a:xfrm>
            <a:off x="384462" y="5923886"/>
            <a:ext cx="103389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번역 불변성 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(Translation Invariance) :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물체가 이미지의 왼쪽 위에 있든 오른쪽 아래에 있든 동일한 필터가 활성화 된다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이는 공간적 정보를 보존하는 데 매우 강력하다</a:t>
            </a:r>
            <a:r>
              <a:rPr lang="en-US" altLang="ko-KR" sz="18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747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99332-AE0B-0B76-41EC-9119212FD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7793B9-A5AA-22F2-46D3-58BCFDB81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C2824536-B850-76CC-71C0-A4EF091917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352804-A65E-EEC3-A0E0-252B8D913A41}"/>
              </a:ext>
            </a:extLst>
          </p:cNvPr>
          <p:cNvSpPr txBox="1"/>
          <p:nvPr/>
        </p:nvSpPr>
        <p:spPr>
          <a:xfrm>
            <a:off x="471488" y="2388954"/>
            <a:ext cx="74017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Dense</a:t>
            </a:r>
            <a:r>
              <a:rPr lang="ko-KR" altLang="en-US" dirty="0"/>
              <a:t>에선 </a:t>
            </a:r>
            <a:r>
              <a:rPr lang="en-US" altLang="ko-KR" dirty="0"/>
              <a:t>Flatten </a:t>
            </a:r>
            <a:r>
              <a:rPr lang="ko-KR" altLang="en-US" dirty="0"/>
              <a:t>했지만</a:t>
            </a:r>
            <a:r>
              <a:rPr lang="en-US" altLang="ko-KR" dirty="0"/>
              <a:t>, </a:t>
            </a:r>
            <a:r>
              <a:rPr lang="ko-KR" altLang="en-US" dirty="0"/>
              <a:t>여기선 </a:t>
            </a:r>
            <a:r>
              <a:rPr lang="ko-KR" altLang="en-US" dirty="0" err="1"/>
              <a:t>그런거</a:t>
            </a:r>
            <a:r>
              <a:rPr lang="ko-KR" altLang="en-US" dirty="0"/>
              <a:t> 없이 바로 들어간다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바로 이미지가 </a:t>
            </a:r>
            <a:r>
              <a:rPr lang="en-US" altLang="ko-KR" dirty="0"/>
              <a:t>Encoder</a:t>
            </a:r>
            <a:r>
              <a:rPr lang="ko-KR" altLang="en-US" dirty="0"/>
              <a:t>로 </a:t>
            </a:r>
            <a:r>
              <a:rPr lang="ko-KR" altLang="en-US" dirty="0" err="1"/>
              <a:t>들어가는거다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7DE6E6-5ED1-FEB0-CD26-6C4A187D658E}"/>
              </a:ext>
            </a:extLst>
          </p:cNvPr>
          <p:cNvSpPr txBox="1"/>
          <p:nvPr/>
        </p:nvSpPr>
        <p:spPr>
          <a:xfrm>
            <a:off x="471488" y="3588655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우리가 매</a:t>
            </a:r>
            <a:r>
              <a:rPr lang="en-US" altLang="ko-KR" dirty="0"/>
              <a:t> </a:t>
            </a:r>
            <a:r>
              <a:rPr lang="ko-KR" altLang="en-US" dirty="0"/>
              <a:t>주 하고 있는 </a:t>
            </a:r>
            <a:r>
              <a:rPr lang="en-US" altLang="ko-KR" dirty="0"/>
              <a:t>[Conv + </a:t>
            </a:r>
            <a:r>
              <a:rPr lang="en-US" altLang="ko-KR" dirty="0" err="1"/>
              <a:t>ReLU</a:t>
            </a:r>
            <a:r>
              <a:rPr lang="en-US" altLang="ko-KR" dirty="0"/>
              <a:t> -&gt; </a:t>
            </a:r>
            <a:r>
              <a:rPr lang="en-US" altLang="ko-KR" dirty="0" err="1"/>
              <a:t>Maxpolling</a:t>
            </a:r>
            <a:r>
              <a:rPr lang="en-US" altLang="ko-KR" dirty="0"/>
              <a:t> ]</a:t>
            </a:r>
            <a:r>
              <a:rPr lang="ko-KR" altLang="en-US" dirty="0"/>
              <a:t>를 반복 </a:t>
            </a:r>
            <a:r>
              <a:rPr lang="en-US" altLang="ko-KR" dirty="0"/>
              <a:t>-&gt; Flatten -&gt; Dense -&gt; z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FD48D0-2526-7FCD-0705-99ED91135F98}"/>
              </a:ext>
            </a:extLst>
          </p:cNvPr>
          <p:cNvSpPr txBox="1"/>
          <p:nvPr/>
        </p:nvSpPr>
        <p:spPr>
          <a:xfrm>
            <a:off x="471488" y="3193801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Encoder</a:t>
            </a:r>
            <a:r>
              <a:rPr lang="ko-KR" altLang="en-US" dirty="0"/>
              <a:t>는 </a:t>
            </a:r>
            <a:r>
              <a:rPr lang="en-US" altLang="ko-KR" dirty="0"/>
              <a:t>CNN </a:t>
            </a:r>
            <a:r>
              <a:rPr lang="ko-KR" altLang="en-US" dirty="0"/>
              <a:t>그 자체로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BEB350-A858-D699-C382-1FFF2F739B7A}"/>
              </a:ext>
            </a:extLst>
          </p:cNvPr>
          <p:cNvSpPr txBox="1"/>
          <p:nvPr/>
        </p:nvSpPr>
        <p:spPr>
          <a:xfrm>
            <a:off x="471488" y="4160765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Decoder</a:t>
            </a:r>
            <a:r>
              <a:rPr lang="ko-KR" altLang="en-US" dirty="0"/>
              <a:t>도 방식이 여러 개가 있는데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C0D1F7-1F11-6A8C-6865-08AE9988B34F}"/>
              </a:ext>
            </a:extLst>
          </p:cNvPr>
          <p:cNvSpPr txBox="1"/>
          <p:nvPr/>
        </p:nvSpPr>
        <p:spPr>
          <a:xfrm>
            <a:off x="471488" y="4684867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저번주</a:t>
            </a:r>
            <a:r>
              <a:rPr lang="ko-KR" altLang="en-US" dirty="0"/>
              <a:t> </a:t>
            </a:r>
            <a:r>
              <a:rPr lang="en-US" altLang="ko-KR" dirty="0"/>
              <a:t>U-Net </a:t>
            </a:r>
            <a:r>
              <a:rPr lang="ko-KR" altLang="en-US" dirty="0"/>
              <a:t>할 때 했던 </a:t>
            </a:r>
            <a:r>
              <a:rPr lang="en-US" altLang="ko-KR" b="1" dirty="0" err="1"/>
              <a:t>ConvTranspose</a:t>
            </a:r>
            <a:r>
              <a:rPr lang="ko-KR" altLang="en-US" b="1" dirty="0"/>
              <a:t>와 </a:t>
            </a:r>
            <a:r>
              <a:rPr lang="ko-KR" altLang="en-US" dirty="0"/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65AF4-1336-AB31-CC31-EBE09615CB05}"/>
              </a:ext>
            </a:extLst>
          </p:cNvPr>
          <p:cNvSpPr txBox="1"/>
          <p:nvPr/>
        </p:nvSpPr>
        <p:spPr>
          <a:xfrm>
            <a:off x="471488" y="520896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Upsampling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Conv</a:t>
            </a:r>
            <a:r>
              <a:rPr lang="ko-KR" altLang="en-US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있다</a:t>
            </a:r>
            <a:r>
              <a:rPr lang="en-US" altLang="ko-KR" sz="18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F5F3C-5E14-7A66-9ADA-3AF0014215A3}"/>
              </a:ext>
            </a:extLst>
          </p:cNvPr>
          <p:cNvSpPr txBox="1"/>
          <p:nvPr/>
        </p:nvSpPr>
        <p:spPr>
          <a:xfrm>
            <a:off x="482745" y="5709785"/>
            <a:ext cx="6130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https://gihak111.github.io/ai/2025/11/13/Upsampling_Conv_upload.html</a:t>
            </a:r>
          </a:p>
        </p:txBody>
      </p:sp>
    </p:spTree>
    <p:extLst>
      <p:ext uri="{BB962C8B-B14F-4D97-AF65-F5344CB8AC3E}">
        <p14:creationId xmlns:p14="http://schemas.microsoft.com/office/powerpoint/2010/main" val="695374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BF064-6ECE-7FB2-E9B0-E20747D91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FF731E-2C64-F1A5-ABAA-6A691627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86DCF54-9D97-2958-E2DD-70D3DC7E4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13067F-4610-9A4D-AE7F-3964AFB5F15E}"/>
              </a:ext>
            </a:extLst>
          </p:cNvPr>
          <p:cNvSpPr txBox="1"/>
          <p:nvPr/>
        </p:nvSpPr>
        <p:spPr>
          <a:xfrm>
            <a:off x="471488" y="248588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예제</a:t>
            </a:r>
            <a:r>
              <a:rPr lang="en-US" altLang="ko-KR" b="1" dirty="0"/>
              <a:t>: MNIST CNN AE</a:t>
            </a: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53D4A26-92CF-1661-96A9-DA8FE4049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316" y="1579418"/>
            <a:ext cx="4607685" cy="509847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B8287D-AD9E-1DA4-E3EE-42E52D96849E}"/>
              </a:ext>
            </a:extLst>
          </p:cNvPr>
          <p:cNvSpPr txBox="1"/>
          <p:nvPr/>
        </p:nvSpPr>
        <p:spPr>
          <a:xfrm>
            <a:off x="471488" y="2930787"/>
            <a:ext cx="65181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https://huggingface.co/gihakkk/AutoEncoder/tree/main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1BA8C5-091B-408F-E57F-2874D9DBEE69}"/>
              </a:ext>
            </a:extLst>
          </p:cNvPr>
          <p:cNvSpPr txBox="1"/>
          <p:nvPr/>
        </p:nvSpPr>
        <p:spPr>
          <a:xfrm>
            <a:off x="471488" y="5035126"/>
            <a:ext cx="46824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제공된 표의 </a:t>
            </a:r>
            <a:r>
              <a:rPr lang="en-US" altLang="ko-KR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ConvT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레이어는 계산이 정확히 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28x28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떨어지도록 커널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8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스트라이드</a:t>
            </a:r>
            <a:r>
              <a:rPr lang="en-US" altLang="ko-KR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패딩을 조정해야 한다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466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1155A-A1D0-57DB-9344-6168D80ED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8F38C9-105D-C89C-8195-17BCAF762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67E0862-47FF-D97F-322B-8AD17D909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4E5AA3-2A9D-7E2C-1792-2AF0F34A3D64}"/>
              </a:ext>
            </a:extLst>
          </p:cNvPr>
          <p:cNvSpPr txBox="1"/>
          <p:nvPr/>
        </p:nvSpPr>
        <p:spPr>
          <a:xfrm>
            <a:off x="471488" y="2485888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예제</a:t>
            </a:r>
            <a:r>
              <a:rPr lang="en-US" altLang="ko-KR" b="1" dirty="0"/>
              <a:t>: MNIST CNN AE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286BDC-90EA-2CC2-A6FC-1E6919E8E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65548"/>
            <a:ext cx="12192000" cy="3592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913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4C880-72C9-71B5-BEA9-8F04CA59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1F88BC-7613-F219-54B8-DDF5DAB3B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2</a:t>
            </a:r>
            <a:r>
              <a:rPr lang="en-US" altLang="ko-KR" sz="3600" dirty="0"/>
              <a:t>. </a:t>
            </a:r>
            <a:r>
              <a:rPr lang="en-US" altLang="ko-KR" dirty="0" err="1"/>
              <a:t>AutoEncoder</a:t>
            </a:r>
            <a:r>
              <a:rPr lang="en-US" altLang="ko-KR" sz="3600" dirty="0"/>
              <a:t> </a:t>
            </a:r>
            <a:r>
              <a:rPr lang="ko-KR" altLang="en-US" sz="3600" dirty="0"/>
              <a:t>알아보기 </a:t>
            </a:r>
            <a:r>
              <a:rPr lang="ko-KR" altLang="en-US" sz="2400" dirty="0"/>
              <a:t>어떻게 생겼을까</a:t>
            </a:r>
            <a:r>
              <a:rPr lang="en-US" altLang="ko-KR" sz="2400" dirty="0"/>
              <a:t>?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5A50331D-FD14-D15C-9224-C9525A7B8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814513"/>
            <a:ext cx="5157787" cy="415925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ko-KR" dirty="0"/>
              <a:t>CNN </a:t>
            </a:r>
            <a:r>
              <a:rPr lang="en-US" altLang="ko-KR" dirty="0" err="1"/>
              <a:t>AutoEncoder</a:t>
            </a:r>
            <a:endParaRPr lang="en-US" altLang="ko-K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D9DB9F-C6D3-7E85-1A14-29F810A58D4B}"/>
              </a:ext>
            </a:extLst>
          </p:cNvPr>
          <p:cNvSpPr txBox="1"/>
          <p:nvPr/>
        </p:nvSpPr>
        <p:spPr>
          <a:xfrm>
            <a:off x="471488" y="2505670"/>
            <a:ext cx="61306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어 근데 </a:t>
            </a:r>
            <a:r>
              <a:rPr lang="en-US" altLang="ko-KR" dirty="0"/>
              <a:t>CNN AE </a:t>
            </a:r>
            <a:r>
              <a:rPr lang="ko-KR" altLang="en-US" dirty="0" err="1"/>
              <a:t>하는건</a:t>
            </a:r>
            <a:r>
              <a:rPr lang="ko-KR" altLang="en-US" dirty="0"/>
              <a:t> 좋은데 오늘 </a:t>
            </a:r>
            <a:r>
              <a:rPr lang="en-US" altLang="ko-KR" dirty="0"/>
              <a:t>Attention </a:t>
            </a:r>
            <a:r>
              <a:rPr lang="ko-KR" altLang="en-US" dirty="0"/>
              <a:t>했잖아요</a:t>
            </a:r>
            <a:endParaRPr lang="en-US" altLang="ko-KR" dirty="0"/>
          </a:p>
          <a:p>
            <a:r>
              <a:rPr lang="ko-KR" altLang="en-US" dirty="0"/>
              <a:t>이건 </a:t>
            </a:r>
            <a:r>
              <a:rPr lang="en-US" altLang="ko-KR" dirty="0" err="1"/>
              <a:t>AutoEncoder</a:t>
            </a:r>
            <a:r>
              <a:rPr lang="ko-KR" altLang="en-US" dirty="0"/>
              <a:t>랑 </a:t>
            </a:r>
            <a:r>
              <a:rPr lang="ko-KR" altLang="en-US" dirty="0" err="1"/>
              <a:t>안쓰나요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45B1A7-4793-CEF5-FD5F-C96AEA50E909}"/>
              </a:ext>
            </a:extLst>
          </p:cNvPr>
          <p:cNvSpPr txBox="1"/>
          <p:nvPr/>
        </p:nvSpPr>
        <p:spPr>
          <a:xfrm>
            <a:off x="471488" y="3382834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그래서 </a:t>
            </a:r>
            <a:r>
              <a:rPr lang="en-US" altLang="ko-KR" dirty="0"/>
              <a:t>Attention </a:t>
            </a:r>
            <a:r>
              <a:rPr lang="en-US" altLang="ko-KR" dirty="0" err="1"/>
              <a:t>AutoEncoder</a:t>
            </a:r>
            <a:r>
              <a:rPr lang="ko-KR" altLang="en-US" dirty="0"/>
              <a:t>가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54643F-0E98-EC43-7807-C48056AA36A2}"/>
              </a:ext>
            </a:extLst>
          </p:cNvPr>
          <p:cNvSpPr txBox="1"/>
          <p:nvPr/>
        </p:nvSpPr>
        <p:spPr>
          <a:xfrm>
            <a:off x="471488" y="3982999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궁금하다면</a:t>
            </a:r>
            <a:r>
              <a:rPr lang="en-US" altLang="ko-KR" dirty="0"/>
              <a:t>, </a:t>
            </a:r>
            <a:r>
              <a:rPr lang="ko-KR" altLang="en-US" dirty="0"/>
              <a:t>아래 링크에서 확인해 주세요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0E6FB-94CA-2E29-7023-9B95548AAC6E}"/>
              </a:ext>
            </a:extLst>
          </p:cNvPr>
          <p:cNvSpPr txBox="1"/>
          <p:nvPr/>
        </p:nvSpPr>
        <p:spPr>
          <a:xfrm>
            <a:off x="471488" y="4381970"/>
            <a:ext cx="75264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https://www.proquest.com/docview/2618269233?sourcetype=Scholarly%20Journals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38B2A4-E8C8-4045-13F4-3C10EF941942}"/>
              </a:ext>
            </a:extLst>
          </p:cNvPr>
          <p:cNvSpPr txBox="1"/>
          <p:nvPr/>
        </p:nvSpPr>
        <p:spPr>
          <a:xfrm>
            <a:off x="471488" y="4719386"/>
            <a:ext cx="61306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또한</a:t>
            </a:r>
            <a:r>
              <a:rPr lang="en-US" altLang="ko-KR" dirty="0"/>
              <a:t>, </a:t>
            </a:r>
            <a:r>
              <a:rPr lang="ko-KR" altLang="en-US" dirty="0"/>
              <a:t>다양한 </a:t>
            </a:r>
            <a:r>
              <a:rPr lang="ko-KR" altLang="en-US" dirty="0" err="1"/>
              <a:t>오토인코더가</a:t>
            </a:r>
            <a:r>
              <a:rPr lang="ko-KR" altLang="en-US" dirty="0"/>
              <a:t> 궁금하다면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C8A3E-210C-8FB8-D4C8-83889AC13A8A}"/>
              </a:ext>
            </a:extLst>
          </p:cNvPr>
          <p:cNvSpPr txBox="1"/>
          <p:nvPr/>
        </p:nvSpPr>
        <p:spPr>
          <a:xfrm>
            <a:off x="471488" y="5118357"/>
            <a:ext cx="62726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https://gihak111.github.io/ai/2025/11/13/many_Autoencoder_upload.html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3800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3999" y="3429000"/>
            <a:ext cx="9144000" cy="929105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감사합니다</a:t>
            </a:r>
          </a:p>
        </p:txBody>
      </p:sp>
      <p:sp>
        <p:nvSpPr>
          <p:cNvPr id="4" name="부제목 2"/>
          <p:cNvSpPr txBox="1"/>
          <p:nvPr/>
        </p:nvSpPr>
        <p:spPr>
          <a:xfrm>
            <a:off x="9524498" y="504826"/>
            <a:ext cx="2287003" cy="525462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altLang="ko-KR"/>
              <a:t>ONECLICK AI </a:t>
            </a:r>
          </a:p>
          <a:p>
            <a:pPr lvl="0"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6079</TotalTime>
  <Words>3023</Words>
  <Application>Microsoft Office PowerPoint</Application>
  <PresentationFormat>와이드스크린</PresentationFormat>
  <Paragraphs>334</Paragraphs>
  <Slides>36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Arial</vt:lpstr>
      <vt:lpstr>Cambria Math</vt:lpstr>
      <vt:lpstr>Consolas</vt:lpstr>
      <vt:lpstr>Office 테마</vt:lpstr>
      <vt:lpstr>Attention과 AutoEncoder</vt:lpstr>
      <vt:lpstr>목차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1. Attention 정규화?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2. AutoEncoder 알아보기 어떻게 생겼을까?</vt:lpstr>
      <vt:lpstr>감사합니다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준모 연</dc:creator>
  <cp:lastModifiedBy>준모 연</cp:lastModifiedBy>
  <cp:revision>1561</cp:revision>
  <dcterms:created xsi:type="dcterms:W3CDTF">2025-09-14T00:36:28Z</dcterms:created>
  <dcterms:modified xsi:type="dcterms:W3CDTF">2025-11-13T01:10:57Z</dcterms:modified>
  <cp:version/>
</cp:coreProperties>
</file>